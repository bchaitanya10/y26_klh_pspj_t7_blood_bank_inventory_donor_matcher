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20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as Team 07’s Java console application. State the three team members and describe the progression from CO1–CO3 fundamentals to CO4–CO6 object-oriented design, files, collections and streams. Explain that this is an academic prototype, not a clinical transfusion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abstract identifies donor management, stock tracking, compatibility matching, issue/donation activities and reports as project goals. The implementation is a Java console application with text-file persistence. Distinguish implemented functionality from future ideas such as SMS dispatch alerts or online reservations.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four pain points represented on this slide and follow the five-step flow. The program accepts records, validates fields, persists data, searches compatible stock, and produces issue/report output. The intended benefit is reducing manual effort in a learning prototype; do not claim real clinical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 for CO1: The addDonor method collects values through console prompts, uses int for age and String for textual fields, constructs a Donor object, and passes it to BloodBank. The helper methods perform input validation. Relate this to the IPO model: input fields are read, validation/object creation is the process, and a confirmation/eligibility message is the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note for CO2: The submitted BloodBank.java uses a do-while loop to repeat the menu until option 8 is selected. A switch statement selects operations such as addDonor() and issueBlood(). The program checks numeric menu input with hasNextInt(). In issueBlood(), total compatible units are counted first. If total is less than needed, the method prints a cancellation message and returns before changing stock.</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note for CO3: BloodBank.java declares an eight-element String array named groups, an int array named stock, and a two-dimensional boolean array named compatible. The table shows the values in the submitted compatibility array in the same row and column order as groups. Methods use loops to search donors and process stock. There is no recursive donor counter in the submitted Java file. The compatibility matrix is only a programming example and must not be used for real transfusion decisions.</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note for CO4: The uploaded BloodBank.java is a single class with static arrays and methods; it does not contain the Person, Donor, BloodInventory, FileStorage, PrintableRecord or record classes shown in the earlier draft. It validates age, blood group, phone length, duplicate donor IDs and positive unit counts. Numeric console input is checked with Scanner.hasNextInt(). File operations catch FileNotFoundException, and malformed numeric values encountered while loading are ignored through NumberFormatException handling.</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note for CO5: The submitted program stores donor and inventory data in donors.txt and inventory.txt using PrintWriter. It reads files with Scanner and File, splits donor records on the pipe character, and converts age or unit strings with Integer.parseInt(). Donor searching uses loops over arrays; findGroup() checks the supported group labels. The code does not use Path, Files, UTF-8 buffered readers, String.join, StringBuilder, Comparator or sorting APIs.</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note for this slide: The actual source stores donor details in parallel arrays and uses a loop to compare each donor blood group against the requested group. It prints matching donors or a no-match message. Stock is stored in an integer array indexed by the groups array. The submitted file does not implement Java Collections, lambdas or streams; those would be future extensions, not current features.</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from the UI to the service logic: Main reads menu choices and delegates operations to BloodBank. The domain classes model donors, stock batches and history records. FileStorage reads and writes four local text files. For an issue, the service filters compatible non-expired stock, sorts by earliest expiry first, sums available units, and only then deducts and creates an issue record if enough stock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program supports eight blood groups and contains a donor-to-recipient boolean compatibility matrix. In the current implementation, only non-expired batches with positive stock are candidates; candidates are sorted by earliest expiry first. Requests are validated in total before any deduction. The report thresholds are under 5 units for low stock and a 7-day expiry warning. The 56-day rule is based on the assignment handout and is not a complete medical eligibility assessment. Actual transfusions require professional testing and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repeatable sample. Donor D001 is Rahul Kumar, age 22, group O− and a fictional phone number. Batch B001 begins with 3 units and expiry 2027-01-01. Requesting 2 units for AB+ creates issue ISS-0001 and leaves 1 unit. A second request for 2 units is cancelled; the returned message states that no stock was changed. This workflow was executed locally against the current Java source on 2026-10-11.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note: The Java source was compiled, and a small local harness invoked the domain classes and FileStorage. All eleven cases shown passed: valid donor, duplicate ID, invalid group, bad phone, compatible issue, insufficient-stock rollback, expired-stock filtering, 56-day donor block, successful donation, malformed line skip, and persistence reload. One additional O− to AB+ compatibility check also passed. This is not a claim of formal JUnit coverage or clinical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by summarizing how the project extends the first CO1–CO3 donor-search exercise into a fuller model with OOP, exception handling, file persistence, collections and streams. Clearly state the limitations. Database storage, roles, auditing, notifications and clinical integration are future possibilities only and should not be presented as implemented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presentation by showing the project/lab photograph already present in the first submitted deck and the existing GitHub repository URL. The URL is clickable. The photograph is reused from the supplied presentation; no new geotag or location claim has been added. Invite questions about any of the six course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hyperlink" Target="https://github.com/brevanth12/Y26_KLH_PSPJ_TEAM_07_BLOOD_BANK_INVENTORY_DONOR_MATCHER/tree/main" TargetMode="Externa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1"/>
          <a:stretch>
            <a:fillRect/>
          </a:stretch>
        </p:blipFill>
        <p:spPr>
          <a:xfrm>
            <a:off x="320040" y="256032"/>
            <a:ext cx="694944" cy="512064"/>
          </a:xfrm>
          <a:prstGeom prst="rect">
            <a:avLst/>
          </a:prstGeom>
        </p:spPr>
      </p:pic>
      <p:sp>
        <p:nvSpPr>
          <p:cNvPr id="3" name="Shape 0"/>
          <p:cNvSpPr/>
          <p:nvPr/>
        </p:nvSpPr>
        <p:spPr>
          <a:xfrm>
            <a:off x="8275320" y="329184"/>
            <a:ext cx="3291840" cy="329184"/>
          </a:xfrm>
          <a:prstGeom prst="roundRect">
            <a:avLst>
              <a:gd name="adj" fmla="val 22222"/>
            </a:avLst>
          </a:prstGeom>
          <a:solidFill>
            <a:srgbClr val="EAF2FB"/>
          </a:solidFill>
          <a:ln w="12700">
            <a:solidFill>
              <a:srgbClr val="EAF2FB">
                <a:alpha val="0"/>
              </a:srgbClr>
            </a:solidFill>
            <a:prstDash val="solid"/>
          </a:ln>
        </p:spPr>
      </p:sp>
      <p:sp>
        <p:nvSpPr>
          <p:cNvPr id="4" name="Text 1"/>
          <p:cNvSpPr/>
          <p:nvPr/>
        </p:nvSpPr>
        <p:spPr>
          <a:xfrm>
            <a:off x="8348472" y="342900"/>
            <a:ext cx="3145536" cy="301752"/>
          </a:xfrm>
          <a:prstGeom prst="rect">
            <a:avLst/>
          </a:prstGeom>
          <a:noFill/>
        </p:spPr>
        <p:txBody>
          <a:bodyPr wrap="square" lIns="0" tIns="0" rIns="0" bIns="0" rtlCol="0" anchor="ctr">
            <a:normAutofit/>
          </a:bodyPr>
          <a:lstStyle/>
          <a:p>
            <a:pPr marL="0" indent="0" algn="ctr">
              <a:buNone/>
            </a:pPr>
            <a:r>
              <a:rPr lang="en-US" sz="950" b="1" dirty="0">
                <a:solidFill>
                  <a:srgbClr val="214D7B"/>
                </a:solidFill>
                <a:latin typeface="Arial" panose="020B0604020202020204" pitchFamily="34" charset="0"/>
                <a:ea typeface="Arial" panose="020B0604020202020204" pitchFamily="34" charset="-122"/>
                <a:cs typeface="Arial" panose="020B0604020202020204" pitchFamily="34" charset="-120"/>
              </a:rPr>
              <a:t>PSP (JAVA) • COURSE CODE 26SC1101E</a:t>
            </a:r>
            <a:endParaRPr lang="en-US" sz="950" dirty="0"/>
          </a:p>
        </p:txBody>
      </p:sp>
      <p:sp>
        <p:nvSpPr>
          <p:cNvPr id="5" name="Shape 2"/>
          <p:cNvSpPr/>
          <p:nvPr/>
        </p:nvSpPr>
        <p:spPr>
          <a:xfrm>
            <a:off x="320040" y="1143000"/>
            <a:ext cx="82296" cy="1828800"/>
          </a:xfrm>
          <a:prstGeom prst="rect">
            <a:avLst/>
          </a:prstGeom>
          <a:solidFill>
            <a:srgbClr val="D91F26"/>
          </a:solidFill>
          <a:ln w="12700">
            <a:solidFill>
              <a:srgbClr val="D91F26">
                <a:alpha val="0"/>
              </a:srgbClr>
            </a:solidFill>
            <a:prstDash val="solid"/>
          </a:ln>
        </p:spPr>
      </p:sp>
      <p:sp>
        <p:nvSpPr>
          <p:cNvPr id="6" name="Text 3"/>
          <p:cNvSpPr/>
          <p:nvPr/>
        </p:nvSpPr>
        <p:spPr>
          <a:xfrm>
            <a:off x="658368" y="1124712"/>
            <a:ext cx="10698480" cy="1261872"/>
          </a:xfrm>
          <a:prstGeom prst="rect">
            <a:avLst/>
          </a:prstGeom>
          <a:noFill/>
        </p:spPr>
        <p:txBody>
          <a:bodyPr wrap="square" lIns="0" tIns="0" rIns="0" bIns="0" rtlCol="0" anchor="ctr">
            <a:normAutofit/>
          </a:bodyPr>
          <a:lstStyle/>
          <a:p>
            <a:pPr marL="0" indent="0" algn="ctr">
              <a:buNone/>
            </a:pPr>
            <a:r>
              <a:rPr lang="en-US" sz="3100" b="1" dirty="0">
                <a:solidFill>
                  <a:srgbClr val="D91F26"/>
                </a:solidFill>
                <a:latin typeface="Arial" panose="020B0604020202020204" pitchFamily="34" charset="0"/>
                <a:ea typeface="Arial" panose="020B0604020202020204" pitchFamily="34" charset="-122"/>
                <a:cs typeface="Arial" panose="020B0604020202020204" pitchFamily="34" charset="-120"/>
              </a:rPr>
              <a:t>Blood Bank Inventory</a:t>
            </a:r>
            <a:endParaRPr lang="en-US" sz="3100" dirty="0"/>
          </a:p>
          <a:p>
            <a:pPr marL="0" indent="0" algn="ctr">
              <a:buNone/>
            </a:pPr>
            <a:r>
              <a:rPr lang="en-US" sz="3100" b="1" dirty="0">
                <a:solidFill>
                  <a:srgbClr val="D91F26"/>
                </a:solidFill>
                <a:latin typeface="Arial" panose="020B0604020202020204" pitchFamily="34" charset="0"/>
                <a:ea typeface="Arial" panose="020B0604020202020204" pitchFamily="34" charset="-122"/>
                <a:cs typeface="Arial" panose="020B0604020202020204" pitchFamily="34" charset="-120"/>
              </a:rPr>
              <a:t>&amp; Donor Matcher</a:t>
            </a:r>
            <a:endParaRPr lang="en-US" sz="3100" dirty="0"/>
          </a:p>
        </p:txBody>
      </p:sp>
      <p:sp>
        <p:nvSpPr>
          <p:cNvPr id="7" name="Text 4"/>
          <p:cNvSpPr/>
          <p:nvPr/>
        </p:nvSpPr>
        <p:spPr>
          <a:xfrm>
            <a:off x="1051560" y="2542032"/>
            <a:ext cx="10058400" cy="457200"/>
          </a:xfrm>
          <a:prstGeom prst="rect">
            <a:avLst/>
          </a:prstGeom>
          <a:noFill/>
        </p:spPr>
        <p:txBody>
          <a:bodyPr wrap="square" lIns="0" tIns="0" rIns="0" bIns="0" rtlCol="0" anchor="ctr">
            <a:normAutofit/>
          </a:bodyPr>
          <a:lstStyle/>
          <a:p>
            <a:pPr marL="0" indent="0" algn="ctr">
              <a:buNone/>
            </a:pPr>
            <a:r>
              <a:rPr lang="en-US" sz="1400" dirty="0">
                <a:solidFill>
                  <a:srgbClr val="172234"/>
                </a:solidFill>
                <a:latin typeface="Arial" panose="020B0604020202020204" pitchFamily="34" charset="0"/>
                <a:ea typeface="Arial" panose="020B0604020202020204" pitchFamily="34" charset="-122"/>
                <a:cs typeface="Arial" panose="020B0604020202020204" pitchFamily="34" charset="-120"/>
              </a:rPr>
              <a:t>A Java console application for donor records, inventory tracking and compatibility-based stock lookup</a:t>
            </a:r>
            <a:endParaRPr lang="en-US" sz="1400" dirty="0"/>
          </a:p>
        </p:txBody>
      </p:sp>
      <p:sp>
        <p:nvSpPr>
          <p:cNvPr id="8" name="Shape 5"/>
          <p:cNvSpPr/>
          <p:nvPr/>
        </p:nvSpPr>
        <p:spPr>
          <a:xfrm>
            <a:off x="1005840" y="3273552"/>
            <a:ext cx="10168128" cy="493776"/>
          </a:xfrm>
          <a:prstGeom prst="roundRect">
            <a:avLst>
              <a:gd name="adj" fmla="val 18519"/>
            </a:avLst>
          </a:prstGeom>
          <a:solidFill>
            <a:srgbClr val="FCEDEF"/>
          </a:solidFill>
          <a:ln w="12700">
            <a:solidFill>
              <a:srgbClr val="E8B8BE"/>
            </a:solidFill>
            <a:prstDash val="solid"/>
          </a:ln>
        </p:spPr>
      </p:sp>
      <p:sp>
        <p:nvSpPr>
          <p:cNvPr id="9" name="Text 6"/>
          <p:cNvSpPr/>
          <p:nvPr/>
        </p:nvSpPr>
        <p:spPr>
          <a:xfrm>
            <a:off x="1143000" y="3383280"/>
            <a:ext cx="1097280" cy="228600"/>
          </a:xfrm>
          <a:prstGeom prst="rect">
            <a:avLst/>
          </a:prstGeom>
          <a:noFill/>
        </p:spPr>
        <p:txBody>
          <a:bodyPr wrap="square" lIns="0" tIns="0" rIns="0" bIns="0" rtlCol="0" anchor="ctr">
            <a:normAutofit/>
          </a:bodyPr>
          <a:lstStyle/>
          <a:p>
            <a:pPr marL="0" indent="0" algn="ctr">
              <a:buNone/>
            </a:pPr>
            <a:r>
              <a:rPr lang="en-US" sz="1200" b="1" dirty="0">
                <a:solidFill>
                  <a:srgbClr val="D91F26"/>
                </a:solidFill>
                <a:latin typeface="Arial" panose="020B0604020202020204" pitchFamily="34" charset="0"/>
                <a:ea typeface="Arial" panose="020B0604020202020204" pitchFamily="34" charset="-122"/>
                <a:cs typeface="Arial" panose="020B0604020202020204" pitchFamily="34" charset="-120"/>
              </a:rPr>
              <a:t>TEAM 07</a:t>
            </a:r>
            <a:endParaRPr lang="en-US" sz="1200" dirty="0"/>
          </a:p>
        </p:txBody>
      </p:sp>
      <p:sp>
        <p:nvSpPr>
          <p:cNvPr id="10" name="Shape 7"/>
          <p:cNvSpPr/>
          <p:nvPr/>
        </p:nvSpPr>
        <p:spPr>
          <a:xfrm>
            <a:off x="2304288" y="3383280"/>
            <a:ext cx="0" cy="246888"/>
          </a:xfrm>
          <a:prstGeom prst="line">
            <a:avLst/>
          </a:prstGeom>
          <a:noFill/>
          <a:ln w="12700">
            <a:solidFill>
              <a:srgbClr val="E8B8BE"/>
            </a:solidFill>
            <a:prstDash val="solid"/>
          </a:ln>
        </p:spPr>
      </p:sp>
      <p:sp>
        <p:nvSpPr>
          <p:cNvPr id="11" name="Text 8"/>
          <p:cNvSpPr/>
          <p:nvPr/>
        </p:nvSpPr>
        <p:spPr>
          <a:xfrm>
            <a:off x="2514600" y="3383280"/>
            <a:ext cx="2468880" cy="228600"/>
          </a:xfrm>
          <a:prstGeom prst="rect">
            <a:avLst/>
          </a:prstGeom>
          <a:noFill/>
        </p:spPr>
        <p:txBody>
          <a:bodyPr wrap="square" lIns="0" tIns="0" rIns="0" bIns="0" rtlCol="0" anchor="ctr">
            <a:normAutofit/>
          </a:bodyPr>
          <a:lstStyle/>
          <a:p>
            <a:pPr marL="0" indent="0" algn="ctr">
              <a:buNone/>
            </a:pPr>
            <a:r>
              <a:rPr lang="en-US" sz="1080" b="1" dirty="0">
                <a:solidFill>
                  <a:srgbClr val="172234"/>
                </a:solidFill>
                <a:latin typeface="Arial" panose="020B0604020202020204" pitchFamily="34" charset="0"/>
                <a:ea typeface="Arial" panose="020B0604020202020204" pitchFamily="34" charset="-122"/>
                <a:cs typeface="Arial" panose="020B0604020202020204" pitchFamily="34" charset="-120"/>
              </a:rPr>
              <a:t>B. Revanth Kumar  |  2620030100</a:t>
            </a:r>
            <a:endParaRPr lang="en-US" sz="1080" dirty="0"/>
          </a:p>
        </p:txBody>
      </p:sp>
      <p:sp>
        <p:nvSpPr>
          <p:cNvPr id="12" name="Text 9"/>
          <p:cNvSpPr/>
          <p:nvPr/>
        </p:nvSpPr>
        <p:spPr>
          <a:xfrm>
            <a:off x="5038344" y="3383280"/>
            <a:ext cx="2651760" cy="228600"/>
          </a:xfrm>
          <a:prstGeom prst="rect">
            <a:avLst/>
          </a:prstGeom>
          <a:noFill/>
        </p:spPr>
        <p:txBody>
          <a:bodyPr wrap="square" lIns="0" tIns="0" rIns="0" bIns="0" rtlCol="0" anchor="ctr">
            <a:normAutofit/>
          </a:bodyPr>
          <a:lstStyle/>
          <a:p>
            <a:pPr marL="0" indent="0" algn="ctr">
              <a:buNone/>
            </a:pPr>
            <a:r>
              <a:rPr lang="en-US" sz="1080" b="1" dirty="0">
                <a:solidFill>
                  <a:srgbClr val="172234"/>
                </a:solidFill>
                <a:latin typeface="Arial" panose="020B0604020202020204" pitchFamily="34" charset="0"/>
                <a:ea typeface="Arial" panose="020B0604020202020204" pitchFamily="34" charset="-122"/>
                <a:cs typeface="Arial" panose="020B0604020202020204" pitchFamily="34" charset="-120"/>
              </a:rPr>
              <a:t>B. Naga Chaitanya  |  2620030407</a:t>
            </a:r>
            <a:endParaRPr lang="en-US" sz="1080" dirty="0"/>
          </a:p>
        </p:txBody>
      </p:sp>
      <p:sp>
        <p:nvSpPr>
          <p:cNvPr id="13" name="Text 10"/>
          <p:cNvSpPr/>
          <p:nvPr/>
        </p:nvSpPr>
        <p:spPr>
          <a:xfrm>
            <a:off x="7818120" y="3383280"/>
            <a:ext cx="2971800" cy="228600"/>
          </a:xfrm>
          <a:prstGeom prst="rect">
            <a:avLst/>
          </a:prstGeom>
          <a:noFill/>
        </p:spPr>
        <p:txBody>
          <a:bodyPr wrap="square" lIns="0" tIns="0" rIns="0" bIns="0" rtlCol="0" anchor="ctr">
            <a:normAutofit/>
          </a:bodyPr>
          <a:lstStyle/>
          <a:p>
            <a:pPr marL="0" indent="0" algn="ctr">
              <a:buNone/>
            </a:pPr>
            <a:r>
              <a:rPr lang="en-US" sz="1080" b="1" dirty="0">
                <a:solidFill>
                  <a:srgbClr val="172234"/>
                </a:solidFill>
                <a:latin typeface="Arial" panose="020B0604020202020204" pitchFamily="34" charset="0"/>
                <a:ea typeface="Arial" panose="020B0604020202020204" pitchFamily="34" charset="-122"/>
                <a:cs typeface="Arial" panose="020B0604020202020204" pitchFamily="34" charset="-120"/>
              </a:rPr>
              <a:t>P. Rohan  |  2620030090</a:t>
            </a:r>
            <a:endParaRPr lang="en-US" sz="1080" dirty="0"/>
          </a:p>
        </p:txBody>
      </p:sp>
      <p:sp>
        <p:nvSpPr>
          <p:cNvPr id="14" name="Text 11"/>
          <p:cNvSpPr/>
          <p:nvPr/>
        </p:nvSpPr>
        <p:spPr>
          <a:xfrm>
            <a:off x="987552" y="4224528"/>
            <a:ext cx="1828800" cy="219456"/>
          </a:xfrm>
          <a:prstGeom prst="rect">
            <a:avLst/>
          </a:prstGeom>
          <a:noFill/>
        </p:spPr>
        <p:txBody>
          <a:bodyPr wrap="square" lIns="0" tIns="0" rIns="0" bIns="0" rtlCol="0" anchor="ctr">
            <a:normAutofit/>
          </a:bodyPr>
          <a:lstStyle/>
          <a:p>
            <a:pPr marL="0" indent="0">
              <a:buNone/>
            </a:pPr>
            <a:r>
              <a:rPr lang="en-US" sz="940" b="1" kern="0" spc="80" dirty="0">
                <a:solidFill>
                  <a:srgbClr val="687487"/>
                </a:solidFill>
                <a:latin typeface="Arial" panose="020B0604020202020204" pitchFamily="34" charset="0"/>
                <a:ea typeface="Arial" panose="020B0604020202020204" pitchFamily="34" charset="-122"/>
                <a:cs typeface="Arial" panose="020B0604020202020204" pitchFamily="34" charset="-120"/>
              </a:rPr>
              <a:t>PROJECT COVERAGE</a:t>
            </a:r>
            <a:endParaRPr lang="en-US" sz="940" dirty="0"/>
          </a:p>
        </p:txBody>
      </p:sp>
      <p:sp>
        <p:nvSpPr>
          <p:cNvPr id="15" name="Shape 12"/>
          <p:cNvSpPr/>
          <p:nvPr/>
        </p:nvSpPr>
        <p:spPr>
          <a:xfrm>
            <a:off x="960120" y="4553712"/>
            <a:ext cx="1627632" cy="713232"/>
          </a:xfrm>
          <a:prstGeom prst="roundRect">
            <a:avLst>
              <a:gd name="adj" fmla="val 10256"/>
            </a:avLst>
          </a:prstGeom>
          <a:solidFill>
            <a:srgbClr val="FCEDEF"/>
          </a:solidFill>
          <a:ln w="12700">
            <a:solidFill>
              <a:srgbClr val="E8B8BE"/>
            </a:solidFill>
            <a:prstDash val="solid"/>
          </a:ln>
        </p:spPr>
      </p:sp>
      <p:sp>
        <p:nvSpPr>
          <p:cNvPr id="16" name="Text 13"/>
          <p:cNvSpPr/>
          <p:nvPr/>
        </p:nvSpPr>
        <p:spPr>
          <a:xfrm>
            <a:off x="1033272" y="4663440"/>
            <a:ext cx="1481328" cy="219456"/>
          </a:xfrm>
          <a:prstGeom prst="rect">
            <a:avLst/>
          </a:prstGeom>
          <a:noFill/>
        </p:spPr>
        <p:txBody>
          <a:bodyPr wrap="square" lIns="0" tIns="0" rIns="0" bIns="0" rtlCol="0" anchor="ctr">
            <a:normAutofit/>
          </a:bodyPr>
          <a:lstStyle/>
          <a:p>
            <a:pPr marL="0" indent="0" algn="ctr">
              <a:buNone/>
            </a:pPr>
            <a:r>
              <a:rPr lang="en-US" sz="1300" b="1" dirty="0">
                <a:solidFill>
                  <a:srgbClr val="B71920"/>
                </a:solidFill>
                <a:latin typeface="Arial" panose="020B0604020202020204" pitchFamily="34" charset="0"/>
                <a:ea typeface="Arial" panose="020B0604020202020204" pitchFamily="34" charset="-122"/>
                <a:cs typeface="Arial" panose="020B0604020202020204" pitchFamily="34" charset="-120"/>
              </a:rPr>
              <a:t>CO1</a:t>
            </a:r>
            <a:endParaRPr lang="en-US" sz="1300" dirty="0"/>
          </a:p>
        </p:txBody>
      </p:sp>
      <p:sp>
        <p:nvSpPr>
          <p:cNvPr id="17" name="Text 14"/>
          <p:cNvSpPr/>
          <p:nvPr/>
        </p:nvSpPr>
        <p:spPr>
          <a:xfrm>
            <a:off x="1033272" y="4928616"/>
            <a:ext cx="1481328" cy="182880"/>
          </a:xfrm>
          <a:prstGeom prst="rect">
            <a:avLst/>
          </a:prstGeom>
          <a:noFill/>
        </p:spPr>
        <p:txBody>
          <a:bodyPr wrap="square" lIns="0" tIns="0" rIns="0" bIns="0" rtlCol="0" anchor="ctr">
            <a:normAutofit/>
          </a:bodyPr>
          <a:lstStyle/>
          <a:p>
            <a:pPr marL="0" indent="0" algn="ctr">
              <a:buNone/>
            </a:pPr>
            <a:r>
              <a:rPr lang="en-US" sz="940" dirty="0">
                <a:solidFill>
                  <a:srgbClr val="202938"/>
                </a:solidFill>
                <a:latin typeface="Arial" panose="020B0604020202020204" pitchFamily="34" charset="0"/>
                <a:ea typeface="Arial" panose="020B0604020202020204" pitchFamily="34" charset="-122"/>
                <a:cs typeface="Arial" panose="020B0604020202020204" pitchFamily="34" charset="-120"/>
              </a:rPr>
              <a:t>Java basics</a:t>
            </a:r>
            <a:endParaRPr lang="en-US" sz="940" dirty="0"/>
          </a:p>
        </p:txBody>
      </p:sp>
      <p:sp>
        <p:nvSpPr>
          <p:cNvPr id="18" name="Shape 15"/>
          <p:cNvSpPr/>
          <p:nvPr/>
        </p:nvSpPr>
        <p:spPr>
          <a:xfrm>
            <a:off x="2688336" y="4553712"/>
            <a:ext cx="1627632" cy="713232"/>
          </a:xfrm>
          <a:prstGeom prst="roundRect">
            <a:avLst>
              <a:gd name="adj" fmla="val 10256"/>
            </a:avLst>
          </a:prstGeom>
          <a:solidFill>
            <a:srgbClr val="EAF2FB"/>
          </a:solidFill>
          <a:ln w="12700">
            <a:solidFill>
              <a:srgbClr val="B8D0EE"/>
            </a:solidFill>
            <a:prstDash val="solid"/>
          </a:ln>
        </p:spPr>
      </p:sp>
      <p:sp>
        <p:nvSpPr>
          <p:cNvPr id="19" name="Text 16"/>
          <p:cNvSpPr/>
          <p:nvPr/>
        </p:nvSpPr>
        <p:spPr>
          <a:xfrm>
            <a:off x="2761488" y="4663440"/>
            <a:ext cx="1481328" cy="219456"/>
          </a:xfrm>
          <a:prstGeom prst="rect">
            <a:avLst/>
          </a:prstGeom>
          <a:noFill/>
        </p:spPr>
        <p:txBody>
          <a:bodyPr wrap="square" lIns="0" tIns="0" rIns="0" bIns="0" rtlCol="0" anchor="ctr">
            <a:normAutofit/>
          </a:bodyPr>
          <a:lstStyle/>
          <a:p>
            <a:pPr marL="0" indent="0" algn="ctr">
              <a:buNone/>
            </a:pPr>
            <a:r>
              <a:rPr lang="en-US" sz="1300" b="1" dirty="0">
                <a:solidFill>
                  <a:srgbClr val="214D7B"/>
                </a:solidFill>
                <a:latin typeface="Arial" panose="020B0604020202020204" pitchFamily="34" charset="0"/>
                <a:ea typeface="Arial" panose="020B0604020202020204" pitchFamily="34" charset="-122"/>
                <a:cs typeface="Arial" panose="020B0604020202020204" pitchFamily="34" charset="-120"/>
              </a:rPr>
              <a:t>CO2</a:t>
            </a:r>
            <a:endParaRPr lang="en-US" sz="1300" dirty="0"/>
          </a:p>
        </p:txBody>
      </p:sp>
      <p:sp>
        <p:nvSpPr>
          <p:cNvPr id="20" name="Text 17"/>
          <p:cNvSpPr/>
          <p:nvPr/>
        </p:nvSpPr>
        <p:spPr>
          <a:xfrm>
            <a:off x="2761488" y="4928616"/>
            <a:ext cx="1481328" cy="182880"/>
          </a:xfrm>
          <a:prstGeom prst="rect">
            <a:avLst/>
          </a:prstGeom>
          <a:noFill/>
        </p:spPr>
        <p:txBody>
          <a:bodyPr wrap="square" lIns="0" tIns="0" rIns="0" bIns="0" rtlCol="0" anchor="ctr">
            <a:normAutofit/>
          </a:bodyPr>
          <a:lstStyle/>
          <a:p>
            <a:pPr marL="0" indent="0" algn="ctr">
              <a:buNone/>
            </a:pPr>
            <a:r>
              <a:rPr lang="en-US" sz="940" dirty="0">
                <a:solidFill>
                  <a:srgbClr val="202938"/>
                </a:solidFill>
                <a:latin typeface="Arial" panose="020B0604020202020204" pitchFamily="34" charset="0"/>
                <a:ea typeface="Arial" panose="020B0604020202020204" pitchFamily="34" charset="-122"/>
                <a:cs typeface="Arial" panose="020B0604020202020204" pitchFamily="34" charset="-120"/>
              </a:rPr>
              <a:t>Control flow</a:t>
            </a:r>
            <a:endParaRPr lang="en-US" sz="940" dirty="0"/>
          </a:p>
        </p:txBody>
      </p:sp>
      <p:sp>
        <p:nvSpPr>
          <p:cNvPr id="21" name="Shape 18"/>
          <p:cNvSpPr/>
          <p:nvPr/>
        </p:nvSpPr>
        <p:spPr>
          <a:xfrm>
            <a:off x="4416552" y="4553712"/>
            <a:ext cx="1627632" cy="713232"/>
          </a:xfrm>
          <a:prstGeom prst="roundRect">
            <a:avLst>
              <a:gd name="adj" fmla="val 10256"/>
            </a:avLst>
          </a:prstGeom>
          <a:solidFill>
            <a:srgbClr val="EAF6EF"/>
          </a:solidFill>
          <a:ln w="12700">
            <a:solidFill>
              <a:srgbClr val="B9DCC6"/>
            </a:solidFill>
            <a:prstDash val="solid"/>
          </a:ln>
        </p:spPr>
      </p:sp>
      <p:sp>
        <p:nvSpPr>
          <p:cNvPr id="22" name="Text 19"/>
          <p:cNvSpPr/>
          <p:nvPr/>
        </p:nvSpPr>
        <p:spPr>
          <a:xfrm>
            <a:off x="4489704" y="4663440"/>
            <a:ext cx="1481328" cy="219456"/>
          </a:xfrm>
          <a:prstGeom prst="rect">
            <a:avLst/>
          </a:prstGeom>
          <a:noFill/>
        </p:spPr>
        <p:txBody>
          <a:bodyPr wrap="square" lIns="0" tIns="0" rIns="0" bIns="0" rtlCol="0" anchor="ctr">
            <a:normAutofit/>
          </a:bodyPr>
          <a:lstStyle/>
          <a:p>
            <a:pPr marL="0" indent="0" algn="ctr">
              <a:buNone/>
            </a:pPr>
            <a:r>
              <a:rPr lang="en-US" sz="1300" b="1" dirty="0">
                <a:solidFill>
                  <a:srgbClr val="28734B"/>
                </a:solidFill>
                <a:latin typeface="Arial" panose="020B0604020202020204" pitchFamily="34" charset="0"/>
                <a:ea typeface="Arial" panose="020B0604020202020204" pitchFamily="34" charset="-122"/>
                <a:cs typeface="Arial" panose="020B0604020202020204" pitchFamily="34" charset="-120"/>
              </a:rPr>
              <a:t>CO3</a:t>
            </a:r>
            <a:endParaRPr lang="en-US" sz="1300" dirty="0"/>
          </a:p>
        </p:txBody>
      </p:sp>
      <p:sp>
        <p:nvSpPr>
          <p:cNvPr id="23" name="Text 20"/>
          <p:cNvSpPr/>
          <p:nvPr/>
        </p:nvSpPr>
        <p:spPr>
          <a:xfrm>
            <a:off x="4489704" y="4928616"/>
            <a:ext cx="1481328" cy="182880"/>
          </a:xfrm>
          <a:prstGeom prst="rect">
            <a:avLst/>
          </a:prstGeom>
          <a:noFill/>
        </p:spPr>
        <p:txBody>
          <a:bodyPr wrap="square" lIns="0" tIns="0" rIns="0" bIns="0" rtlCol="0" anchor="ctr">
            <a:normAutofit/>
          </a:bodyPr>
          <a:lstStyle/>
          <a:p>
            <a:pPr marL="0" indent="0" algn="ctr">
              <a:buNone/>
            </a:pPr>
            <a:r>
              <a:rPr lang="en-US" sz="940" dirty="0">
                <a:solidFill>
                  <a:srgbClr val="202938"/>
                </a:solidFill>
                <a:latin typeface="Arial" panose="020B0604020202020204" pitchFamily="34" charset="0"/>
                <a:ea typeface="Arial" panose="020B0604020202020204" pitchFamily="34" charset="-122"/>
                <a:cs typeface="Arial" panose="020B0604020202020204" pitchFamily="34" charset="-120"/>
              </a:rPr>
              <a:t>Arrays &amp; methods</a:t>
            </a:r>
            <a:endParaRPr lang="en-US" sz="940" dirty="0"/>
          </a:p>
        </p:txBody>
      </p:sp>
      <p:sp>
        <p:nvSpPr>
          <p:cNvPr id="24" name="Shape 21"/>
          <p:cNvSpPr/>
          <p:nvPr/>
        </p:nvSpPr>
        <p:spPr>
          <a:xfrm>
            <a:off x="6144768" y="4553712"/>
            <a:ext cx="1627632" cy="713232"/>
          </a:xfrm>
          <a:prstGeom prst="roundRect">
            <a:avLst>
              <a:gd name="adj" fmla="val 10256"/>
            </a:avLst>
          </a:prstGeom>
          <a:solidFill>
            <a:srgbClr val="FCEDEF"/>
          </a:solidFill>
          <a:ln w="12700">
            <a:solidFill>
              <a:srgbClr val="E8B8BE"/>
            </a:solidFill>
            <a:prstDash val="solid"/>
          </a:ln>
        </p:spPr>
      </p:sp>
      <p:sp>
        <p:nvSpPr>
          <p:cNvPr id="25" name="Text 22"/>
          <p:cNvSpPr/>
          <p:nvPr/>
        </p:nvSpPr>
        <p:spPr>
          <a:xfrm>
            <a:off x="6217920" y="4663440"/>
            <a:ext cx="1481328" cy="219456"/>
          </a:xfrm>
          <a:prstGeom prst="rect">
            <a:avLst/>
          </a:prstGeom>
          <a:noFill/>
        </p:spPr>
        <p:txBody>
          <a:bodyPr wrap="square" lIns="0" tIns="0" rIns="0" bIns="0" rtlCol="0" anchor="ctr">
            <a:normAutofit/>
          </a:bodyPr>
          <a:lstStyle/>
          <a:p>
            <a:pPr marL="0" indent="0" algn="ctr">
              <a:buNone/>
            </a:pPr>
            <a:r>
              <a:rPr lang="en-US" sz="1300" b="1" dirty="0">
                <a:solidFill>
                  <a:srgbClr val="B71920"/>
                </a:solidFill>
                <a:latin typeface="Arial" panose="020B0604020202020204" pitchFamily="34" charset="0"/>
                <a:ea typeface="Arial" panose="020B0604020202020204" pitchFamily="34" charset="-122"/>
                <a:cs typeface="Arial" panose="020B0604020202020204" pitchFamily="34" charset="-120"/>
              </a:rPr>
              <a:t>CO4</a:t>
            </a:r>
            <a:endParaRPr lang="en-US" sz="1300" dirty="0"/>
          </a:p>
        </p:txBody>
      </p:sp>
      <p:sp>
        <p:nvSpPr>
          <p:cNvPr id="26" name="Text 23"/>
          <p:cNvSpPr/>
          <p:nvPr/>
        </p:nvSpPr>
        <p:spPr>
          <a:xfrm>
            <a:off x="6217920" y="4928616"/>
            <a:ext cx="1481328" cy="182880"/>
          </a:xfrm>
          <a:prstGeom prst="rect">
            <a:avLst/>
          </a:prstGeom>
          <a:noFill/>
        </p:spPr>
        <p:txBody>
          <a:bodyPr wrap="square" lIns="0" tIns="0" rIns="0" bIns="0" rtlCol="0" anchor="ctr">
            <a:normAutofit/>
          </a:bodyPr>
          <a:lstStyle/>
          <a:p>
            <a:pPr marL="0" indent="0" algn="ctr">
              <a:buNone/>
            </a:pPr>
            <a:r>
              <a:rPr lang="en-US" sz="940" dirty="0">
                <a:solidFill>
                  <a:srgbClr val="202938"/>
                </a:solidFill>
                <a:latin typeface="Arial" panose="020B0604020202020204" pitchFamily="34" charset="0"/>
                <a:ea typeface="Arial" panose="020B0604020202020204" pitchFamily="34" charset="-122"/>
                <a:cs typeface="Arial" panose="020B0604020202020204" pitchFamily="34" charset="-120"/>
              </a:rPr>
              <a:t>OOP &amp; errors</a:t>
            </a:r>
            <a:endParaRPr lang="en-US" sz="940" dirty="0"/>
          </a:p>
        </p:txBody>
      </p:sp>
      <p:sp>
        <p:nvSpPr>
          <p:cNvPr id="27" name="Shape 24"/>
          <p:cNvSpPr/>
          <p:nvPr/>
        </p:nvSpPr>
        <p:spPr>
          <a:xfrm>
            <a:off x="7872984" y="4553712"/>
            <a:ext cx="1627632" cy="713232"/>
          </a:xfrm>
          <a:prstGeom prst="roundRect">
            <a:avLst>
              <a:gd name="adj" fmla="val 10256"/>
            </a:avLst>
          </a:prstGeom>
          <a:solidFill>
            <a:srgbClr val="EAF2FB"/>
          </a:solidFill>
          <a:ln w="12700">
            <a:solidFill>
              <a:srgbClr val="B8D0EE"/>
            </a:solidFill>
            <a:prstDash val="solid"/>
          </a:ln>
        </p:spPr>
      </p:sp>
      <p:sp>
        <p:nvSpPr>
          <p:cNvPr id="28" name="Text 25"/>
          <p:cNvSpPr/>
          <p:nvPr/>
        </p:nvSpPr>
        <p:spPr>
          <a:xfrm>
            <a:off x="7946136" y="4663440"/>
            <a:ext cx="1481328" cy="219456"/>
          </a:xfrm>
          <a:prstGeom prst="rect">
            <a:avLst/>
          </a:prstGeom>
          <a:noFill/>
        </p:spPr>
        <p:txBody>
          <a:bodyPr wrap="square" lIns="0" tIns="0" rIns="0" bIns="0" rtlCol="0" anchor="ctr">
            <a:normAutofit/>
          </a:bodyPr>
          <a:lstStyle/>
          <a:p>
            <a:pPr marL="0" indent="0" algn="ctr">
              <a:buNone/>
            </a:pPr>
            <a:r>
              <a:rPr lang="en-US" sz="1300" b="1" dirty="0">
                <a:solidFill>
                  <a:srgbClr val="214D7B"/>
                </a:solidFill>
                <a:latin typeface="Arial" panose="020B0604020202020204" pitchFamily="34" charset="0"/>
                <a:ea typeface="Arial" panose="020B0604020202020204" pitchFamily="34" charset="-122"/>
                <a:cs typeface="Arial" panose="020B0604020202020204" pitchFamily="34" charset="-120"/>
              </a:rPr>
              <a:t>CO5</a:t>
            </a:r>
            <a:endParaRPr lang="en-US" sz="1300" dirty="0"/>
          </a:p>
        </p:txBody>
      </p:sp>
      <p:sp>
        <p:nvSpPr>
          <p:cNvPr id="29" name="Text 26"/>
          <p:cNvSpPr/>
          <p:nvPr/>
        </p:nvSpPr>
        <p:spPr>
          <a:xfrm>
            <a:off x="7946136" y="4928616"/>
            <a:ext cx="1481328" cy="182880"/>
          </a:xfrm>
          <a:prstGeom prst="rect">
            <a:avLst/>
          </a:prstGeom>
          <a:noFill/>
        </p:spPr>
        <p:txBody>
          <a:bodyPr wrap="square" lIns="0" tIns="0" rIns="0" bIns="0" rtlCol="0" anchor="ctr">
            <a:normAutofit/>
          </a:bodyPr>
          <a:lstStyle/>
          <a:p>
            <a:pPr marL="0" indent="0" algn="ctr">
              <a:buNone/>
            </a:pPr>
            <a:r>
              <a:rPr lang="en-US" sz="940" dirty="0">
                <a:solidFill>
                  <a:srgbClr val="202938"/>
                </a:solidFill>
                <a:latin typeface="Arial" panose="020B0604020202020204" pitchFamily="34" charset="0"/>
                <a:ea typeface="Arial" panose="020B0604020202020204" pitchFamily="34" charset="-122"/>
                <a:cs typeface="Arial" panose="020B0604020202020204" pitchFamily="34" charset="-120"/>
              </a:rPr>
              <a:t>Files &amp; strings</a:t>
            </a:r>
            <a:endParaRPr lang="en-US" sz="940" dirty="0"/>
          </a:p>
        </p:txBody>
      </p:sp>
      <p:sp>
        <p:nvSpPr>
          <p:cNvPr id="30" name="Shape 27"/>
          <p:cNvSpPr/>
          <p:nvPr/>
        </p:nvSpPr>
        <p:spPr>
          <a:xfrm>
            <a:off x="9601200" y="4553712"/>
            <a:ext cx="1627632" cy="713232"/>
          </a:xfrm>
          <a:prstGeom prst="roundRect">
            <a:avLst>
              <a:gd name="adj" fmla="val 10256"/>
            </a:avLst>
          </a:prstGeom>
          <a:solidFill>
            <a:srgbClr val="EAF6EF"/>
          </a:solidFill>
          <a:ln w="12700">
            <a:solidFill>
              <a:srgbClr val="B9DCC6"/>
            </a:solidFill>
            <a:prstDash val="solid"/>
          </a:ln>
        </p:spPr>
      </p:sp>
      <p:sp>
        <p:nvSpPr>
          <p:cNvPr id="31" name="Text 28"/>
          <p:cNvSpPr/>
          <p:nvPr/>
        </p:nvSpPr>
        <p:spPr>
          <a:xfrm>
            <a:off x="9674352" y="4663440"/>
            <a:ext cx="1481328" cy="219456"/>
          </a:xfrm>
          <a:prstGeom prst="rect">
            <a:avLst/>
          </a:prstGeom>
          <a:noFill/>
        </p:spPr>
        <p:txBody>
          <a:bodyPr wrap="square" lIns="0" tIns="0" rIns="0" bIns="0" rtlCol="0" anchor="ctr">
            <a:normAutofit/>
          </a:bodyPr>
          <a:lstStyle/>
          <a:p>
            <a:pPr marL="0" indent="0" algn="ctr">
              <a:buNone/>
            </a:pPr>
            <a:r>
              <a:rPr lang="en-US" sz="1300" b="1" dirty="0">
                <a:solidFill>
                  <a:srgbClr val="28734B"/>
                </a:solidFill>
                <a:latin typeface="Arial" panose="020B0604020202020204" pitchFamily="34" charset="0"/>
                <a:ea typeface="Arial" panose="020B0604020202020204" pitchFamily="34" charset="-122"/>
                <a:cs typeface="Arial" panose="020B0604020202020204" pitchFamily="34" charset="-120"/>
              </a:rPr>
              <a:t>CO6</a:t>
            </a:r>
            <a:endParaRPr lang="en-US" sz="1300" dirty="0"/>
          </a:p>
        </p:txBody>
      </p:sp>
      <p:sp>
        <p:nvSpPr>
          <p:cNvPr id="32" name="Text 29"/>
          <p:cNvSpPr/>
          <p:nvPr/>
        </p:nvSpPr>
        <p:spPr>
          <a:xfrm>
            <a:off x="9674352" y="4928616"/>
            <a:ext cx="1481328" cy="182880"/>
          </a:xfrm>
          <a:prstGeom prst="rect">
            <a:avLst/>
          </a:prstGeom>
          <a:noFill/>
        </p:spPr>
        <p:txBody>
          <a:bodyPr wrap="square" lIns="0" tIns="0" rIns="0" bIns="0" rtlCol="0" anchor="ctr">
            <a:normAutofit/>
          </a:bodyPr>
          <a:lstStyle/>
          <a:p>
            <a:pPr marL="0" indent="0" algn="ctr">
              <a:buNone/>
            </a:pPr>
            <a:r>
              <a:rPr lang="en-US" sz="940" dirty="0">
                <a:solidFill>
                  <a:srgbClr val="202938"/>
                </a:solidFill>
                <a:latin typeface="Arial" panose="020B0604020202020204" pitchFamily="34" charset="0"/>
                <a:ea typeface="Arial" panose="020B0604020202020204" pitchFamily="34" charset="-122"/>
                <a:cs typeface="Arial" panose="020B0604020202020204" pitchFamily="34" charset="-120"/>
              </a:rPr>
              <a:t>Collections &amp; streams</a:t>
            </a:r>
            <a:endParaRPr lang="en-US" sz="940" dirty="0"/>
          </a:p>
        </p:txBody>
      </p:sp>
      <p:sp>
        <p:nvSpPr>
          <p:cNvPr id="33" name="Text 30"/>
          <p:cNvSpPr/>
          <p:nvPr/>
        </p:nvSpPr>
        <p:spPr>
          <a:xfrm>
            <a:off x="1097280" y="5596128"/>
            <a:ext cx="10012680" cy="256032"/>
          </a:xfrm>
          <a:prstGeom prst="rect">
            <a:avLst/>
          </a:prstGeom>
          <a:noFill/>
        </p:spPr>
        <p:txBody>
          <a:bodyPr wrap="square" lIns="0" tIns="0" rIns="0" bIns="0" rtlCol="0" anchor="ctr">
            <a:normAutofit/>
          </a:bodyPr>
          <a:lstStyle/>
          <a:p>
            <a:pPr marL="0" indent="0" algn="ctr">
              <a:buNone/>
            </a:pPr>
            <a:r>
              <a:rPr lang="en-US" sz="1100" dirty="0">
                <a:solidFill>
                  <a:srgbClr val="687487"/>
                </a:solidFill>
                <a:latin typeface="Arial" panose="020B0604020202020204" pitchFamily="34" charset="0"/>
                <a:ea typeface="Arial" panose="020B0604020202020204" pitchFamily="34" charset="-122"/>
                <a:cs typeface="Arial" panose="020B0604020202020204" pitchFamily="34" charset="-120"/>
              </a:rPr>
              <a:t>K L Deemed to be University  •  Problem Solving Using Programming (Java)</a:t>
            </a:r>
            <a:endParaRPr lang="en-US" sz="1100" dirty="0"/>
          </a:p>
        </p:txBody>
      </p:sp>
      <p:sp>
        <p:nvSpPr>
          <p:cNvPr id="34" name="Shape 31"/>
          <p:cNvSpPr/>
          <p:nvPr/>
        </p:nvSpPr>
        <p:spPr>
          <a:xfrm>
            <a:off x="411480" y="6446520"/>
            <a:ext cx="11356848" cy="0"/>
          </a:xfrm>
          <a:prstGeom prst="line">
            <a:avLst/>
          </a:prstGeom>
          <a:noFill/>
          <a:ln w="8890">
            <a:solidFill>
              <a:srgbClr val="E8ECF1"/>
            </a:solidFill>
            <a:prstDash val="solid"/>
          </a:ln>
        </p:spPr>
      </p:sp>
      <p:sp>
        <p:nvSpPr>
          <p:cNvPr id="35" name="Text 32"/>
          <p:cNvSpPr/>
          <p:nvPr/>
        </p:nvSpPr>
        <p:spPr>
          <a:xfrm>
            <a:off x="438912" y="6501384"/>
            <a:ext cx="1005840" cy="146304"/>
          </a:xfrm>
          <a:prstGeom prst="rect">
            <a:avLst/>
          </a:prstGeom>
          <a:noFill/>
        </p:spPr>
        <p:txBody>
          <a:bodyPr wrap="square" lIns="0" tIns="0" rIns="0" bIns="0" rtlCol="0" anchor="ctr">
            <a:normAutofit/>
          </a:bodyPr>
          <a:lstStyle/>
          <a:p>
            <a:pPr marL="0" indent="0">
              <a:buNone/>
            </a:pPr>
            <a:r>
              <a:rPr lang="en-US" sz="810" dirty="0">
                <a:solidFill>
                  <a:srgbClr val="8A929E"/>
                </a:solidFill>
                <a:latin typeface="Arial" panose="020B0604020202020204" pitchFamily="34" charset="0"/>
                <a:ea typeface="Arial" panose="020B0604020202020204" pitchFamily="34" charset="-122"/>
                <a:cs typeface="Arial" panose="020B0604020202020204" pitchFamily="34" charset="-120"/>
              </a:rPr>
              <a:t>11/10/2026</a:t>
            </a:r>
            <a:endParaRPr lang="en-US" sz="810" dirty="0"/>
          </a:p>
        </p:txBody>
      </p:sp>
      <p:sp>
        <p:nvSpPr>
          <p:cNvPr id="36" name="Text 33"/>
          <p:cNvSpPr/>
          <p:nvPr/>
        </p:nvSpPr>
        <p:spPr>
          <a:xfrm>
            <a:off x="3840480" y="6501384"/>
            <a:ext cx="4526280" cy="146304"/>
          </a:xfrm>
          <a:prstGeom prst="rect">
            <a:avLst/>
          </a:prstGeom>
          <a:noFill/>
        </p:spPr>
        <p:txBody>
          <a:bodyPr wrap="square" lIns="0" tIns="0" rIns="0" bIns="0" rtlCol="0" anchor="ctr">
            <a:normAutofit/>
          </a:bodyPr>
          <a:lstStyle/>
          <a:p>
            <a:pPr marL="0" indent="0" algn="ctr">
              <a:buNone/>
            </a:pPr>
            <a:r>
              <a:rPr lang="en-US" sz="760" dirty="0">
                <a:solidFill>
                  <a:srgbClr val="A0A7B2"/>
                </a:solidFill>
                <a:latin typeface="Arial" panose="020B0604020202020204" pitchFamily="34" charset="0"/>
                <a:ea typeface="Arial" panose="020B0604020202020204" pitchFamily="34" charset="-122"/>
                <a:cs typeface="Arial" panose="020B0604020202020204" pitchFamily="34" charset="-120"/>
              </a:rPr>
              <a:t>Blood Bank Inventory &amp; Donor Matcher</a:t>
            </a:r>
            <a:endParaRPr lang="en-US" sz="760" dirty="0"/>
          </a:p>
        </p:txBody>
      </p:sp>
      <p:sp>
        <p:nvSpPr>
          <p:cNvPr id="37" name="Text 34"/>
          <p:cNvSpPr/>
          <p:nvPr/>
        </p:nvSpPr>
        <p:spPr>
          <a:xfrm>
            <a:off x="11292840" y="6501384"/>
            <a:ext cx="411480" cy="146304"/>
          </a:xfrm>
          <a:prstGeom prst="rect">
            <a:avLst/>
          </a:prstGeom>
          <a:noFill/>
        </p:spPr>
        <p:txBody>
          <a:bodyPr wrap="square" lIns="0" tIns="0" rIns="0" bIns="0" rtlCol="0" anchor="ctr">
            <a:normAutofit/>
          </a:bodyPr>
          <a:lstStyle/>
          <a:p>
            <a:pPr marL="0" indent="0" algn="r">
              <a:buNone/>
            </a:pPr>
            <a:r>
              <a:rPr lang="en-US" sz="810" dirty="0">
                <a:solidFill>
                  <a:srgbClr val="8A929E"/>
                </a:solidFill>
                <a:latin typeface="Arial" panose="020B0604020202020204" pitchFamily="34" charset="0"/>
                <a:ea typeface="Arial" panose="020B0604020202020204" pitchFamily="34" charset="-122"/>
                <a:cs typeface="Arial" panose="020B0604020202020204" pitchFamily="34" charset="-120"/>
              </a:rPr>
              <a:t>1</a:t>
            </a:r>
            <a:endParaRPr lang="en-US" sz="81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1"/>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p:spPr>
        <p:txBody>
          <a:bodyPr wrap="square" lIns="0" tIns="0" rIns="0" bIns="0" rtlCol="0" anchor="ctr">
            <a:normAutofit/>
          </a:bodyPr>
          <a:lstStyle/>
          <a:p>
            <a:pPr marL="0" indent="0">
              <a:buNone/>
            </a:pPr>
            <a:r>
              <a:rPr lang="en-US" sz="2200" b="1" dirty="0">
                <a:solidFill>
                  <a:srgbClr val="172234"/>
                </a:solidFill>
                <a:latin typeface="Arial" panose="020B0604020202020204" pitchFamily="34" charset="0"/>
                <a:ea typeface="Arial" panose="020B0604020202020204" pitchFamily="34" charset="-122"/>
                <a:cs typeface="Arial" panose="020B0604020202020204" pitchFamily="34" charset="-120"/>
              </a:rPr>
              <a:t>Abstract</a:t>
            </a:r>
            <a:endParaRPr lang="en-US" sz="2200" dirty="0"/>
          </a:p>
        </p:txBody>
      </p:sp>
      <p:sp>
        <p:nvSpPr>
          <p:cNvPr id="4" name="Text 1"/>
          <p:cNvSpPr/>
          <p:nvPr/>
        </p:nvSpPr>
        <p:spPr>
          <a:xfrm>
            <a:off x="886968" y="640080"/>
            <a:ext cx="10789920" cy="201168"/>
          </a:xfrm>
          <a:prstGeom prst="rect">
            <a:avLst/>
          </a:prstGeom>
          <a:noFill/>
        </p:spPr>
        <p:txBody>
          <a:bodyPr wrap="square" lIns="0" tIns="0" rIns="0" bIns="0" rtlCol="0" anchor="ctr">
            <a:normAutofit/>
          </a:bodyPr>
          <a:lstStyle/>
          <a:p>
            <a:pPr marL="0" indent="0">
              <a:buNone/>
            </a:pPr>
            <a:r>
              <a:rPr lang="en-US" sz="1030" dirty="0">
                <a:solidFill>
                  <a:srgbClr val="687487"/>
                </a:solidFill>
                <a:latin typeface="Arial" panose="020B0604020202020204" pitchFamily="34" charset="0"/>
                <a:ea typeface="Arial" panose="020B0604020202020204" pitchFamily="34" charset="-122"/>
                <a:cs typeface="Arial" panose="020B0604020202020204" pitchFamily="34" charset="-120"/>
              </a:rPr>
              <a:t>A small console-based system for organizing donor details and available blood stock</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p:spPr>
        <p:txBody>
          <a:bodyPr wrap="square" lIns="0" tIns="0" rIns="0" bIns="0" rtlCol="0" anchor="ctr">
            <a:normAutofit/>
          </a:bodyPr>
          <a:lstStyle/>
          <a:p>
            <a:pPr marL="0" indent="0">
              <a:buNone/>
            </a:pPr>
            <a:r>
              <a:rPr lang="en-US" sz="810" dirty="0">
                <a:solidFill>
                  <a:srgbClr val="8A929E"/>
                </a:solidFill>
                <a:latin typeface="Arial" panose="020B0604020202020204" pitchFamily="34" charset="0"/>
                <a:ea typeface="Arial" panose="020B0604020202020204" pitchFamily="34" charset="-122"/>
                <a:cs typeface="Arial" panose="020B0604020202020204" pitchFamily="34" charset="-120"/>
              </a:rPr>
              <a:t>11/10/2026</a:t>
            </a:r>
            <a:endParaRPr lang="en-US" sz="810" dirty="0"/>
          </a:p>
        </p:txBody>
      </p:sp>
      <p:sp>
        <p:nvSpPr>
          <p:cNvPr id="8" name="Text 5"/>
          <p:cNvSpPr/>
          <p:nvPr/>
        </p:nvSpPr>
        <p:spPr>
          <a:xfrm>
            <a:off x="3840480" y="6501384"/>
            <a:ext cx="4526280" cy="146304"/>
          </a:xfrm>
          <a:prstGeom prst="rect">
            <a:avLst/>
          </a:prstGeom>
          <a:noFill/>
        </p:spPr>
        <p:txBody>
          <a:bodyPr wrap="square" lIns="0" tIns="0" rIns="0" bIns="0" rtlCol="0" anchor="ctr">
            <a:normAutofit/>
          </a:bodyPr>
          <a:lstStyle/>
          <a:p>
            <a:pPr marL="0" indent="0" algn="ctr">
              <a:buNone/>
            </a:pPr>
            <a:r>
              <a:rPr lang="en-US" sz="760" dirty="0">
                <a:solidFill>
                  <a:srgbClr val="A0A7B2"/>
                </a:solidFill>
                <a:latin typeface="Arial" panose="020B0604020202020204" pitchFamily="34" charset="0"/>
                <a:ea typeface="Arial" panose="020B0604020202020204" pitchFamily="34" charset="-122"/>
                <a:cs typeface="Arial" panose="020B0604020202020204"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p:spPr>
        <p:txBody>
          <a:bodyPr wrap="square" lIns="0" tIns="0" rIns="0" bIns="0" rtlCol="0" anchor="ctr">
            <a:normAutofit/>
          </a:bodyPr>
          <a:lstStyle/>
          <a:p>
            <a:pPr marL="0" indent="0" algn="r">
              <a:buNone/>
            </a:pPr>
            <a:r>
              <a:rPr lang="en-US" sz="810" dirty="0">
                <a:solidFill>
                  <a:srgbClr val="8A929E"/>
                </a:solidFill>
                <a:latin typeface="Arial" panose="020B0604020202020204" pitchFamily="34" charset="0"/>
                <a:ea typeface="Arial" panose="020B0604020202020204" pitchFamily="34" charset="-122"/>
                <a:cs typeface="Arial" panose="020B0604020202020204" pitchFamily="34" charset="-120"/>
              </a:rPr>
              <a:t>2</a:t>
            </a:r>
            <a:endParaRPr lang="en-US" sz="810" dirty="0"/>
          </a:p>
        </p:txBody>
      </p:sp>
      <p:sp>
        <p:nvSpPr>
          <p:cNvPr id="23" name="TextBox 22"/>
          <p:cNvSpPr txBox="1"/>
          <p:nvPr/>
        </p:nvSpPr>
        <p:spPr>
          <a:xfrm>
            <a:off x="722375" y="1459087"/>
            <a:ext cx="10726285" cy="3785652"/>
          </a:xfrm>
          <a:prstGeom prst="rect">
            <a:avLst/>
          </a:prstGeom>
          <a:noFill/>
        </p:spPr>
        <p:txBody>
          <a:bodyPr wrap="square">
            <a:spAutoFit/>
          </a:bodyPr>
          <a:lstStyle/>
          <a:p>
            <a:pPr>
              <a:buNone/>
            </a:pPr>
            <a:r>
              <a:rPr lang="en-IN" sz="2000" dirty="0"/>
              <a:t>The </a:t>
            </a:r>
            <a:r>
              <a:rPr lang="en-IN" sz="2000" b="1" dirty="0"/>
              <a:t>Blood Bank Inventory &amp; Donor Matcher</a:t>
            </a:r>
            <a:r>
              <a:rPr lang="en-IN" sz="2000" dirty="0"/>
              <a:t> is a Java-based application developed to simplify the management of donor information and blood-group records. The system allows users to enter and store donor names and blood groups in an organized manner.</a:t>
            </a:r>
            <a:endParaRPr lang="en-IN" sz="2000" dirty="0"/>
          </a:p>
          <a:p>
            <a:pPr>
              <a:buNone/>
            </a:pPr>
            <a:endParaRPr lang="en-IN" sz="2000" dirty="0"/>
          </a:p>
          <a:p>
            <a:pPr>
              <a:buNone/>
            </a:pPr>
            <a:r>
              <a:rPr lang="en-IN" sz="2000" dirty="0"/>
              <a:t>It provides a simple way to </a:t>
            </a:r>
            <a:r>
              <a:rPr lang="en-IN" sz="2000" b="1" dirty="0"/>
              <a:t>view donor details and search for donors based on a required blood group</a:t>
            </a:r>
            <a:r>
              <a:rPr lang="en-IN" sz="2000" dirty="0"/>
              <a:t>. This reduces the time and effort needed for manual searching of donor records, especially when a matching blood group is required.</a:t>
            </a:r>
            <a:endParaRPr lang="en-IN" sz="2000" dirty="0"/>
          </a:p>
          <a:p>
            <a:pPr>
              <a:buNone/>
            </a:pPr>
            <a:endParaRPr lang="en-IN" sz="2000" dirty="0"/>
          </a:p>
          <a:p>
            <a:pPr>
              <a:buNone/>
            </a:pPr>
            <a:r>
              <a:rPr lang="en-IN" sz="2000" dirty="0"/>
              <a:t>The project demonstrates important Java programming concepts such as </a:t>
            </a:r>
            <a:r>
              <a:rPr lang="en-IN" sz="2000" b="1" dirty="0"/>
              <a:t>arrays, variables, Scanner input, loops, conditional statements, searching, and array traversal</a:t>
            </a:r>
            <a:r>
              <a:rPr lang="en-IN" sz="2000" dirty="0"/>
              <a:t>. Overall, the application provides a simple and organized approach to maintaining donor records and finding matching donors</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1"/>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p:spPr>
        <p:txBody>
          <a:bodyPr wrap="square" lIns="0" tIns="0" rIns="0" bIns="0" rtlCol="0" anchor="ctr">
            <a:normAutofit/>
          </a:bodyPr>
          <a:lstStyle/>
          <a:p>
            <a:pPr marL="0" indent="0">
              <a:buNone/>
            </a:pPr>
            <a:r>
              <a:rPr lang="en-US" sz="2200" b="1" dirty="0">
                <a:solidFill>
                  <a:srgbClr val="172234"/>
                </a:solidFill>
                <a:latin typeface="Arial" panose="020B0604020202020204" pitchFamily="34" charset="0"/>
                <a:ea typeface="Arial" panose="020B0604020202020204" pitchFamily="34" charset="-122"/>
                <a:cs typeface="Arial" panose="020B0604020202020204" pitchFamily="34" charset="-120"/>
              </a:rPr>
              <a:t>Understanding the Problem Statement</a:t>
            </a:r>
            <a:endParaRPr lang="en-US" sz="2200" dirty="0"/>
          </a:p>
        </p:txBody>
      </p:sp>
      <p:sp>
        <p:nvSpPr>
          <p:cNvPr id="4" name="Text 1"/>
          <p:cNvSpPr/>
          <p:nvPr/>
        </p:nvSpPr>
        <p:spPr>
          <a:xfrm>
            <a:off x="886968" y="640080"/>
            <a:ext cx="10789920" cy="201168"/>
          </a:xfrm>
          <a:prstGeom prst="rect">
            <a:avLst/>
          </a:prstGeom>
          <a:noFill/>
        </p:spPr>
        <p:txBody>
          <a:bodyPr wrap="square" lIns="0" tIns="0" rIns="0" bIns="0" rtlCol="0" anchor="ctr">
            <a:normAutofit/>
          </a:bodyPr>
          <a:lstStyle/>
          <a:p>
            <a:pPr marL="0" indent="0">
              <a:buNone/>
            </a:pPr>
            <a:r>
              <a:rPr lang="en-US" sz="1030" dirty="0">
                <a:solidFill>
                  <a:srgbClr val="687487"/>
                </a:solidFill>
                <a:latin typeface="Arial" panose="020B0604020202020204" pitchFamily="34" charset="0"/>
                <a:ea typeface="Arial" panose="020B0604020202020204" pitchFamily="34" charset="-122"/>
                <a:cs typeface="Arial" panose="020B0604020202020204" pitchFamily="34" charset="-120"/>
              </a:rPr>
              <a:t>Translate a real workflow into a repeatable program</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p:spPr>
        <p:txBody>
          <a:bodyPr wrap="square" lIns="0" tIns="0" rIns="0" bIns="0" rtlCol="0" anchor="ctr">
            <a:normAutofit/>
          </a:bodyPr>
          <a:lstStyle/>
          <a:p>
            <a:pPr marL="0" indent="0">
              <a:buNone/>
            </a:pPr>
            <a:r>
              <a:rPr lang="en-US" sz="810" dirty="0">
                <a:solidFill>
                  <a:srgbClr val="8A929E"/>
                </a:solidFill>
                <a:latin typeface="Arial" panose="020B0604020202020204" pitchFamily="34" charset="0"/>
                <a:ea typeface="Arial" panose="020B0604020202020204" pitchFamily="34" charset="-122"/>
                <a:cs typeface="Arial" panose="020B0604020202020204" pitchFamily="34" charset="-120"/>
              </a:rPr>
              <a:t>11/10/2026</a:t>
            </a:r>
            <a:endParaRPr lang="en-US" sz="810" dirty="0"/>
          </a:p>
        </p:txBody>
      </p:sp>
      <p:sp>
        <p:nvSpPr>
          <p:cNvPr id="8" name="Text 5"/>
          <p:cNvSpPr/>
          <p:nvPr/>
        </p:nvSpPr>
        <p:spPr>
          <a:xfrm>
            <a:off x="3840480" y="6501384"/>
            <a:ext cx="4526280" cy="146304"/>
          </a:xfrm>
          <a:prstGeom prst="rect">
            <a:avLst/>
          </a:prstGeom>
          <a:noFill/>
        </p:spPr>
        <p:txBody>
          <a:bodyPr wrap="square" lIns="0" tIns="0" rIns="0" bIns="0" rtlCol="0" anchor="ctr">
            <a:normAutofit/>
          </a:bodyPr>
          <a:lstStyle/>
          <a:p>
            <a:pPr marL="0" indent="0" algn="ctr">
              <a:buNone/>
            </a:pPr>
            <a:r>
              <a:rPr lang="en-US" sz="760" dirty="0">
                <a:solidFill>
                  <a:srgbClr val="A0A7B2"/>
                </a:solidFill>
                <a:latin typeface="Arial" panose="020B0604020202020204" pitchFamily="34" charset="0"/>
                <a:ea typeface="Arial" panose="020B0604020202020204" pitchFamily="34" charset="-122"/>
                <a:cs typeface="Arial" panose="020B0604020202020204"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p:spPr>
        <p:txBody>
          <a:bodyPr wrap="square" lIns="0" tIns="0" rIns="0" bIns="0" rtlCol="0" anchor="ctr">
            <a:normAutofit/>
          </a:bodyPr>
          <a:lstStyle/>
          <a:p>
            <a:pPr marL="0" indent="0" algn="r">
              <a:buNone/>
            </a:pPr>
            <a:r>
              <a:rPr lang="en-US" sz="810" dirty="0">
                <a:solidFill>
                  <a:srgbClr val="8A929E"/>
                </a:solidFill>
                <a:latin typeface="Arial" panose="020B0604020202020204" pitchFamily="34" charset="0"/>
                <a:ea typeface="Arial" panose="020B0604020202020204" pitchFamily="34" charset="-122"/>
                <a:cs typeface="Arial" panose="020B0604020202020204" pitchFamily="34" charset="-120"/>
              </a:rPr>
              <a:t>3</a:t>
            </a:r>
            <a:endParaRPr lang="en-US" sz="810" dirty="0"/>
          </a:p>
        </p:txBody>
      </p:sp>
      <p:sp>
        <p:nvSpPr>
          <p:cNvPr id="10" name="Shape 7"/>
          <p:cNvSpPr/>
          <p:nvPr/>
        </p:nvSpPr>
        <p:spPr>
          <a:xfrm>
            <a:off x="566928" y="1344168"/>
            <a:ext cx="2670048" cy="1426464"/>
          </a:xfrm>
          <a:prstGeom prst="roundRect">
            <a:avLst>
              <a:gd name="adj" fmla="val 5128"/>
            </a:avLst>
          </a:prstGeom>
          <a:solidFill>
            <a:srgbClr val="FCEDEF"/>
          </a:solidFill>
          <a:ln w="12700">
            <a:solidFill>
              <a:srgbClr val="E8B8BE"/>
            </a:solidFill>
            <a:prstDash val="solid"/>
          </a:ln>
        </p:spPr>
      </p:sp>
      <p:sp>
        <p:nvSpPr>
          <p:cNvPr id="11" name="Shape 8"/>
          <p:cNvSpPr/>
          <p:nvPr/>
        </p:nvSpPr>
        <p:spPr>
          <a:xfrm>
            <a:off x="566928" y="1435608"/>
            <a:ext cx="50292" cy="1243584"/>
          </a:xfrm>
          <a:prstGeom prst="rect">
            <a:avLst/>
          </a:prstGeom>
          <a:solidFill>
            <a:srgbClr val="B71920"/>
          </a:solidFill>
          <a:ln w="12700">
            <a:solidFill>
              <a:srgbClr val="B71920">
                <a:alpha val="0"/>
              </a:srgbClr>
            </a:solidFill>
            <a:prstDash val="solid"/>
          </a:ln>
        </p:spPr>
      </p:sp>
      <p:sp>
        <p:nvSpPr>
          <p:cNvPr id="12" name="Text 9"/>
          <p:cNvSpPr/>
          <p:nvPr/>
        </p:nvSpPr>
        <p:spPr>
          <a:xfrm>
            <a:off x="713232" y="1453896"/>
            <a:ext cx="2377440" cy="265176"/>
          </a:xfrm>
          <a:prstGeom prst="rect">
            <a:avLst/>
          </a:prstGeom>
          <a:noFill/>
        </p:spPr>
        <p:txBody>
          <a:bodyPr wrap="square" lIns="0" tIns="0" rIns="0" bIns="0" rtlCol="0" anchor="ctr">
            <a:normAutofit/>
          </a:bodyPr>
          <a:lstStyle/>
          <a:p>
            <a:pPr marL="0" indent="0">
              <a:buNone/>
            </a:pPr>
            <a:r>
              <a:rPr lang="en-US" sz="1090" b="1" dirty="0">
                <a:solidFill>
                  <a:srgbClr val="B71920"/>
                </a:solidFill>
                <a:latin typeface="Arial" panose="020B0604020202020204" pitchFamily="34" charset="0"/>
                <a:ea typeface="Arial" panose="020B0604020202020204" pitchFamily="34" charset="-122"/>
                <a:cs typeface="Arial" panose="020B0604020202020204" pitchFamily="34" charset="-120"/>
              </a:rPr>
              <a:t>01  DONOR LOOKUP</a:t>
            </a:r>
            <a:endParaRPr lang="en-US" sz="1090" dirty="0"/>
          </a:p>
        </p:txBody>
      </p:sp>
      <p:sp>
        <p:nvSpPr>
          <p:cNvPr id="13" name="Text 10"/>
          <p:cNvSpPr/>
          <p:nvPr/>
        </p:nvSpPr>
        <p:spPr>
          <a:xfrm>
            <a:off x="713232" y="1773936"/>
            <a:ext cx="2377440" cy="905256"/>
          </a:xfrm>
          <a:prstGeom prst="rect">
            <a:avLst/>
          </a:prstGeom>
          <a:noFill/>
        </p:spPr>
        <p:txBody>
          <a:bodyPr wrap="square" lIns="0" tIns="0" rIns="0" bIns="0" rtlCol="0" anchor="t">
            <a:normAutofit/>
          </a:bodyPr>
          <a:lstStyle/>
          <a:p>
            <a:pPr marL="0" indent="0">
              <a:buNone/>
            </a:pPr>
            <a:r>
              <a:rPr lang="en-US" sz="1000" dirty="0">
                <a:solidFill>
                  <a:srgbClr val="202938"/>
                </a:solidFill>
                <a:latin typeface="Arial" panose="020B0604020202020204" pitchFamily="34" charset="0"/>
                <a:ea typeface="Arial" panose="020B0604020202020204" pitchFamily="34" charset="-122"/>
                <a:cs typeface="Arial" panose="020B0604020202020204" pitchFamily="34" charset="-120"/>
              </a:rPr>
              <a:t>Searching a paper list manually takes time when a blood group is needed.</a:t>
            </a:r>
            <a:endParaRPr lang="en-US" sz="1000" dirty="0"/>
          </a:p>
        </p:txBody>
      </p:sp>
      <p:sp>
        <p:nvSpPr>
          <p:cNvPr id="14" name="Shape 11"/>
          <p:cNvSpPr/>
          <p:nvPr/>
        </p:nvSpPr>
        <p:spPr>
          <a:xfrm>
            <a:off x="3355848" y="1344168"/>
            <a:ext cx="2670048" cy="1426464"/>
          </a:xfrm>
          <a:prstGeom prst="roundRect">
            <a:avLst>
              <a:gd name="adj" fmla="val 5128"/>
            </a:avLst>
          </a:prstGeom>
          <a:solidFill>
            <a:srgbClr val="EAF2FB"/>
          </a:solidFill>
          <a:ln w="12700">
            <a:solidFill>
              <a:srgbClr val="B8D0EE"/>
            </a:solidFill>
            <a:prstDash val="solid"/>
          </a:ln>
        </p:spPr>
      </p:sp>
      <p:sp>
        <p:nvSpPr>
          <p:cNvPr id="15" name="Shape 12"/>
          <p:cNvSpPr/>
          <p:nvPr/>
        </p:nvSpPr>
        <p:spPr>
          <a:xfrm>
            <a:off x="3355848" y="1435608"/>
            <a:ext cx="50292" cy="1243584"/>
          </a:xfrm>
          <a:prstGeom prst="rect">
            <a:avLst/>
          </a:prstGeom>
          <a:solidFill>
            <a:srgbClr val="214D7B"/>
          </a:solidFill>
          <a:ln w="12700">
            <a:solidFill>
              <a:srgbClr val="214D7B">
                <a:alpha val="0"/>
              </a:srgbClr>
            </a:solidFill>
            <a:prstDash val="solid"/>
          </a:ln>
        </p:spPr>
      </p:sp>
      <p:sp>
        <p:nvSpPr>
          <p:cNvPr id="16" name="Text 13"/>
          <p:cNvSpPr/>
          <p:nvPr/>
        </p:nvSpPr>
        <p:spPr>
          <a:xfrm>
            <a:off x="3502152" y="1453896"/>
            <a:ext cx="2377440" cy="265176"/>
          </a:xfrm>
          <a:prstGeom prst="rect">
            <a:avLst/>
          </a:prstGeom>
          <a:noFill/>
        </p:spPr>
        <p:txBody>
          <a:bodyPr wrap="square" lIns="0" tIns="0" rIns="0" bIns="0" rtlCol="0" anchor="ctr">
            <a:normAutofit/>
          </a:bodyPr>
          <a:lstStyle/>
          <a:p>
            <a:pPr marL="0" indent="0">
              <a:buNone/>
            </a:pPr>
            <a:r>
              <a:rPr lang="en-US" sz="1090" b="1" dirty="0">
                <a:solidFill>
                  <a:srgbClr val="214D7B"/>
                </a:solidFill>
                <a:latin typeface="Arial" panose="020B0604020202020204" pitchFamily="34" charset="0"/>
                <a:ea typeface="Arial" panose="020B0604020202020204" pitchFamily="34" charset="-122"/>
                <a:cs typeface="Arial" panose="020B0604020202020204" pitchFamily="34" charset="-120"/>
              </a:rPr>
              <a:t>02  STOCK ORGANIZATION</a:t>
            </a:r>
            <a:endParaRPr lang="en-US" sz="1090" dirty="0"/>
          </a:p>
        </p:txBody>
      </p:sp>
      <p:sp>
        <p:nvSpPr>
          <p:cNvPr id="17" name="Text 14"/>
          <p:cNvSpPr/>
          <p:nvPr/>
        </p:nvSpPr>
        <p:spPr>
          <a:xfrm>
            <a:off x="3502152" y="1773936"/>
            <a:ext cx="2377440" cy="905256"/>
          </a:xfrm>
          <a:prstGeom prst="rect">
            <a:avLst/>
          </a:prstGeom>
          <a:noFill/>
        </p:spPr>
        <p:txBody>
          <a:bodyPr wrap="square" lIns="0" tIns="0" rIns="0" bIns="0" rtlCol="0" anchor="t">
            <a:normAutofit/>
          </a:bodyPr>
          <a:lstStyle/>
          <a:p>
            <a:pPr marL="0" indent="0">
              <a:buNone/>
            </a:pPr>
            <a:r>
              <a:rPr lang="en-US" sz="1000" dirty="0">
                <a:solidFill>
                  <a:srgbClr val="202938"/>
                </a:solidFill>
                <a:latin typeface="Arial" panose="020B0604020202020204" pitchFamily="34" charset="0"/>
                <a:ea typeface="Arial" panose="020B0604020202020204" pitchFamily="34" charset="-122"/>
                <a:cs typeface="Arial" panose="020B0604020202020204" pitchFamily="34" charset="-120"/>
              </a:rPr>
              <a:t>Units, batch IDs and expiry dates must be stored consistently.</a:t>
            </a:r>
            <a:endParaRPr lang="en-US" sz="1000" dirty="0"/>
          </a:p>
        </p:txBody>
      </p:sp>
      <p:sp>
        <p:nvSpPr>
          <p:cNvPr id="18" name="Shape 15"/>
          <p:cNvSpPr/>
          <p:nvPr/>
        </p:nvSpPr>
        <p:spPr>
          <a:xfrm>
            <a:off x="6144768" y="1344168"/>
            <a:ext cx="2670048" cy="1426464"/>
          </a:xfrm>
          <a:prstGeom prst="roundRect">
            <a:avLst>
              <a:gd name="adj" fmla="val 5128"/>
            </a:avLst>
          </a:prstGeom>
          <a:solidFill>
            <a:srgbClr val="EAF6EF"/>
          </a:solidFill>
          <a:ln w="12700">
            <a:solidFill>
              <a:srgbClr val="B9DCC6"/>
            </a:solidFill>
            <a:prstDash val="solid"/>
          </a:ln>
        </p:spPr>
      </p:sp>
      <p:sp>
        <p:nvSpPr>
          <p:cNvPr id="19" name="Shape 16"/>
          <p:cNvSpPr/>
          <p:nvPr/>
        </p:nvSpPr>
        <p:spPr>
          <a:xfrm>
            <a:off x="6144768" y="1435608"/>
            <a:ext cx="50292" cy="1243584"/>
          </a:xfrm>
          <a:prstGeom prst="rect">
            <a:avLst/>
          </a:prstGeom>
          <a:solidFill>
            <a:srgbClr val="28734B"/>
          </a:solidFill>
          <a:ln w="12700">
            <a:solidFill>
              <a:srgbClr val="28734B">
                <a:alpha val="0"/>
              </a:srgbClr>
            </a:solidFill>
            <a:prstDash val="solid"/>
          </a:ln>
        </p:spPr>
      </p:sp>
      <p:sp>
        <p:nvSpPr>
          <p:cNvPr id="20" name="Text 17"/>
          <p:cNvSpPr/>
          <p:nvPr/>
        </p:nvSpPr>
        <p:spPr>
          <a:xfrm>
            <a:off x="6291072" y="1453896"/>
            <a:ext cx="2377440" cy="265176"/>
          </a:xfrm>
          <a:prstGeom prst="rect">
            <a:avLst/>
          </a:prstGeom>
          <a:noFill/>
        </p:spPr>
        <p:txBody>
          <a:bodyPr wrap="square" lIns="0" tIns="0" rIns="0" bIns="0" rtlCol="0" anchor="ctr">
            <a:normAutofit/>
          </a:bodyPr>
          <a:lstStyle/>
          <a:p>
            <a:pPr marL="0" indent="0">
              <a:buNone/>
            </a:pPr>
            <a:r>
              <a:rPr lang="en-US" sz="1090" b="1" dirty="0">
                <a:solidFill>
                  <a:srgbClr val="28734B"/>
                </a:solidFill>
                <a:latin typeface="Arial" panose="020B0604020202020204" pitchFamily="34" charset="0"/>
                <a:ea typeface="Arial" panose="020B0604020202020204" pitchFamily="34" charset="-122"/>
                <a:cs typeface="Arial" panose="020B0604020202020204" pitchFamily="34" charset="-120"/>
              </a:rPr>
              <a:t>03  EXPIRY &amp; LOW STOCK</a:t>
            </a:r>
            <a:endParaRPr lang="en-US" sz="1090" dirty="0"/>
          </a:p>
        </p:txBody>
      </p:sp>
      <p:sp>
        <p:nvSpPr>
          <p:cNvPr id="21" name="Text 18"/>
          <p:cNvSpPr/>
          <p:nvPr/>
        </p:nvSpPr>
        <p:spPr>
          <a:xfrm>
            <a:off x="6291072" y="1773936"/>
            <a:ext cx="2377440" cy="905256"/>
          </a:xfrm>
          <a:prstGeom prst="rect">
            <a:avLst/>
          </a:prstGeom>
          <a:noFill/>
        </p:spPr>
        <p:txBody>
          <a:bodyPr wrap="square" lIns="0" tIns="0" rIns="0" bIns="0" rtlCol="0" anchor="t">
            <a:normAutofit/>
          </a:bodyPr>
          <a:lstStyle/>
          <a:p>
            <a:pPr marL="0" indent="0">
              <a:buNone/>
            </a:pPr>
            <a:r>
              <a:rPr lang="en-US" sz="1000" dirty="0">
                <a:solidFill>
                  <a:srgbClr val="202938"/>
                </a:solidFill>
                <a:latin typeface="Arial" panose="020B0604020202020204" pitchFamily="34" charset="0"/>
                <a:ea typeface="Arial" panose="020B0604020202020204" pitchFamily="34" charset="-122"/>
                <a:cs typeface="Arial" panose="020B0604020202020204" pitchFamily="34" charset="-120"/>
              </a:rPr>
              <a:t>Staff need visibility into scarce or soon-to-expire batches.</a:t>
            </a:r>
            <a:endParaRPr lang="en-US" sz="1000" dirty="0"/>
          </a:p>
        </p:txBody>
      </p:sp>
      <p:sp>
        <p:nvSpPr>
          <p:cNvPr id="22" name="Shape 19"/>
          <p:cNvSpPr/>
          <p:nvPr/>
        </p:nvSpPr>
        <p:spPr>
          <a:xfrm>
            <a:off x="8933688" y="1344168"/>
            <a:ext cx="2670048" cy="1426464"/>
          </a:xfrm>
          <a:prstGeom prst="roundRect">
            <a:avLst>
              <a:gd name="adj" fmla="val 5128"/>
            </a:avLst>
          </a:prstGeom>
          <a:solidFill>
            <a:srgbClr val="FFF6E2"/>
          </a:solidFill>
          <a:ln w="12700">
            <a:solidFill>
              <a:srgbClr val="E9D29A"/>
            </a:solidFill>
            <a:prstDash val="solid"/>
          </a:ln>
        </p:spPr>
      </p:sp>
      <p:sp>
        <p:nvSpPr>
          <p:cNvPr id="23" name="Shape 20"/>
          <p:cNvSpPr/>
          <p:nvPr/>
        </p:nvSpPr>
        <p:spPr>
          <a:xfrm>
            <a:off x="8933688" y="1435608"/>
            <a:ext cx="50292" cy="1243584"/>
          </a:xfrm>
          <a:prstGeom prst="rect">
            <a:avLst/>
          </a:prstGeom>
          <a:solidFill>
            <a:srgbClr val="7C5A11"/>
          </a:solidFill>
          <a:ln w="12700">
            <a:solidFill>
              <a:srgbClr val="7C5A11">
                <a:alpha val="0"/>
              </a:srgbClr>
            </a:solidFill>
            <a:prstDash val="solid"/>
          </a:ln>
        </p:spPr>
      </p:sp>
      <p:sp>
        <p:nvSpPr>
          <p:cNvPr id="24" name="Text 21"/>
          <p:cNvSpPr/>
          <p:nvPr/>
        </p:nvSpPr>
        <p:spPr>
          <a:xfrm>
            <a:off x="9079992" y="1453896"/>
            <a:ext cx="2377440" cy="265176"/>
          </a:xfrm>
          <a:prstGeom prst="rect">
            <a:avLst/>
          </a:prstGeom>
          <a:noFill/>
        </p:spPr>
        <p:txBody>
          <a:bodyPr wrap="square" lIns="0" tIns="0" rIns="0" bIns="0" rtlCol="0" anchor="ctr">
            <a:normAutofit/>
          </a:bodyPr>
          <a:lstStyle/>
          <a:p>
            <a:pPr marL="0" indent="0">
              <a:buNone/>
            </a:pPr>
            <a:r>
              <a:rPr lang="en-US" sz="1090" b="1" dirty="0">
                <a:solidFill>
                  <a:srgbClr val="7C5A11"/>
                </a:solidFill>
                <a:latin typeface="Arial" panose="020B0604020202020204" pitchFamily="34" charset="0"/>
                <a:ea typeface="Arial" panose="020B0604020202020204" pitchFamily="34" charset="-122"/>
                <a:cs typeface="Arial" panose="020B0604020202020204" pitchFamily="34" charset="-120"/>
              </a:rPr>
              <a:t>04  COMPATIBILITY</a:t>
            </a:r>
            <a:endParaRPr lang="en-US" sz="1090" dirty="0"/>
          </a:p>
        </p:txBody>
      </p:sp>
      <p:sp>
        <p:nvSpPr>
          <p:cNvPr id="25" name="Text 22"/>
          <p:cNvSpPr/>
          <p:nvPr/>
        </p:nvSpPr>
        <p:spPr>
          <a:xfrm>
            <a:off x="9079992" y="1773936"/>
            <a:ext cx="2377440" cy="905256"/>
          </a:xfrm>
          <a:prstGeom prst="rect">
            <a:avLst/>
          </a:prstGeom>
          <a:noFill/>
        </p:spPr>
        <p:txBody>
          <a:bodyPr wrap="square" lIns="0" tIns="0" rIns="0" bIns="0" rtlCol="0" anchor="t">
            <a:normAutofit/>
          </a:bodyPr>
          <a:lstStyle/>
          <a:p>
            <a:pPr marL="0" indent="0">
              <a:buNone/>
            </a:pPr>
            <a:r>
              <a:rPr lang="en-US" sz="1000" dirty="0">
                <a:solidFill>
                  <a:srgbClr val="202938"/>
                </a:solidFill>
                <a:latin typeface="Arial" panose="020B0604020202020204" pitchFamily="34" charset="0"/>
                <a:ea typeface="Arial" panose="020B0604020202020204" pitchFamily="34" charset="-122"/>
                <a:cs typeface="Arial" panose="020B0604020202020204" pitchFamily="34" charset="-120"/>
              </a:rPr>
              <a:t>A recipient request must be checked against available compatible stock.</a:t>
            </a:r>
            <a:endParaRPr lang="en-US" sz="1000" dirty="0"/>
          </a:p>
        </p:txBody>
      </p:sp>
      <p:sp>
        <p:nvSpPr>
          <p:cNvPr id="26" name="Text 23"/>
          <p:cNvSpPr/>
          <p:nvPr/>
        </p:nvSpPr>
        <p:spPr>
          <a:xfrm>
            <a:off x="576072" y="3127248"/>
            <a:ext cx="1828800" cy="219456"/>
          </a:xfrm>
          <a:prstGeom prst="rect">
            <a:avLst/>
          </a:prstGeom>
          <a:noFill/>
        </p:spPr>
        <p:txBody>
          <a:bodyPr wrap="square" lIns="0" tIns="0" rIns="0" bIns="0" rtlCol="0" anchor="ctr">
            <a:normAutofit/>
          </a:bodyPr>
          <a:lstStyle/>
          <a:p>
            <a:pPr marL="0" indent="0">
              <a:buNone/>
            </a:pPr>
            <a:r>
              <a:rPr lang="en-US" sz="1000" b="1" kern="0" spc="60" dirty="0">
                <a:solidFill>
                  <a:srgbClr val="D91F26"/>
                </a:solidFill>
                <a:latin typeface="Arial" panose="020B0604020202020204" pitchFamily="34" charset="0"/>
                <a:ea typeface="Arial" panose="020B0604020202020204" pitchFamily="34" charset="-122"/>
                <a:cs typeface="Arial" panose="020B0604020202020204" pitchFamily="34" charset="-120"/>
              </a:rPr>
              <a:t>PROBLEM → PROGRAM</a:t>
            </a:r>
            <a:endParaRPr lang="en-US" sz="1000" dirty="0"/>
          </a:p>
        </p:txBody>
      </p:sp>
      <p:sp>
        <p:nvSpPr>
          <p:cNvPr id="27" name="Shape 24"/>
          <p:cNvSpPr/>
          <p:nvPr/>
        </p:nvSpPr>
        <p:spPr>
          <a:xfrm>
            <a:off x="713232" y="3611880"/>
            <a:ext cx="1847088" cy="868680"/>
          </a:xfrm>
          <a:prstGeom prst="roundRect">
            <a:avLst>
              <a:gd name="adj" fmla="val 8421"/>
            </a:avLst>
          </a:prstGeom>
          <a:solidFill>
            <a:srgbClr val="FCEDEF"/>
          </a:solidFill>
          <a:ln w="12700">
            <a:solidFill>
              <a:srgbClr val="E8B8BE"/>
            </a:solidFill>
            <a:prstDash val="solid"/>
          </a:ln>
        </p:spPr>
      </p:sp>
      <p:sp>
        <p:nvSpPr>
          <p:cNvPr id="28" name="Text 25"/>
          <p:cNvSpPr/>
          <p:nvPr/>
        </p:nvSpPr>
        <p:spPr>
          <a:xfrm>
            <a:off x="777240" y="3666744"/>
            <a:ext cx="1719072" cy="758952"/>
          </a:xfrm>
          <a:prstGeom prst="rect">
            <a:avLst/>
          </a:prstGeom>
          <a:noFill/>
        </p:spPr>
        <p:txBody>
          <a:bodyPr wrap="square" lIns="0" tIns="0" rIns="0" bIns="0" rtlCol="0" anchor="ctr">
            <a:normAutofit/>
          </a:bodyPr>
          <a:lstStyle/>
          <a:p>
            <a:pPr marL="0" indent="0" algn="ctr">
              <a:buNone/>
            </a:pPr>
            <a:r>
              <a:rPr lang="en-US" sz="1200" b="1" dirty="0">
                <a:solidFill>
                  <a:srgbClr val="172234"/>
                </a:solidFill>
                <a:latin typeface="Arial" panose="020B0604020202020204" pitchFamily="34" charset="0"/>
                <a:ea typeface="Arial" panose="020B0604020202020204" pitchFamily="34" charset="-122"/>
                <a:cs typeface="Arial" panose="020B0604020202020204" pitchFamily="34" charset="-120"/>
              </a:rPr>
              <a:t>Enter</a:t>
            </a:r>
            <a:endParaRPr lang="en-US" sz="1200" dirty="0"/>
          </a:p>
          <a:p>
            <a:pPr marL="0" indent="0" algn="ctr">
              <a:buNone/>
            </a:pPr>
            <a:r>
              <a:rPr lang="en-US" sz="1200" b="1" dirty="0">
                <a:solidFill>
                  <a:srgbClr val="172234"/>
                </a:solidFill>
                <a:latin typeface="Arial" panose="020B0604020202020204" pitchFamily="34" charset="0"/>
                <a:ea typeface="Arial" panose="020B0604020202020204" pitchFamily="34" charset="-122"/>
                <a:cs typeface="Arial" panose="020B0604020202020204" pitchFamily="34" charset="-120"/>
              </a:rPr>
              <a:t>records</a:t>
            </a:r>
            <a:endParaRPr lang="en-US" sz="1200" dirty="0"/>
          </a:p>
        </p:txBody>
      </p:sp>
      <p:sp>
        <p:nvSpPr>
          <p:cNvPr id="29" name="Text 26"/>
          <p:cNvSpPr/>
          <p:nvPr/>
        </p:nvSpPr>
        <p:spPr>
          <a:xfrm>
            <a:off x="2606040" y="3849624"/>
            <a:ext cx="347472" cy="274320"/>
          </a:xfrm>
          <a:prstGeom prst="rect">
            <a:avLst/>
          </a:prstGeom>
          <a:noFill/>
        </p:spPr>
        <p:txBody>
          <a:bodyPr wrap="square" lIns="0" tIns="0" rIns="0" bIns="0" rtlCol="0" anchor="ctr">
            <a:normAutofit/>
          </a:bodyPr>
          <a:lstStyle/>
          <a:p>
            <a:pPr marL="0" indent="0" algn="ctr">
              <a:buNone/>
            </a:pPr>
            <a:r>
              <a:rPr lang="en-US" sz="1800" b="1" dirty="0">
                <a:solidFill>
                  <a:srgbClr val="687487"/>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30" name="Shape 27"/>
          <p:cNvSpPr/>
          <p:nvPr/>
        </p:nvSpPr>
        <p:spPr>
          <a:xfrm>
            <a:off x="2999232" y="3611880"/>
            <a:ext cx="1847088" cy="868680"/>
          </a:xfrm>
          <a:prstGeom prst="roundRect">
            <a:avLst>
              <a:gd name="adj" fmla="val 8421"/>
            </a:avLst>
          </a:prstGeom>
          <a:solidFill>
            <a:srgbClr val="EAF2FB"/>
          </a:solidFill>
          <a:ln w="12700">
            <a:solidFill>
              <a:srgbClr val="B8D0EE"/>
            </a:solidFill>
            <a:prstDash val="solid"/>
          </a:ln>
        </p:spPr>
      </p:sp>
      <p:sp>
        <p:nvSpPr>
          <p:cNvPr id="31" name="Text 28"/>
          <p:cNvSpPr/>
          <p:nvPr/>
        </p:nvSpPr>
        <p:spPr>
          <a:xfrm>
            <a:off x="3063240" y="3666744"/>
            <a:ext cx="1719072" cy="758952"/>
          </a:xfrm>
          <a:prstGeom prst="rect">
            <a:avLst/>
          </a:prstGeom>
          <a:noFill/>
        </p:spPr>
        <p:txBody>
          <a:bodyPr wrap="square" lIns="0" tIns="0" rIns="0" bIns="0" rtlCol="0" anchor="ctr">
            <a:normAutofit/>
          </a:bodyPr>
          <a:lstStyle/>
          <a:p>
            <a:pPr marL="0" indent="0" algn="ctr">
              <a:buNone/>
            </a:pPr>
            <a:r>
              <a:rPr lang="en-US" sz="1200" b="1" dirty="0">
                <a:solidFill>
                  <a:srgbClr val="172234"/>
                </a:solidFill>
                <a:latin typeface="Arial" panose="020B0604020202020204" pitchFamily="34" charset="0"/>
                <a:ea typeface="Arial" panose="020B0604020202020204" pitchFamily="34" charset="-122"/>
                <a:cs typeface="Arial" panose="020B0604020202020204" pitchFamily="34" charset="-120"/>
              </a:rPr>
              <a:t>Validate</a:t>
            </a:r>
            <a:endParaRPr lang="en-US" sz="1200" dirty="0"/>
          </a:p>
          <a:p>
            <a:pPr marL="0" indent="0" algn="ctr">
              <a:buNone/>
            </a:pPr>
            <a:r>
              <a:rPr lang="en-US" sz="1200" b="1" dirty="0">
                <a:solidFill>
                  <a:srgbClr val="172234"/>
                </a:solidFill>
                <a:latin typeface="Arial" panose="020B0604020202020204" pitchFamily="34" charset="0"/>
                <a:ea typeface="Arial" panose="020B0604020202020204" pitchFamily="34" charset="-122"/>
                <a:cs typeface="Arial" panose="020B0604020202020204" pitchFamily="34" charset="-120"/>
              </a:rPr>
              <a:t>input</a:t>
            </a:r>
            <a:endParaRPr lang="en-US" sz="1200" dirty="0"/>
          </a:p>
        </p:txBody>
      </p:sp>
      <p:sp>
        <p:nvSpPr>
          <p:cNvPr id="32" name="Text 29"/>
          <p:cNvSpPr/>
          <p:nvPr/>
        </p:nvSpPr>
        <p:spPr>
          <a:xfrm>
            <a:off x="4892040" y="3849624"/>
            <a:ext cx="347472" cy="274320"/>
          </a:xfrm>
          <a:prstGeom prst="rect">
            <a:avLst/>
          </a:prstGeom>
          <a:noFill/>
        </p:spPr>
        <p:txBody>
          <a:bodyPr wrap="square" lIns="0" tIns="0" rIns="0" bIns="0" rtlCol="0" anchor="ctr">
            <a:normAutofit/>
          </a:bodyPr>
          <a:lstStyle/>
          <a:p>
            <a:pPr marL="0" indent="0" algn="ctr">
              <a:buNone/>
            </a:pPr>
            <a:r>
              <a:rPr lang="en-US" sz="1800" b="1" dirty="0">
                <a:solidFill>
                  <a:srgbClr val="687487"/>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33" name="Shape 30"/>
          <p:cNvSpPr/>
          <p:nvPr/>
        </p:nvSpPr>
        <p:spPr>
          <a:xfrm>
            <a:off x="5285232" y="3611880"/>
            <a:ext cx="1847088" cy="868680"/>
          </a:xfrm>
          <a:prstGeom prst="roundRect">
            <a:avLst>
              <a:gd name="adj" fmla="val 8421"/>
            </a:avLst>
          </a:prstGeom>
          <a:solidFill>
            <a:srgbClr val="EAF6EF"/>
          </a:solidFill>
          <a:ln w="12700">
            <a:solidFill>
              <a:srgbClr val="B9DCC6"/>
            </a:solidFill>
            <a:prstDash val="solid"/>
          </a:ln>
        </p:spPr>
      </p:sp>
      <p:sp>
        <p:nvSpPr>
          <p:cNvPr id="34" name="Text 31"/>
          <p:cNvSpPr/>
          <p:nvPr/>
        </p:nvSpPr>
        <p:spPr>
          <a:xfrm>
            <a:off x="5349240" y="3666744"/>
            <a:ext cx="1719072" cy="758952"/>
          </a:xfrm>
          <a:prstGeom prst="rect">
            <a:avLst/>
          </a:prstGeom>
          <a:noFill/>
        </p:spPr>
        <p:txBody>
          <a:bodyPr wrap="square" lIns="0" tIns="0" rIns="0" bIns="0" rtlCol="0" anchor="ctr">
            <a:normAutofit/>
          </a:bodyPr>
          <a:lstStyle/>
          <a:p>
            <a:pPr marL="0" indent="0" algn="ctr">
              <a:buNone/>
            </a:pPr>
            <a:r>
              <a:rPr lang="en-US" sz="1200" b="1" dirty="0">
                <a:solidFill>
                  <a:srgbClr val="172234"/>
                </a:solidFill>
                <a:latin typeface="Arial" panose="020B0604020202020204" pitchFamily="34" charset="0"/>
                <a:ea typeface="Arial" panose="020B0604020202020204" pitchFamily="34" charset="-122"/>
                <a:cs typeface="Arial" panose="020B0604020202020204" pitchFamily="34" charset="-120"/>
              </a:rPr>
              <a:t>Store</a:t>
            </a:r>
            <a:endParaRPr lang="en-US" sz="1200" dirty="0"/>
          </a:p>
          <a:p>
            <a:pPr marL="0" indent="0" algn="ctr">
              <a:buNone/>
            </a:pPr>
            <a:r>
              <a:rPr lang="en-US" sz="1200" b="1" dirty="0">
                <a:solidFill>
                  <a:srgbClr val="172234"/>
                </a:solidFill>
                <a:latin typeface="Arial" panose="020B0604020202020204" pitchFamily="34" charset="0"/>
                <a:ea typeface="Arial" panose="020B0604020202020204" pitchFamily="34" charset="-122"/>
                <a:cs typeface="Arial" panose="020B0604020202020204" pitchFamily="34" charset="-120"/>
              </a:rPr>
              <a:t>records</a:t>
            </a:r>
            <a:endParaRPr lang="en-US" sz="1200" dirty="0"/>
          </a:p>
        </p:txBody>
      </p:sp>
      <p:sp>
        <p:nvSpPr>
          <p:cNvPr id="35" name="Text 32"/>
          <p:cNvSpPr/>
          <p:nvPr/>
        </p:nvSpPr>
        <p:spPr>
          <a:xfrm>
            <a:off x="7178040" y="3849624"/>
            <a:ext cx="347472" cy="274320"/>
          </a:xfrm>
          <a:prstGeom prst="rect">
            <a:avLst/>
          </a:prstGeom>
          <a:noFill/>
        </p:spPr>
        <p:txBody>
          <a:bodyPr wrap="square" lIns="0" tIns="0" rIns="0" bIns="0" rtlCol="0" anchor="ctr">
            <a:normAutofit/>
          </a:bodyPr>
          <a:lstStyle/>
          <a:p>
            <a:pPr marL="0" indent="0" algn="ctr">
              <a:buNone/>
            </a:pPr>
            <a:r>
              <a:rPr lang="en-US" sz="1800" b="1" dirty="0">
                <a:solidFill>
                  <a:srgbClr val="687487"/>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36" name="Shape 33"/>
          <p:cNvSpPr/>
          <p:nvPr/>
        </p:nvSpPr>
        <p:spPr>
          <a:xfrm>
            <a:off x="7571232" y="3611880"/>
            <a:ext cx="1847088" cy="868680"/>
          </a:xfrm>
          <a:prstGeom prst="roundRect">
            <a:avLst>
              <a:gd name="adj" fmla="val 8421"/>
            </a:avLst>
          </a:prstGeom>
          <a:solidFill>
            <a:srgbClr val="EAF2FB"/>
          </a:solidFill>
          <a:ln w="12700">
            <a:solidFill>
              <a:srgbClr val="B8D0EE"/>
            </a:solidFill>
            <a:prstDash val="solid"/>
          </a:ln>
        </p:spPr>
      </p:sp>
      <p:sp>
        <p:nvSpPr>
          <p:cNvPr id="37" name="Text 34"/>
          <p:cNvSpPr/>
          <p:nvPr/>
        </p:nvSpPr>
        <p:spPr>
          <a:xfrm>
            <a:off x="7635240" y="3666744"/>
            <a:ext cx="1719072" cy="758952"/>
          </a:xfrm>
          <a:prstGeom prst="rect">
            <a:avLst/>
          </a:prstGeom>
          <a:noFill/>
        </p:spPr>
        <p:txBody>
          <a:bodyPr wrap="square" lIns="0" tIns="0" rIns="0" bIns="0" rtlCol="0" anchor="ctr">
            <a:normAutofit/>
          </a:bodyPr>
          <a:lstStyle/>
          <a:p>
            <a:pPr marL="0" indent="0" algn="ctr">
              <a:buNone/>
            </a:pPr>
            <a:r>
              <a:rPr lang="en-US" sz="1200" b="1" dirty="0">
                <a:solidFill>
                  <a:srgbClr val="172234"/>
                </a:solidFill>
                <a:latin typeface="Arial" panose="020B0604020202020204" pitchFamily="34" charset="0"/>
                <a:ea typeface="Arial" panose="020B0604020202020204" pitchFamily="34" charset="-122"/>
                <a:cs typeface="Arial" panose="020B0604020202020204" pitchFamily="34" charset="-120"/>
              </a:rPr>
              <a:t>Search /</a:t>
            </a:r>
            <a:endParaRPr lang="en-US" sz="1200" dirty="0"/>
          </a:p>
          <a:p>
            <a:pPr marL="0" indent="0" algn="ctr">
              <a:buNone/>
            </a:pPr>
            <a:r>
              <a:rPr lang="en-US" sz="1200" b="1" dirty="0">
                <a:solidFill>
                  <a:srgbClr val="172234"/>
                </a:solidFill>
                <a:latin typeface="Arial" panose="020B0604020202020204" pitchFamily="34" charset="0"/>
                <a:ea typeface="Arial" panose="020B0604020202020204" pitchFamily="34" charset="-122"/>
                <a:cs typeface="Arial" panose="020B0604020202020204" pitchFamily="34" charset="-120"/>
              </a:rPr>
              <a:t>match</a:t>
            </a:r>
            <a:endParaRPr lang="en-US" sz="1200" dirty="0"/>
          </a:p>
        </p:txBody>
      </p:sp>
      <p:sp>
        <p:nvSpPr>
          <p:cNvPr id="38" name="Text 35"/>
          <p:cNvSpPr/>
          <p:nvPr/>
        </p:nvSpPr>
        <p:spPr>
          <a:xfrm>
            <a:off x="9464040" y="3849624"/>
            <a:ext cx="347472" cy="274320"/>
          </a:xfrm>
          <a:prstGeom prst="rect">
            <a:avLst/>
          </a:prstGeom>
          <a:noFill/>
        </p:spPr>
        <p:txBody>
          <a:bodyPr wrap="square" lIns="0" tIns="0" rIns="0" bIns="0" rtlCol="0" anchor="ctr">
            <a:normAutofit/>
          </a:bodyPr>
          <a:lstStyle/>
          <a:p>
            <a:pPr marL="0" indent="0" algn="ctr">
              <a:buNone/>
            </a:pPr>
            <a:r>
              <a:rPr lang="en-US" sz="1800" b="1" dirty="0">
                <a:solidFill>
                  <a:srgbClr val="687487"/>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39" name="Shape 36"/>
          <p:cNvSpPr/>
          <p:nvPr/>
        </p:nvSpPr>
        <p:spPr>
          <a:xfrm>
            <a:off x="9857232" y="3611880"/>
            <a:ext cx="1847088" cy="868680"/>
          </a:xfrm>
          <a:prstGeom prst="roundRect">
            <a:avLst>
              <a:gd name="adj" fmla="val 8421"/>
            </a:avLst>
          </a:prstGeom>
          <a:solidFill>
            <a:srgbClr val="EAF6EF"/>
          </a:solidFill>
          <a:ln w="12700">
            <a:solidFill>
              <a:srgbClr val="B9DCC6"/>
            </a:solidFill>
            <a:prstDash val="solid"/>
          </a:ln>
        </p:spPr>
      </p:sp>
      <p:sp>
        <p:nvSpPr>
          <p:cNvPr id="40" name="Text 37"/>
          <p:cNvSpPr/>
          <p:nvPr/>
        </p:nvSpPr>
        <p:spPr>
          <a:xfrm>
            <a:off x="9921240" y="3666744"/>
            <a:ext cx="1719072" cy="758952"/>
          </a:xfrm>
          <a:prstGeom prst="rect">
            <a:avLst/>
          </a:prstGeom>
          <a:noFill/>
        </p:spPr>
        <p:txBody>
          <a:bodyPr wrap="square" lIns="0" tIns="0" rIns="0" bIns="0" rtlCol="0" anchor="ctr">
            <a:normAutofit/>
          </a:bodyPr>
          <a:lstStyle/>
          <a:p>
            <a:pPr marL="0" indent="0" algn="ctr">
              <a:buNone/>
            </a:pPr>
            <a:r>
              <a:rPr lang="en-US" sz="1200" b="1" dirty="0">
                <a:solidFill>
                  <a:srgbClr val="172234"/>
                </a:solidFill>
                <a:latin typeface="Arial" panose="020B0604020202020204" pitchFamily="34" charset="0"/>
                <a:ea typeface="Arial" panose="020B0604020202020204" pitchFamily="34" charset="-122"/>
                <a:cs typeface="Arial" panose="020B0604020202020204" pitchFamily="34" charset="-120"/>
              </a:rPr>
              <a:t>Issue /</a:t>
            </a:r>
            <a:endParaRPr lang="en-US" sz="1200" dirty="0"/>
          </a:p>
          <a:p>
            <a:pPr marL="0" indent="0" algn="ctr">
              <a:buNone/>
            </a:pPr>
            <a:r>
              <a:rPr lang="en-US" sz="1200" b="1" dirty="0">
                <a:solidFill>
                  <a:srgbClr val="172234"/>
                </a:solidFill>
                <a:latin typeface="Arial" panose="020B0604020202020204" pitchFamily="34" charset="0"/>
                <a:ea typeface="Arial" panose="020B0604020202020204" pitchFamily="34" charset="-122"/>
                <a:cs typeface="Arial" panose="020B0604020202020204" pitchFamily="34" charset="-120"/>
              </a:rPr>
              <a:t>report</a:t>
            </a:r>
            <a:endParaRPr lang="en-US" sz="1200" dirty="0"/>
          </a:p>
        </p:txBody>
      </p:sp>
      <p:sp>
        <p:nvSpPr>
          <p:cNvPr id="41" name="Shape 38"/>
          <p:cNvSpPr/>
          <p:nvPr/>
        </p:nvSpPr>
        <p:spPr>
          <a:xfrm>
            <a:off x="566928" y="4928616"/>
            <a:ext cx="11018520" cy="868680"/>
          </a:xfrm>
          <a:prstGeom prst="roundRect">
            <a:avLst>
              <a:gd name="adj" fmla="val 8421"/>
            </a:avLst>
          </a:prstGeom>
          <a:solidFill>
            <a:srgbClr val="F7F9FC"/>
          </a:solidFill>
          <a:ln w="12700">
            <a:solidFill>
              <a:srgbClr val="E1E6ED"/>
            </a:solidFill>
            <a:prstDash val="solid"/>
          </a:ln>
        </p:spPr>
      </p:sp>
      <p:sp>
        <p:nvSpPr>
          <p:cNvPr id="42" name="Text 39"/>
          <p:cNvSpPr/>
          <p:nvPr/>
        </p:nvSpPr>
        <p:spPr>
          <a:xfrm>
            <a:off x="749808" y="5065776"/>
            <a:ext cx="1600200" cy="201168"/>
          </a:xfrm>
          <a:prstGeom prst="rect">
            <a:avLst/>
          </a:prstGeom>
          <a:noFill/>
        </p:spPr>
        <p:txBody>
          <a:bodyPr wrap="square" lIns="0" tIns="0" rIns="0" bIns="0" rtlCol="0" anchor="ctr">
            <a:normAutofit/>
          </a:bodyPr>
          <a:lstStyle/>
          <a:p>
            <a:pPr marL="0" indent="0">
              <a:buNone/>
            </a:pPr>
            <a:r>
              <a:rPr lang="en-US" sz="1000" b="1" dirty="0">
                <a:solidFill>
                  <a:srgbClr val="28734B"/>
                </a:solidFill>
                <a:latin typeface="Arial" panose="020B0604020202020204" pitchFamily="34" charset="0"/>
                <a:ea typeface="Arial" panose="020B0604020202020204" pitchFamily="34" charset="-122"/>
                <a:cs typeface="Arial" panose="020B0604020202020204" pitchFamily="34" charset="-120"/>
              </a:rPr>
              <a:t>PROJECT OBJECTIVE</a:t>
            </a:r>
            <a:endParaRPr lang="en-US" sz="1000" dirty="0"/>
          </a:p>
        </p:txBody>
      </p:sp>
      <p:sp>
        <p:nvSpPr>
          <p:cNvPr id="43" name="Text 40"/>
          <p:cNvSpPr/>
          <p:nvPr/>
        </p:nvSpPr>
        <p:spPr>
          <a:xfrm>
            <a:off x="2240280" y="5020056"/>
            <a:ext cx="9006840" cy="420624"/>
          </a:xfrm>
          <a:prstGeom prst="rect">
            <a:avLst/>
          </a:prstGeom>
          <a:noFill/>
        </p:spPr>
        <p:txBody>
          <a:bodyPr wrap="square" lIns="0" tIns="0" rIns="0" bIns="0" rtlCol="0" anchor="ctr">
            <a:normAutofit/>
          </a:bodyPr>
          <a:lstStyle/>
          <a:p>
            <a:pPr marL="0" indent="0">
              <a:buNone/>
            </a:pPr>
            <a:r>
              <a:rPr lang="en-US" sz="1210" b="1" dirty="0">
                <a:solidFill>
                  <a:srgbClr val="172234"/>
                </a:solidFill>
                <a:latin typeface="Arial" panose="020B0604020202020204" pitchFamily="34" charset="0"/>
                <a:ea typeface="Arial" panose="020B0604020202020204" pitchFamily="34" charset="-122"/>
                <a:cs typeface="Arial" panose="020B0604020202020204" pitchFamily="34" charset="-120"/>
              </a:rPr>
              <a:t>Reduce manual searching and keep donor, batch, expiry and issue records organized in a single, maintainable Java program.</a:t>
            </a:r>
            <a:endParaRPr lang="en-US" sz="1210" dirty="0"/>
          </a:p>
        </p:txBody>
      </p:sp>
      <p:sp>
        <p:nvSpPr>
          <p:cNvPr id="44" name="Text 41"/>
          <p:cNvSpPr/>
          <p:nvPr/>
        </p:nvSpPr>
        <p:spPr>
          <a:xfrm>
            <a:off x="758952" y="5897880"/>
            <a:ext cx="10744200" cy="219456"/>
          </a:xfrm>
          <a:prstGeom prst="rect">
            <a:avLst/>
          </a:prstGeom>
          <a:noFill/>
        </p:spPr>
        <p:txBody>
          <a:bodyPr wrap="square" lIns="0" tIns="0" rIns="0" bIns="0" rtlCol="0" anchor="ctr">
            <a:normAutofit/>
          </a:bodyPr>
          <a:lstStyle/>
          <a:p>
            <a:pPr marL="0" indent="0">
              <a:buNone/>
            </a:pPr>
            <a:r>
              <a:rPr lang="en-US" sz="940" i="1" dirty="0">
                <a:solidFill>
                  <a:srgbClr val="687487"/>
                </a:solidFill>
                <a:latin typeface="Arial" panose="020B0604020202020204" pitchFamily="34" charset="0"/>
                <a:ea typeface="Arial" panose="020B0604020202020204" pitchFamily="34" charset="-122"/>
                <a:cs typeface="Arial" panose="020B0604020202020204" pitchFamily="34" charset="-120"/>
              </a:rPr>
              <a:t>Expected benefit: better organization and faster record lookup in a prototype — not a claim of clinical safety or measured hospital impact.</a:t>
            </a:r>
            <a:endParaRPr lang="en-US" sz="9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1"/>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p:spPr>
        <p:txBody>
          <a:bodyPr wrap="square" lIns="0" tIns="0" rIns="0" bIns="0" rtlCol="0" anchor="ctr">
            <a:normAutofit/>
          </a:bodyPr>
          <a:lstStyle/>
          <a:p>
            <a:pPr marL="0" indent="0">
              <a:buNone/>
            </a:pPr>
            <a:r>
              <a:rPr lang="en-US" sz="2200" b="1" dirty="0">
                <a:solidFill>
                  <a:srgbClr val="172234"/>
                </a:solidFill>
                <a:latin typeface="Arial" panose="020B0604020202020204" pitchFamily="34" charset="0"/>
                <a:ea typeface="Arial" panose="020B0604020202020204" pitchFamily="34" charset="-122"/>
                <a:cs typeface="Arial" panose="020B0604020202020204" pitchFamily="34" charset="-120"/>
              </a:rPr>
              <a:t>CO1 — Java Foundations &amp; IPO</a:t>
            </a:r>
            <a:endParaRPr lang="en-US" sz="2200" dirty="0"/>
          </a:p>
        </p:txBody>
      </p:sp>
      <p:sp>
        <p:nvSpPr>
          <p:cNvPr id="4" name="Text 1"/>
          <p:cNvSpPr/>
          <p:nvPr/>
        </p:nvSpPr>
        <p:spPr>
          <a:xfrm>
            <a:off x="886968" y="640080"/>
            <a:ext cx="10789920" cy="201168"/>
          </a:xfrm>
          <a:prstGeom prst="rect">
            <a:avLst/>
          </a:prstGeom>
          <a:noFill/>
        </p:spPr>
        <p:txBody>
          <a:bodyPr wrap="square" lIns="0" tIns="0" rIns="0" bIns="0" rtlCol="0" anchor="ctr">
            <a:normAutofit/>
          </a:bodyPr>
          <a:lstStyle/>
          <a:p>
            <a:pPr marL="0" indent="0">
              <a:buNone/>
            </a:pPr>
            <a:r>
              <a:rPr lang="en-US" sz="1030" dirty="0">
                <a:solidFill>
                  <a:srgbClr val="687487"/>
                </a:solidFill>
                <a:latin typeface="Arial" panose="020B0604020202020204" pitchFamily="34" charset="0"/>
                <a:ea typeface="Arial" panose="020B0604020202020204" pitchFamily="34" charset="-122"/>
                <a:cs typeface="Arial" panose="020B0604020202020204" pitchFamily="34" charset="-120"/>
              </a:rPr>
              <a:t>CO1: Translate a real-world problem into an algorithm and Java program using data types, expressions and console I/O</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txBody>
          <a:bodyPr/>
          <a:lstStyle/>
          <a:p/>
        </p:txBody>
      </p:sp>
      <p:sp>
        <p:nvSpPr>
          <p:cNvPr id="6" name="Shape 3"/>
          <p:cNvSpPr/>
          <p:nvPr/>
        </p:nvSpPr>
        <p:spPr>
          <a:xfrm>
            <a:off x="411480" y="6446520"/>
            <a:ext cx="11356848" cy="0"/>
          </a:xfrm>
          <a:prstGeom prst="line">
            <a:avLst/>
          </a:prstGeom>
          <a:noFill/>
          <a:ln w="8890">
            <a:solidFill>
              <a:srgbClr val="E8ECF1"/>
            </a:solidFill>
            <a:prstDash val="solid"/>
          </a:ln>
        </p:spPr>
        <p:txBody>
          <a:bodyPr/>
          <a:lstStyle/>
          <a:p/>
        </p:txBody>
      </p:sp>
      <p:sp>
        <p:nvSpPr>
          <p:cNvPr id="7" name="Text 4"/>
          <p:cNvSpPr/>
          <p:nvPr/>
        </p:nvSpPr>
        <p:spPr>
          <a:xfrm>
            <a:off x="438912" y="6501384"/>
            <a:ext cx="1005840" cy="146304"/>
          </a:xfrm>
          <a:prstGeom prst="rect">
            <a:avLst/>
          </a:prstGeom>
          <a:noFill/>
        </p:spPr>
        <p:txBody>
          <a:bodyPr wrap="square" lIns="0" tIns="0" rIns="0" bIns="0" rtlCol="0" anchor="ctr">
            <a:normAutofit/>
          </a:bodyPr>
          <a:lstStyle/>
          <a:p>
            <a:pPr marL="0" indent="0">
              <a:buNone/>
            </a:pPr>
            <a:r>
              <a:rPr lang="en-US" sz="810" dirty="0">
                <a:solidFill>
                  <a:srgbClr val="8A929E"/>
                </a:solidFill>
                <a:latin typeface="Arial" panose="020B0604020202020204" pitchFamily="34" charset="0"/>
                <a:ea typeface="Arial" panose="020B0604020202020204" pitchFamily="34" charset="-122"/>
                <a:cs typeface="Arial" panose="020B0604020202020204" pitchFamily="34" charset="-120"/>
              </a:rPr>
              <a:t>11/10/2026</a:t>
            </a:r>
            <a:endParaRPr lang="en-US" sz="810" dirty="0"/>
          </a:p>
        </p:txBody>
      </p:sp>
      <p:sp>
        <p:nvSpPr>
          <p:cNvPr id="8" name="Text 5"/>
          <p:cNvSpPr/>
          <p:nvPr/>
        </p:nvSpPr>
        <p:spPr>
          <a:xfrm>
            <a:off x="3840480" y="6501384"/>
            <a:ext cx="4526280" cy="146304"/>
          </a:xfrm>
          <a:prstGeom prst="rect">
            <a:avLst/>
          </a:prstGeom>
          <a:noFill/>
        </p:spPr>
        <p:txBody>
          <a:bodyPr wrap="square" lIns="0" tIns="0" rIns="0" bIns="0" rtlCol="0" anchor="ctr">
            <a:normAutofit/>
          </a:bodyPr>
          <a:lstStyle/>
          <a:p>
            <a:pPr marL="0" indent="0" algn="ctr">
              <a:buNone/>
            </a:pPr>
            <a:r>
              <a:rPr lang="en-US" sz="760" dirty="0">
                <a:solidFill>
                  <a:srgbClr val="A0A7B2"/>
                </a:solidFill>
                <a:latin typeface="Arial" panose="020B0604020202020204" pitchFamily="34" charset="0"/>
                <a:ea typeface="Arial" panose="020B0604020202020204" pitchFamily="34" charset="-122"/>
                <a:cs typeface="Arial" panose="020B0604020202020204"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p:spPr>
        <p:txBody>
          <a:bodyPr wrap="square" lIns="0" tIns="0" rIns="0" bIns="0" rtlCol="0" anchor="ctr">
            <a:normAutofit/>
          </a:bodyPr>
          <a:lstStyle/>
          <a:p>
            <a:pPr marL="0" indent="0" algn="r">
              <a:buNone/>
            </a:pPr>
            <a:r>
              <a:rPr lang="en-US" sz="810" dirty="0">
                <a:solidFill>
                  <a:srgbClr val="8A929E"/>
                </a:solidFill>
                <a:latin typeface="Arial" panose="020B0604020202020204" pitchFamily="34" charset="0"/>
                <a:ea typeface="Arial" panose="020B0604020202020204" pitchFamily="34" charset="-122"/>
                <a:cs typeface="Arial" panose="020B0604020202020204" pitchFamily="34" charset="-120"/>
              </a:rPr>
              <a:t>4</a:t>
            </a:r>
            <a:endParaRPr lang="en-US" sz="810" dirty="0"/>
          </a:p>
        </p:txBody>
      </p:sp>
      <p:sp>
        <p:nvSpPr>
          <p:cNvPr id="10" name="Shape 7"/>
          <p:cNvSpPr/>
          <p:nvPr/>
        </p:nvSpPr>
        <p:spPr>
          <a:xfrm>
            <a:off x="566928" y="1298448"/>
            <a:ext cx="5641848" cy="4206240"/>
          </a:xfrm>
          <a:prstGeom prst="roundRect">
            <a:avLst>
              <a:gd name="adj" fmla="val 1739"/>
            </a:avLst>
          </a:prstGeom>
          <a:solidFill>
            <a:srgbClr val="172234"/>
          </a:solidFill>
          <a:ln w="12700">
            <a:solidFill>
              <a:srgbClr val="172234"/>
            </a:solidFill>
            <a:prstDash val="solid"/>
          </a:ln>
        </p:spPr>
        <p:txBody>
          <a:bodyPr/>
          <a:lstStyle/>
          <a:p/>
        </p:txBody>
      </p:sp>
      <p:sp>
        <p:nvSpPr>
          <p:cNvPr id="11" name="Text 8"/>
          <p:cNvSpPr/>
          <p:nvPr/>
        </p:nvSpPr>
        <p:spPr>
          <a:xfrm>
            <a:off x="731520" y="1399032"/>
            <a:ext cx="5312664" cy="201168"/>
          </a:xfrm>
          <a:prstGeom prst="rect">
            <a:avLst/>
          </a:prstGeom>
          <a:noFill/>
        </p:spPr>
        <p:txBody>
          <a:bodyPr wrap="square" lIns="0" tIns="0" rIns="0" bIns="0" rtlCol="0" anchor="ctr">
            <a:normAutofit/>
          </a:bodyPr>
          <a:lstStyle/>
          <a:p>
            <a:pPr marL="0" indent="0">
              <a:buNone/>
            </a:pPr>
            <a:r>
              <a:rPr lang="en-US" sz="900" b="1" kern="0" spc="60" dirty="0">
                <a:solidFill>
                  <a:srgbClr val="F2B8BD"/>
                </a:solidFill>
                <a:latin typeface="Arial" panose="020B0604020202020204" pitchFamily="34" charset="0"/>
                <a:ea typeface="Arial" panose="020B0604020202020204" pitchFamily="34" charset="-122"/>
                <a:cs typeface="Arial" panose="020B0604020202020204" pitchFamily="34" charset="-120"/>
              </a:rPr>
              <a:t>BLOODBANK.JAVA — ADD DONOR EXCERPT</a:t>
            </a:r>
            <a:endParaRPr lang="en-US" sz="900" dirty="0"/>
          </a:p>
        </p:txBody>
      </p:sp>
      <p:sp>
        <p:nvSpPr>
          <p:cNvPr id="12" name="Shape 9"/>
          <p:cNvSpPr/>
          <p:nvPr/>
        </p:nvSpPr>
        <p:spPr>
          <a:xfrm>
            <a:off x="704088" y="1655064"/>
            <a:ext cx="5367528" cy="0"/>
          </a:xfrm>
          <a:prstGeom prst="line">
            <a:avLst/>
          </a:prstGeom>
          <a:noFill/>
          <a:ln w="8890">
            <a:solidFill>
              <a:srgbClr val="42506A"/>
            </a:solidFill>
            <a:prstDash val="solid"/>
          </a:ln>
        </p:spPr>
        <p:txBody>
          <a:bodyPr/>
          <a:lstStyle/>
          <a:p/>
        </p:txBody>
      </p:sp>
      <p:sp>
        <p:nvSpPr>
          <p:cNvPr id="13" name="Text 10"/>
          <p:cNvSpPr/>
          <p:nvPr/>
        </p:nvSpPr>
        <p:spPr>
          <a:xfrm>
            <a:off x="722376" y="1755648"/>
            <a:ext cx="5330952" cy="3657600"/>
          </a:xfrm>
          <a:prstGeom prst="rect">
            <a:avLst/>
          </a:prstGeom>
          <a:noFill/>
        </p:spPr>
        <p:txBody>
          <a:bodyPr wrap="square" lIns="127" tIns="127" rIns="127" bIns="127" rtlCol="0" anchor="t"/>
          <a:lstStyle/>
          <a:p>
            <a:pPr marL="0" indent="0">
              <a:buNone/>
              <a:defRPr sz="1100">
                <a:solidFill>
                  <a:srgbClr val="E6EEF8"/>
                </a:solidFill>
                <a:latin typeface="Consolas" panose="020B0609020204030204"/>
              </a:defRPr>
            </a:pPr>
            <a:r>
              <a:t>System.out.print("Enter donor ID: ");</a:t>
            </a:r>
            <a:endParaRPr lang="en-US" sz="1000" dirty="0"/>
          </a:p>
          <a:p>
            <a:pPr>
              <a:defRPr sz="1100">
                <a:solidFill>
                  <a:srgbClr val="E6EEF8"/>
                </a:solidFill>
                <a:latin typeface="Consolas" panose="020B0609020204030204"/>
              </a:defRPr>
            </a:pPr>
            <a:r>
              <a:t>String id = sc.nextLine();</a:t>
            </a:r>
          </a:p>
          <a:p>
            <a:pPr>
              <a:defRPr sz="1100">
                <a:solidFill>
                  <a:srgbClr val="E6EEF8"/>
                </a:solidFill>
                <a:latin typeface="Consolas" panose="020B0609020204030204"/>
              </a:defRPr>
            </a:pPr>
            <a:r>
              <a:t>System.out.print("Enter donor name: ");</a:t>
            </a:r>
          </a:p>
          <a:p>
            <a:pPr>
              <a:defRPr sz="1100">
                <a:solidFill>
                  <a:srgbClr val="E6EEF8"/>
                </a:solidFill>
                <a:latin typeface="Consolas" panose="020B0609020204030204"/>
              </a:defRPr>
            </a:pPr>
            <a:r>
              <a:t>String name = sc.nextLine();</a:t>
            </a:r>
          </a:p>
          <a:p>
            <a:pPr>
              <a:defRPr sz="1100">
                <a:solidFill>
                  <a:srgbClr val="E6EEF8"/>
                </a:solidFill>
                <a:latin typeface="Consolas" panose="020B0609020204030204"/>
              </a:defRPr>
            </a:pPr>
            <a:r>
              <a:t>System.out.print("Enter age: ");</a:t>
            </a:r>
          </a:p>
          <a:p>
            <a:pPr>
              <a:defRPr sz="1100">
                <a:solidFill>
                  <a:srgbClr val="E6EEF8"/>
                </a:solidFill>
                <a:latin typeface="Consolas" panose="020B0609020204030204"/>
              </a:defRPr>
            </a:pPr>
            <a:r>
              <a:t>int age = sc.nextInt();</a:t>
            </a:r>
          </a:p>
          <a:p>
            <a:pPr>
              <a:defRPr sz="1100">
                <a:solidFill>
                  <a:srgbClr val="E6EEF8"/>
                </a:solidFill>
                <a:latin typeface="Consolas" panose="020B0609020204030204"/>
              </a:defRPr>
            </a:pPr>
            <a:r>
              <a:t>sc.nextLine();</a:t>
            </a:r>
          </a:p>
          <a:p>
            <a:pPr>
              <a:defRPr sz="1100">
                <a:solidFill>
                  <a:srgbClr val="E6EEF8"/>
                </a:solidFill>
                <a:latin typeface="Consolas" panose="020B0609020204030204"/>
              </a:defRPr>
            </a:pPr>
            <a:r>
              <a:t>String group = sc.nextLine().toUpperCase();</a:t>
            </a:r>
          </a:p>
          <a:p>
            <a:pPr>
              <a:defRPr sz="1100">
                <a:solidFill>
                  <a:srgbClr val="E6EEF8"/>
                </a:solidFill>
                <a:latin typeface="Consolas" panose="020B0609020204030204"/>
              </a:defRPr>
            </a:pPr>
            <a:r>
              <a:t>if (findGroup(group) == -1) return;</a:t>
            </a:r>
          </a:p>
          <a:p>
            <a:pPr>
              <a:defRPr sz="1100">
                <a:solidFill>
                  <a:srgbClr val="E6EEF8"/>
                </a:solidFill>
                <a:latin typeface="Consolas" panose="020B0609020204030204"/>
              </a:defRPr>
            </a:pPr>
            <a:r>
              <a:t>donorId[donorCount] = id;</a:t>
            </a:r>
          </a:p>
          <a:p>
            <a:pPr>
              <a:defRPr sz="1100">
                <a:solidFill>
                  <a:srgbClr val="E6EEF8"/>
                </a:solidFill>
                <a:latin typeface="Consolas" panose="020B0609020204030204"/>
              </a:defRPr>
            </a:pPr>
            <a:r>
              <a:t>donorName[donorCount] = name;</a:t>
            </a:r>
          </a:p>
          <a:p>
            <a:pPr>
              <a:defRPr sz="1100">
                <a:solidFill>
                  <a:srgbClr val="E6EEF8"/>
                </a:solidFill>
                <a:latin typeface="Consolas" panose="020B0609020204030204"/>
              </a:defRPr>
            </a:pPr>
            <a:r>
              <a:t>donorAge[donorCount] = age;</a:t>
            </a:r>
          </a:p>
          <a:p>
            <a:pPr>
              <a:defRPr sz="1100">
                <a:solidFill>
                  <a:srgbClr val="E6EEF8"/>
                </a:solidFill>
                <a:latin typeface="Consolas" panose="020B0609020204030204"/>
              </a:defRPr>
            </a:pPr>
            <a:r>
              <a:t>donorGroup[donorCount] = group;</a:t>
            </a:r>
          </a:p>
          <a:p>
            <a:pPr>
              <a:defRPr sz="1100">
                <a:solidFill>
                  <a:srgbClr val="E6EEF8"/>
                </a:solidFill>
                <a:latin typeface="Consolas" panose="020B0609020204030204"/>
              </a:defRPr>
            </a:pPr>
            <a:r>
              <a:t>donorCount++;</a:t>
            </a:r>
          </a:p>
        </p:txBody>
      </p:sp>
      <p:sp>
        <p:nvSpPr>
          <p:cNvPr id="14" name="Text 11"/>
          <p:cNvSpPr/>
          <p:nvPr/>
        </p:nvSpPr>
        <p:spPr>
          <a:xfrm>
            <a:off x="6437376" y="1335024"/>
            <a:ext cx="1920240" cy="201168"/>
          </a:xfrm>
          <a:prstGeom prst="rect">
            <a:avLst/>
          </a:prstGeom>
          <a:noFill/>
        </p:spPr>
        <p:txBody>
          <a:bodyPr wrap="square" lIns="0" tIns="0" rIns="0" bIns="0" rtlCol="0" anchor="ctr">
            <a:normAutofit/>
          </a:bodyPr>
          <a:lstStyle/>
          <a:p>
            <a:pPr marL="0" indent="0">
              <a:buNone/>
            </a:pPr>
            <a:r>
              <a:rPr lang="en-US" sz="970" b="1" kern="0" spc="70" dirty="0">
                <a:solidFill>
                  <a:srgbClr val="687487"/>
                </a:solidFill>
                <a:latin typeface="Arial" panose="020B0604020202020204" pitchFamily="34" charset="0"/>
                <a:ea typeface="Arial" panose="020B0604020202020204" pitchFamily="34" charset="-122"/>
                <a:cs typeface="Arial" panose="020B0604020202020204" pitchFamily="34" charset="-120"/>
              </a:rPr>
              <a:t>DATA TYPES</a:t>
            </a:r>
            <a:endParaRPr lang="en-US" sz="970" dirty="0"/>
          </a:p>
        </p:txBody>
      </p:sp>
      <p:sp>
        <p:nvSpPr>
          <p:cNvPr id="15" name="Shape 12"/>
          <p:cNvSpPr/>
          <p:nvPr/>
        </p:nvSpPr>
        <p:spPr>
          <a:xfrm>
            <a:off x="6400800" y="1627632"/>
            <a:ext cx="2468880" cy="1024128"/>
          </a:xfrm>
          <a:prstGeom prst="roundRect">
            <a:avLst>
              <a:gd name="adj" fmla="val 7143"/>
            </a:avLst>
          </a:prstGeom>
          <a:solidFill>
            <a:srgbClr val="FCEDEF"/>
          </a:solidFill>
          <a:ln w="12700">
            <a:solidFill>
              <a:srgbClr val="E8B8BE"/>
            </a:solidFill>
            <a:prstDash val="solid"/>
          </a:ln>
        </p:spPr>
      </p:sp>
      <p:sp>
        <p:nvSpPr>
          <p:cNvPr id="16" name="Shape 13"/>
          <p:cNvSpPr/>
          <p:nvPr/>
        </p:nvSpPr>
        <p:spPr>
          <a:xfrm>
            <a:off x="6400800" y="1719072"/>
            <a:ext cx="50292" cy="841248"/>
          </a:xfrm>
          <a:prstGeom prst="rect">
            <a:avLst/>
          </a:prstGeom>
          <a:solidFill>
            <a:srgbClr val="B71920"/>
          </a:solidFill>
          <a:ln w="12700">
            <a:solidFill>
              <a:srgbClr val="B71920">
                <a:alpha val="0"/>
              </a:srgbClr>
            </a:solidFill>
            <a:prstDash val="solid"/>
          </a:ln>
        </p:spPr>
      </p:sp>
      <p:sp>
        <p:nvSpPr>
          <p:cNvPr id="17" name="Text 14"/>
          <p:cNvSpPr/>
          <p:nvPr/>
        </p:nvSpPr>
        <p:spPr>
          <a:xfrm>
            <a:off x="6547104" y="1737360"/>
            <a:ext cx="2176272" cy="265176"/>
          </a:xfrm>
          <a:prstGeom prst="rect">
            <a:avLst/>
          </a:prstGeom>
          <a:noFill/>
        </p:spPr>
        <p:txBody>
          <a:bodyPr wrap="square" lIns="0" tIns="0" rIns="0" bIns="0" rtlCol="0" anchor="ctr">
            <a:normAutofit/>
          </a:bodyPr>
          <a:lstStyle/>
          <a:p>
            <a:pPr marL="0" indent="0">
              <a:buNone/>
            </a:pPr>
            <a:r>
              <a:rPr lang="en-US" sz="1250" b="1" dirty="0">
                <a:solidFill>
                  <a:srgbClr val="B71920"/>
                </a:solidFill>
                <a:latin typeface="Arial" panose="020B0604020202020204" pitchFamily="34" charset="0"/>
                <a:ea typeface="Arial" panose="020B0604020202020204" pitchFamily="34" charset="-122"/>
                <a:cs typeface="Arial" panose="020B0604020202020204" pitchFamily="34" charset="-120"/>
              </a:rPr>
              <a:t>int</a:t>
            </a:r>
            <a:endParaRPr lang="en-US" sz="1250" dirty="0"/>
          </a:p>
        </p:txBody>
      </p:sp>
      <p:sp>
        <p:nvSpPr>
          <p:cNvPr id="18" name="Text 15"/>
          <p:cNvSpPr/>
          <p:nvPr/>
        </p:nvSpPr>
        <p:spPr>
          <a:xfrm>
            <a:off x="6547104" y="2057400"/>
            <a:ext cx="2176272" cy="502920"/>
          </a:xfrm>
          <a:prstGeom prst="rect">
            <a:avLst/>
          </a:prstGeom>
          <a:noFill/>
        </p:spPr>
        <p:txBody>
          <a:bodyPr wrap="square" lIns="0" tIns="0" rIns="0" bIns="0" rtlCol="0" anchor="t">
            <a:normAutofit/>
          </a:bodyPr>
          <a:lstStyle/>
          <a:p>
            <a:pPr marL="0" indent="0">
              <a:buNone/>
            </a:pPr>
            <a:r>
              <a:rPr lang="en-US" sz="1050" dirty="0">
                <a:solidFill>
                  <a:srgbClr val="202938"/>
                </a:solidFill>
                <a:latin typeface="Arial" panose="020B0604020202020204" pitchFamily="34" charset="0"/>
                <a:ea typeface="Arial" panose="020B0604020202020204" pitchFamily="34" charset="-122"/>
                <a:cs typeface="Arial" panose="020B0604020202020204" pitchFamily="34" charset="-120"/>
              </a:rPr>
              <a:t>age • units • menu choice</a:t>
            </a:r>
            <a:endParaRPr lang="en-US" sz="1050" dirty="0"/>
          </a:p>
        </p:txBody>
      </p:sp>
      <p:sp>
        <p:nvSpPr>
          <p:cNvPr id="19" name="Shape 16"/>
          <p:cNvSpPr/>
          <p:nvPr/>
        </p:nvSpPr>
        <p:spPr>
          <a:xfrm>
            <a:off x="9043416" y="1627632"/>
            <a:ext cx="2560320" cy="1024128"/>
          </a:xfrm>
          <a:prstGeom prst="roundRect">
            <a:avLst>
              <a:gd name="adj" fmla="val 7143"/>
            </a:avLst>
          </a:prstGeom>
          <a:solidFill>
            <a:srgbClr val="EAF2FB"/>
          </a:solidFill>
          <a:ln w="12700">
            <a:solidFill>
              <a:srgbClr val="B8D0EE"/>
            </a:solidFill>
            <a:prstDash val="solid"/>
          </a:ln>
        </p:spPr>
      </p:sp>
      <p:sp>
        <p:nvSpPr>
          <p:cNvPr id="20" name="Shape 17"/>
          <p:cNvSpPr/>
          <p:nvPr/>
        </p:nvSpPr>
        <p:spPr>
          <a:xfrm>
            <a:off x="9043416" y="1719072"/>
            <a:ext cx="50292" cy="841248"/>
          </a:xfrm>
          <a:prstGeom prst="rect">
            <a:avLst/>
          </a:prstGeom>
          <a:solidFill>
            <a:srgbClr val="214D7B"/>
          </a:solidFill>
          <a:ln w="12700">
            <a:solidFill>
              <a:srgbClr val="214D7B">
                <a:alpha val="0"/>
              </a:srgbClr>
            </a:solidFill>
            <a:prstDash val="solid"/>
          </a:ln>
        </p:spPr>
      </p:sp>
      <p:sp>
        <p:nvSpPr>
          <p:cNvPr id="21" name="Text 18"/>
          <p:cNvSpPr/>
          <p:nvPr/>
        </p:nvSpPr>
        <p:spPr>
          <a:xfrm>
            <a:off x="9189720" y="1737360"/>
            <a:ext cx="2267712" cy="265176"/>
          </a:xfrm>
          <a:prstGeom prst="rect">
            <a:avLst/>
          </a:prstGeom>
          <a:noFill/>
        </p:spPr>
        <p:txBody>
          <a:bodyPr wrap="square" lIns="0" tIns="0" rIns="0" bIns="0" rtlCol="0" anchor="ctr">
            <a:normAutofit/>
          </a:bodyPr>
          <a:lstStyle/>
          <a:p>
            <a:pPr marL="0" indent="0">
              <a:buNone/>
            </a:pPr>
            <a:r>
              <a:rPr lang="en-US" sz="1250" b="1" dirty="0">
                <a:solidFill>
                  <a:srgbClr val="214D7B"/>
                </a:solidFill>
                <a:latin typeface="Arial" panose="020B0604020202020204" pitchFamily="34" charset="0"/>
                <a:ea typeface="Arial" panose="020B0604020202020204" pitchFamily="34" charset="-122"/>
                <a:cs typeface="Arial" panose="020B0604020202020204" pitchFamily="34" charset="-120"/>
              </a:rPr>
              <a:t>String</a:t>
            </a:r>
            <a:endParaRPr lang="en-US" sz="1250" dirty="0"/>
          </a:p>
        </p:txBody>
      </p:sp>
      <p:sp>
        <p:nvSpPr>
          <p:cNvPr id="22" name="Text 19"/>
          <p:cNvSpPr/>
          <p:nvPr/>
        </p:nvSpPr>
        <p:spPr>
          <a:xfrm>
            <a:off x="9189720" y="2057400"/>
            <a:ext cx="2267712" cy="502920"/>
          </a:xfrm>
          <a:prstGeom prst="rect">
            <a:avLst/>
          </a:prstGeom>
          <a:noFill/>
        </p:spPr>
        <p:txBody>
          <a:bodyPr wrap="square" lIns="0" tIns="0" rIns="0" bIns="0" rtlCol="0" anchor="t">
            <a:normAutofit/>
          </a:bodyPr>
          <a:lstStyle/>
          <a:p>
            <a:pPr marL="0" indent="0">
              <a:buNone/>
            </a:pPr>
            <a:r>
              <a:rPr lang="en-US" sz="1050" dirty="0">
                <a:solidFill>
                  <a:srgbClr val="202938"/>
                </a:solidFill>
                <a:latin typeface="Arial" panose="020B0604020202020204" pitchFamily="34" charset="0"/>
                <a:ea typeface="Arial" panose="020B0604020202020204" pitchFamily="34" charset="-122"/>
                <a:cs typeface="Arial" panose="020B0604020202020204" pitchFamily="34" charset="-120"/>
              </a:rPr>
              <a:t>donor ID • name • group • phone</a:t>
            </a:r>
            <a:endParaRPr lang="en-US" sz="1050" dirty="0"/>
          </a:p>
        </p:txBody>
      </p:sp>
      <p:sp>
        <p:nvSpPr>
          <p:cNvPr id="23" name="Text 20"/>
          <p:cNvSpPr/>
          <p:nvPr/>
        </p:nvSpPr>
        <p:spPr>
          <a:xfrm>
            <a:off x="6419088" y="2907792"/>
            <a:ext cx="3017520" cy="219456"/>
          </a:xfrm>
          <a:prstGeom prst="rect">
            <a:avLst/>
          </a:prstGeom>
          <a:noFill/>
        </p:spPr>
        <p:txBody>
          <a:bodyPr wrap="square" lIns="0" tIns="0" rIns="0" bIns="0" rtlCol="0" anchor="ctr">
            <a:normAutofit/>
          </a:bodyPr>
          <a:lstStyle/>
          <a:p>
            <a:pPr marL="0" indent="0">
              <a:buNone/>
            </a:pPr>
            <a:r>
              <a:rPr lang="en-US" sz="1000" b="1" kern="0" spc="50" dirty="0">
                <a:solidFill>
                  <a:srgbClr val="D91F26"/>
                </a:solidFill>
                <a:latin typeface="Arial" panose="020B0604020202020204" pitchFamily="34" charset="0"/>
                <a:ea typeface="Arial" panose="020B0604020202020204" pitchFamily="34" charset="-122"/>
                <a:cs typeface="Arial" panose="020B0604020202020204" pitchFamily="34" charset="-120"/>
              </a:rPr>
              <a:t>INPUT → PROCESS → OUTPUT</a:t>
            </a:r>
            <a:endParaRPr lang="en-US" sz="1000" dirty="0"/>
          </a:p>
        </p:txBody>
      </p:sp>
      <p:sp>
        <p:nvSpPr>
          <p:cNvPr id="24" name="Shape 21"/>
          <p:cNvSpPr/>
          <p:nvPr/>
        </p:nvSpPr>
        <p:spPr>
          <a:xfrm>
            <a:off x="6419088" y="3310128"/>
            <a:ext cx="1490472" cy="1051560"/>
          </a:xfrm>
          <a:prstGeom prst="roundRect">
            <a:avLst>
              <a:gd name="adj" fmla="val 6957"/>
            </a:avLst>
          </a:prstGeom>
          <a:solidFill>
            <a:srgbClr val="FCEDEF"/>
          </a:solidFill>
          <a:ln w="12700">
            <a:solidFill>
              <a:srgbClr val="E8B8BE"/>
            </a:solidFill>
            <a:prstDash val="solid"/>
          </a:ln>
        </p:spPr>
      </p:sp>
      <p:sp>
        <p:nvSpPr>
          <p:cNvPr id="25" name="Text 22"/>
          <p:cNvSpPr/>
          <p:nvPr/>
        </p:nvSpPr>
        <p:spPr>
          <a:xfrm>
            <a:off x="6483096" y="3364992"/>
            <a:ext cx="1362456" cy="941832"/>
          </a:xfrm>
          <a:prstGeom prst="rect">
            <a:avLst/>
          </a:prstGeom>
          <a:noFill/>
        </p:spPr>
        <p:txBody>
          <a:bodyPr wrap="square" lIns="0" tIns="0" rIns="0" bIns="0" rtlCol="0" anchor="ctr">
            <a:normAutofit/>
          </a:bodyPr>
          <a:lstStyle/>
          <a:p>
            <a:pPr marL="0" indent="0" algn="ctr">
              <a:buNone/>
            </a:pPr>
            <a:r>
              <a:rPr lang="en-US" sz="980" b="1" dirty="0">
                <a:solidFill>
                  <a:srgbClr val="172234"/>
                </a:solidFill>
                <a:latin typeface="Arial" panose="020B0604020202020204" pitchFamily="34" charset="0"/>
                <a:ea typeface="Arial" panose="020B0604020202020204" pitchFamily="34" charset="-122"/>
                <a:cs typeface="Arial" panose="020B0604020202020204" pitchFamily="34" charset="-120"/>
              </a:rPr>
              <a:t>INPUT</a:t>
            </a:r>
            <a:endParaRPr lang="en-US" sz="980" dirty="0"/>
          </a:p>
          <a:p>
            <a:pPr marL="0" indent="0" algn="ctr">
              <a:buNone/>
            </a:pPr>
            <a:r>
              <a:rPr lang="en-US" sz="980" b="1" dirty="0">
                <a:solidFill>
                  <a:srgbClr val="172234"/>
                </a:solidFill>
                <a:latin typeface="Arial" panose="020B0604020202020204" pitchFamily="34" charset="0"/>
                <a:ea typeface="Arial" panose="020B0604020202020204" pitchFamily="34" charset="-122"/>
                <a:cs typeface="Arial" panose="020B0604020202020204" pitchFamily="34" charset="-120"/>
              </a:rPr>
              <a:t>Scanner / prompts</a:t>
            </a:r>
            <a:endParaRPr lang="en-US" sz="980" dirty="0"/>
          </a:p>
          <a:p>
            <a:pPr marL="0" indent="0" algn="ctr">
              <a:buNone/>
            </a:pPr>
            <a:r>
              <a:rPr lang="en-US" sz="980" b="1" dirty="0">
                <a:solidFill>
                  <a:srgbClr val="172234"/>
                </a:solidFill>
                <a:latin typeface="Arial" panose="020B0604020202020204" pitchFamily="34" charset="0"/>
                <a:ea typeface="Arial" panose="020B0604020202020204" pitchFamily="34" charset="-122"/>
                <a:cs typeface="Arial" panose="020B0604020202020204" pitchFamily="34" charset="-120"/>
              </a:rPr>
              <a:t>ID, name, age, group</a:t>
            </a:r>
            <a:endParaRPr lang="en-US" sz="980" dirty="0"/>
          </a:p>
        </p:txBody>
      </p:sp>
      <p:sp>
        <p:nvSpPr>
          <p:cNvPr id="26" name="Text 23"/>
          <p:cNvSpPr/>
          <p:nvPr/>
        </p:nvSpPr>
        <p:spPr>
          <a:xfrm>
            <a:off x="7927848" y="3657600"/>
            <a:ext cx="201168" cy="228600"/>
          </a:xfrm>
          <a:prstGeom prst="rect">
            <a:avLst/>
          </a:prstGeom>
          <a:noFill/>
        </p:spPr>
        <p:txBody>
          <a:bodyPr wrap="square" lIns="0" tIns="0" rIns="0" bIns="0" rtlCol="0" anchor="ctr">
            <a:normAutofit/>
          </a:bodyPr>
          <a:lstStyle/>
          <a:p>
            <a:pPr marL="0" indent="0" algn="ctr">
              <a:buNone/>
            </a:pPr>
            <a:r>
              <a:rPr lang="en-US" sz="1600" b="1" dirty="0">
                <a:solidFill>
                  <a:srgbClr val="687487"/>
                </a:solidFill>
                <a:latin typeface="Arial" panose="020B0604020202020204" pitchFamily="34" charset="0"/>
                <a:ea typeface="Arial" panose="020B0604020202020204" pitchFamily="34" charset="-122"/>
                <a:cs typeface="Arial" panose="020B0604020202020204" pitchFamily="34" charset="-120"/>
              </a:rPr>
              <a:t>→</a:t>
            </a:r>
            <a:endParaRPr lang="en-US" sz="1600" dirty="0"/>
          </a:p>
        </p:txBody>
      </p:sp>
      <p:sp>
        <p:nvSpPr>
          <p:cNvPr id="27" name="Shape 24"/>
          <p:cNvSpPr/>
          <p:nvPr/>
        </p:nvSpPr>
        <p:spPr>
          <a:xfrm>
            <a:off x="8138160" y="3310128"/>
            <a:ext cx="1490472" cy="1051560"/>
          </a:xfrm>
          <a:prstGeom prst="roundRect">
            <a:avLst>
              <a:gd name="adj" fmla="val 6957"/>
            </a:avLst>
          </a:prstGeom>
          <a:solidFill>
            <a:srgbClr val="EAF2FB"/>
          </a:solidFill>
          <a:ln w="12700">
            <a:solidFill>
              <a:srgbClr val="B8D0EE"/>
            </a:solidFill>
            <a:prstDash val="solid"/>
          </a:ln>
        </p:spPr>
      </p:sp>
      <p:sp>
        <p:nvSpPr>
          <p:cNvPr id="28" name="Text 25"/>
          <p:cNvSpPr/>
          <p:nvPr/>
        </p:nvSpPr>
        <p:spPr>
          <a:xfrm>
            <a:off x="8202168" y="3364992"/>
            <a:ext cx="1362456" cy="941832"/>
          </a:xfrm>
          <a:prstGeom prst="rect">
            <a:avLst/>
          </a:prstGeom>
          <a:noFill/>
        </p:spPr>
        <p:txBody>
          <a:bodyPr wrap="square" lIns="0" tIns="0" rIns="0" bIns="0" rtlCol="0" anchor="ctr">
            <a:normAutofit/>
          </a:bodyPr>
          <a:lstStyle/>
          <a:p>
            <a:pPr marL="0" indent="0" algn="ctr">
              <a:buNone/>
            </a:pPr>
            <a:r>
              <a:rPr lang="en-US" sz="980" b="1" dirty="0">
                <a:solidFill>
                  <a:srgbClr val="172234"/>
                </a:solidFill>
                <a:latin typeface="Arial" panose="020B0604020202020204" pitchFamily="34" charset="0"/>
                <a:ea typeface="Arial" panose="020B0604020202020204" pitchFamily="34" charset="-122"/>
                <a:cs typeface="Arial" panose="020B0604020202020204" pitchFamily="34" charset="-120"/>
              </a:rPr>
              <a:t>PROCESS</a:t>
            </a:r>
            <a:endParaRPr lang="en-US" sz="980" dirty="0"/>
          </a:p>
          <a:p>
            <a:pPr marL="0" indent="0" algn="ctr">
              <a:buNone/>
            </a:pPr>
            <a:r>
              <a:rPr lang="en-US" sz="980" b="1" dirty="0">
                <a:solidFill>
                  <a:srgbClr val="172234"/>
                </a:solidFill>
                <a:latin typeface="Arial" panose="020B0604020202020204" pitchFamily="34" charset="0"/>
                <a:ea typeface="Arial" panose="020B0604020202020204" pitchFamily="34" charset="-122"/>
                <a:cs typeface="Arial" panose="020B0604020202020204" pitchFamily="34" charset="-120"/>
              </a:rPr>
              <a:t>Validate and build</a:t>
            </a:r>
            <a:endParaRPr lang="en-US" sz="980" dirty="0"/>
          </a:p>
          <a:p>
            <a:pPr marL="0" indent="0" algn="ctr">
              <a:buNone/>
            </a:pPr>
            <a:r>
              <a:rPr lang="en-US" sz="980" b="1" dirty="0">
                <a:solidFill>
                  <a:srgbClr val="172234"/>
                </a:solidFill>
                <a:latin typeface="Arial" panose="020B0604020202020204" pitchFamily="34" charset="0"/>
                <a:ea typeface="Arial" panose="020B0604020202020204" pitchFamily="34" charset="-122"/>
                <a:cs typeface="Arial" panose="020B0604020202020204" pitchFamily="34" charset="-120"/>
              </a:rPr>
              <a:t>a Donor object</a:t>
            </a:r>
            <a:endParaRPr lang="en-US" sz="980" dirty="0"/>
          </a:p>
        </p:txBody>
      </p:sp>
      <p:sp>
        <p:nvSpPr>
          <p:cNvPr id="29" name="Text 26"/>
          <p:cNvSpPr/>
          <p:nvPr/>
        </p:nvSpPr>
        <p:spPr>
          <a:xfrm>
            <a:off x="9646920" y="3657600"/>
            <a:ext cx="201168" cy="228600"/>
          </a:xfrm>
          <a:prstGeom prst="rect">
            <a:avLst/>
          </a:prstGeom>
          <a:noFill/>
        </p:spPr>
        <p:txBody>
          <a:bodyPr wrap="square" lIns="0" tIns="0" rIns="0" bIns="0" rtlCol="0" anchor="ctr">
            <a:normAutofit/>
          </a:bodyPr>
          <a:lstStyle/>
          <a:p>
            <a:pPr marL="0" indent="0" algn="ctr">
              <a:buNone/>
            </a:pPr>
            <a:r>
              <a:rPr lang="en-US" sz="1600" b="1" dirty="0">
                <a:solidFill>
                  <a:srgbClr val="687487"/>
                </a:solidFill>
                <a:latin typeface="Arial" panose="020B0604020202020204" pitchFamily="34" charset="0"/>
                <a:ea typeface="Arial" panose="020B0604020202020204" pitchFamily="34" charset="-122"/>
                <a:cs typeface="Arial" panose="020B0604020202020204" pitchFamily="34" charset="-120"/>
              </a:rPr>
              <a:t>→</a:t>
            </a:r>
            <a:endParaRPr lang="en-US" sz="1600" dirty="0"/>
          </a:p>
        </p:txBody>
      </p:sp>
      <p:sp>
        <p:nvSpPr>
          <p:cNvPr id="30" name="Shape 27"/>
          <p:cNvSpPr/>
          <p:nvPr/>
        </p:nvSpPr>
        <p:spPr>
          <a:xfrm>
            <a:off x="9857232" y="3310128"/>
            <a:ext cx="1490472" cy="1051560"/>
          </a:xfrm>
          <a:prstGeom prst="roundRect">
            <a:avLst>
              <a:gd name="adj" fmla="val 6957"/>
            </a:avLst>
          </a:prstGeom>
          <a:solidFill>
            <a:srgbClr val="EAF6EF"/>
          </a:solidFill>
          <a:ln w="12700">
            <a:solidFill>
              <a:srgbClr val="B9DCC6"/>
            </a:solidFill>
            <a:prstDash val="solid"/>
          </a:ln>
        </p:spPr>
      </p:sp>
      <p:sp>
        <p:nvSpPr>
          <p:cNvPr id="31" name="Text 28"/>
          <p:cNvSpPr/>
          <p:nvPr/>
        </p:nvSpPr>
        <p:spPr>
          <a:xfrm>
            <a:off x="9921240" y="3364992"/>
            <a:ext cx="1362456" cy="941832"/>
          </a:xfrm>
          <a:prstGeom prst="rect">
            <a:avLst/>
          </a:prstGeom>
          <a:noFill/>
        </p:spPr>
        <p:txBody>
          <a:bodyPr wrap="square" lIns="0" tIns="0" rIns="0" bIns="0" rtlCol="0" anchor="ctr">
            <a:normAutofit/>
          </a:bodyPr>
          <a:lstStyle/>
          <a:p>
            <a:pPr marL="0" indent="0" algn="ctr">
              <a:buNone/>
            </a:pPr>
            <a:r>
              <a:rPr lang="en-US" sz="980" b="1" dirty="0">
                <a:solidFill>
                  <a:srgbClr val="172234"/>
                </a:solidFill>
                <a:latin typeface="Arial" panose="020B0604020202020204" pitchFamily="34" charset="0"/>
                <a:ea typeface="Arial" panose="020B0604020202020204" pitchFamily="34" charset="-122"/>
                <a:cs typeface="Arial" panose="020B0604020202020204" pitchFamily="34" charset="-120"/>
              </a:rPr>
              <a:t>OUTPUT</a:t>
            </a:r>
            <a:endParaRPr lang="en-US" sz="980" dirty="0"/>
          </a:p>
          <a:p>
            <a:pPr marL="0" indent="0" algn="ctr">
              <a:buNone/>
            </a:pPr>
            <a:r>
              <a:rPr lang="en-US" sz="980" b="1" dirty="0">
                <a:solidFill>
                  <a:srgbClr val="172234"/>
                </a:solidFill>
                <a:latin typeface="Arial" panose="020B0604020202020204" pitchFamily="34" charset="0"/>
                <a:ea typeface="Arial" panose="020B0604020202020204" pitchFamily="34" charset="-122"/>
                <a:cs typeface="Arial" panose="020B0604020202020204" pitchFamily="34" charset="-120"/>
              </a:rPr>
              <a:t>Success / eligibility</a:t>
            </a:r>
            <a:endParaRPr lang="en-US" sz="980" dirty="0"/>
          </a:p>
          <a:p>
            <a:pPr marL="0" indent="0" algn="ctr">
              <a:buNone/>
            </a:pPr>
            <a:r>
              <a:rPr lang="en-US" sz="980" b="1" dirty="0">
                <a:solidFill>
                  <a:srgbClr val="172234"/>
                </a:solidFill>
                <a:latin typeface="Arial" panose="020B0604020202020204" pitchFamily="34" charset="0"/>
                <a:ea typeface="Arial" panose="020B0604020202020204" pitchFamily="34" charset="-122"/>
                <a:cs typeface="Arial" panose="020B0604020202020204" pitchFamily="34" charset="-120"/>
              </a:rPr>
              <a:t>message</a:t>
            </a:r>
            <a:endParaRPr lang="en-US" sz="980" dirty="0"/>
          </a:p>
        </p:txBody>
      </p:sp>
      <p:sp>
        <p:nvSpPr>
          <p:cNvPr id="32" name="Shape 29"/>
          <p:cNvSpPr/>
          <p:nvPr/>
        </p:nvSpPr>
        <p:spPr>
          <a:xfrm>
            <a:off x="6428232" y="4681728"/>
            <a:ext cx="5148072" cy="822960"/>
          </a:xfrm>
          <a:prstGeom prst="roundRect">
            <a:avLst>
              <a:gd name="adj" fmla="val 8889"/>
            </a:avLst>
          </a:prstGeom>
          <a:solidFill>
            <a:srgbClr val="F7F9FC"/>
          </a:solidFill>
          <a:ln w="12700">
            <a:solidFill>
              <a:srgbClr val="E1E6ED"/>
            </a:solidFill>
            <a:prstDash val="solid"/>
          </a:ln>
        </p:spPr>
      </p:sp>
      <p:sp>
        <p:nvSpPr>
          <p:cNvPr id="33" name="Text 30"/>
          <p:cNvSpPr/>
          <p:nvPr/>
        </p:nvSpPr>
        <p:spPr>
          <a:xfrm>
            <a:off x="6537960" y="4736592"/>
            <a:ext cx="4928616" cy="713232"/>
          </a:xfrm>
          <a:prstGeom prst="rect">
            <a:avLst/>
          </a:prstGeom>
          <a:noFill/>
        </p:spPr>
        <p:txBody>
          <a:bodyPr wrap="square" lIns="0" tIns="0" rIns="0" bIns="0" rtlCol="0" anchor="ctr">
            <a:normAutofit/>
          </a:bodyPr>
          <a:lstStyle/>
          <a:p>
            <a:pPr marL="0" indent="0">
              <a:buNone/>
            </a:pPr>
            <a:r>
              <a:rPr lang="en-US" sz="1020" dirty="0">
                <a:solidFill>
                  <a:srgbClr val="687487"/>
                </a:solidFill>
                <a:latin typeface="Arial" panose="020B0604020202020204" pitchFamily="34" charset="0"/>
                <a:ea typeface="Arial" panose="020B0604020202020204" pitchFamily="34" charset="-122"/>
                <a:cs typeface="Arial" panose="020B0604020202020204" pitchFamily="34" charset="-120"/>
              </a:rPr>
              <a:t>CO1 concepts: class structure, variables, String/int data types, Scanner-based console interaction and sequential processing.</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1"/>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p:spPr>
        <p:txBody>
          <a:bodyPr wrap="square" lIns="0" tIns="0" rIns="0" bIns="0" rtlCol="0" anchor="ctr">
            <a:normAutofit/>
          </a:bodyPr>
          <a:lstStyle/>
          <a:p>
            <a:pPr marL="0" indent="0">
              <a:buNone/>
            </a:pPr>
            <a:r>
              <a:rPr lang="en-US" sz="2200" b="1" dirty="0">
                <a:solidFill>
                  <a:srgbClr val="172234"/>
                </a:solidFill>
                <a:latin typeface="Arial" panose="020B0604020202020204" pitchFamily="34" charset="0"/>
                <a:ea typeface="Arial" panose="020B0604020202020204" pitchFamily="34" charset="-122"/>
                <a:cs typeface="Arial" panose="020B0604020202020204" pitchFamily="34" charset="-120"/>
              </a:rPr>
              <a:t>CO2 — Selection &amp; Iteration</a:t>
            </a:r>
            <a:endParaRPr lang="en-US" sz="2200" dirty="0"/>
          </a:p>
        </p:txBody>
      </p:sp>
      <p:sp>
        <p:nvSpPr>
          <p:cNvPr id="4" name="Text 1"/>
          <p:cNvSpPr/>
          <p:nvPr/>
        </p:nvSpPr>
        <p:spPr>
          <a:xfrm>
            <a:off x="886968" y="640080"/>
            <a:ext cx="10789920" cy="201168"/>
          </a:xfrm>
          <a:prstGeom prst="rect">
            <a:avLst/>
          </a:prstGeom>
          <a:noFill/>
        </p:spPr>
        <p:txBody>
          <a:bodyPr wrap="square" lIns="0" tIns="0" rIns="0" bIns="0" rtlCol="0" anchor="ctr">
            <a:normAutofit/>
          </a:bodyPr>
          <a:lstStyle/>
          <a:p>
            <a:pPr marL="0" indent="0">
              <a:buNone/>
            </a:pPr>
            <a:r>
              <a:rPr lang="en-US" sz="1030" dirty="0">
                <a:solidFill>
                  <a:srgbClr val="687487"/>
                </a:solidFill>
                <a:latin typeface="Arial" panose="020B0604020202020204" pitchFamily="34" charset="0"/>
                <a:ea typeface="Arial" panose="020B0604020202020204" pitchFamily="34" charset="-122"/>
                <a:cs typeface="Arial" panose="020B0604020202020204" pitchFamily="34" charset="-120"/>
              </a:rPr>
              <a:t>CO2: Design control flow using selection and iteration, with clear decisions and termination</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p:spPr>
        <p:txBody>
          <a:bodyPr wrap="square" lIns="0" tIns="0" rIns="0" bIns="0" rtlCol="0" anchor="ctr">
            <a:normAutofit/>
          </a:bodyPr>
          <a:lstStyle/>
          <a:p>
            <a:pPr marL="0" indent="0">
              <a:buNone/>
            </a:pPr>
            <a:r>
              <a:rPr lang="en-US" sz="810" dirty="0">
                <a:solidFill>
                  <a:srgbClr val="8A929E"/>
                </a:solidFill>
                <a:latin typeface="Arial" panose="020B0604020202020204" pitchFamily="34" charset="0"/>
                <a:ea typeface="Arial" panose="020B0604020202020204" pitchFamily="34" charset="-122"/>
                <a:cs typeface="Arial" panose="020B0604020202020204" pitchFamily="34" charset="-120"/>
              </a:rPr>
              <a:t>11/10/2026</a:t>
            </a:r>
            <a:endParaRPr lang="en-US" sz="810" dirty="0"/>
          </a:p>
        </p:txBody>
      </p:sp>
      <p:sp>
        <p:nvSpPr>
          <p:cNvPr id="8" name="Text 5"/>
          <p:cNvSpPr/>
          <p:nvPr/>
        </p:nvSpPr>
        <p:spPr>
          <a:xfrm>
            <a:off x="3840480" y="6501384"/>
            <a:ext cx="4526280" cy="146304"/>
          </a:xfrm>
          <a:prstGeom prst="rect">
            <a:avLst/>
          </a:prstGeom>
          <a:noFill/>
        </p:spPr>
        <p:txBody>
          <a:bodyPr wrap="square" lIns="0" tIns="0" rIns="0" bIns="0" rtlCol="0" anchor="ctr">
            <a:normAutofit/>
          </a:bodyPr>
          <a:lstStyle/>
          <a:p>
            <a:pPr marL="0" indent="0" algn="ctr">
              <a:buNone/>
            </a:pPr>
            <a:r>
              <a:rPr lang="en-US" sz="760" dirty="0">
                <a:solidFill>
                  <a:srgbClr val="A0A7B2"/>
                </a:solidFill>
                <a:latin typeface="Arial" panose="020B0604020202020204" pitchFamily="34" charset="0"/>
                <a:ea typeface="Arial" panose="020B0604020202020204" pitchFamily="34" charset="-122"/>
                <a:cs typeface="Arial" panose="020B0604020202020204"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p:spPr>
        <p:txBody>
          <a:bodyPr wrap="square" lIns="0" tIns="0" rIns="0" bIns="0" rtlCol="0" anchor="ctr">
            <a:normAutofit/>
          </a:bodyPr>
          <a:lstStyle/>
          <a:p>
            <a:pPr marL="0" indent="0" algn="r">
              <a:buNone/>
            </a:pPr>
            <a:r>
              <a:rPr lang="en-US" sz="810" dirty="0">
                <a:solidFill>
                  <a:srgbClr val="8A929E"/>
                </a:solidFill>
                <a:latin typeface="Arial" panose="020B0604020202020204" pitchFamily="34" charset="0"/>
                <a:ea typeface="Arial" panose="020B0604020202020204" pitchFamily="34" charset="-122"/>
                <a:cs typeface="Arial" panose="020B0604020202020204" pitchFamily="34" charset="-120"/>
              </a:rPr>
              <a:t>5</a:t>
            </a:r>
            <a:endParaRPr lang="en-US" sz="810" dirty="0"/>
          </a:p>
        </p:txBody>
      </p:sp>
      <p:sp>
        <p:nvSpPr>
          <p:cNvPr id="10" name="Shape 7"/>
          <p:cNvSpPr/>
          <p:nvPr/>
        </p:nvSpPr>
        <p:spPr>
          <a:xfrm>
            <a:off x="566928" y="1307592"/>
            <a:ext cx="5779008" cy="3310128"/>
          </a:xfrm>
          <a:prstGeom prst="roundRect">
            <a:avLst>
              <a:gd name="adj" fmla="val 2210"/>
            </a:avLst>
          </a:prstGeom>
          <a:solidFill>
            <a:srgbClr val="172234"/>
          </a:solidFill>
          <a:ln w="12700">
            <a:solidFill>
              <a:srgbClr val="172234"/>
            </a:solidFill>
            <a:prstDash val="solid"/>
          </a:ln>
        </p:spPr>
      </p:sp>
      <p:sp>
        <p:nvSpPr>
          <p:cNvPr id="11" name="Text 8"/>
          <p:cNvSpPr/>
          <p:nvPr/>
        </p:nvSpPr>
        <p:spPr>
          <a:xfrm>
            <a:off x="731520" y="1408176"/>
            <a:ext cx="5449824"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00" b="1">
                <a:solidFill>
                  <a:srgbClr val="F2B8BD"/>
                </a:solidFill>
                <a:latin typeface="Arial" panose="020B0604020202020204"/>
              </a:rPr>
              <a:t>MENU LOOP AND SWITCH — BLOODBANK.JAVA (OMITTED CASES SHOWN AS ...)</a:t>
            </a:r>
            <a:endParaRPr lang="en-US" sz="900" dirty="0"/>
          </a:p>
        </p:txBody>
      </p:sp>
      <p:sp>
        <p:nvSpPr>
          <p:cNvPr id="12" name="Shape 9"/>
          <p:cNvSpPr/>
          <p:nvPr/>
        </p:nvSpPr>
        <p:spPr>
          <a:xfrm>
            <a:off x="704088" y="1664208"/>
            <a:ext cx="5504688" cy="0"/>
          </a:xfrm>
          <a:prstGeom prst="line">
            <a:avLst/>
          </a:prstGeom>
          <a:noFill/>
          <a:ln w="8890">
            <a:solidFill>
              <a:srgbClr val="42506A"/>
            </a:solidFill>
            <a:prstDash val="solid"/>
          </a:ln>
        </p:spPr>
      </p:sp>
      <p:sp>
        <p:nvSpPr>
          <p:cNvPr id="13" name="Text 10"/>
          <p:cNvSpPr/>
          <p:nvPr/>
        </p:nvSpPr>
        <p:spPr>
          <a:xfrm>
            <a:off x="722376" y="1764792"/>
            <a:ext cx="5468112" cy="2761488"/>
          </a:xfrm>
          <a:prstGeom prst="rect">
            <a:avLst/>
          </a:prstGeom>
          <a:noFill/>
        </p:spPr>
        <p:txBody>
          <a:bodyPr wrap="square" lIns="127" tIns="127" rIns="127" bIns="127" rtlCol="0" anchor="t"/>
          <a:lstStyle/>
          <a:p>
            <a:pPr marL="0" indent="0" algn="l">
              <a:lnSpc>
                <a:spcPct val="100000"/>
              </a:lnSpc>
              <a:spcBef>
                <a:spcPts val="0"/>
              </a:spcBef>
              <a:spcAft>
                <a:spcPts val="0"/>
              </a:spcAft>
              <a:buNone/>
            </a:pPr>
            <a:r>
              <a:rPr sz="1140">
                <a:solidFill>
                  <a:srgbClr val="EAF0F8"/>
                </a:solidFill>
                <a:latin typeface="Liberation Mono"/>
              </a:rPr>
              <a:t>do {</a:t>
            </a:r>
            <a:endParaRPr lang="en-US" sz="1000" dirty="0"/>
          </a:p>
          <a:p>
            <a:pPr algn="l">
              <a:lnSpc>
                <a:spcPct val="100000"/>
              </a:lnSpc>
              <a:spcBef>
                <a:spcPts val="0"/>
              </a:spcBef>
              <a:spcAft>
                <a:spcPts val="0"/>
              </a:spcAft>
            </a:pPr>
            <a:r>
              <a:rPr sz="1140">
                <a:solidFill>
                  <a:srgbClr val="EAF0F8"/>
                </a:solidFill>
                <a:latin typeface="Liberation Mono"/>
              </a:rPr>
              <a:t>    System.out.println("1. Add Donor");</a:t>
            </a:r>
            <a:endParaRPr sz="1140">
              <a:solidFill>
                <a:srgbClr val="EAF0F8"/>
              </a:solidFill>
              <a:latin typeface="Liberation Mono"/>
            </a:endParaRPr>
          </a:p>
          <a:p>
            <a:pPr algn="l">
              <a:lnSpc>
                <a:spcPct val="100000"/>
              </a:lnSpc>
              <a:spcBef>
                <a:spcPts val="0"/>
              </a:spcBef>
              <a:spcAft>
                <a:spcPts val="0"/>
              </a:spcAft>
            </a:pPr>
            <a:r>
              <a:rPr sz="1140">
                <a:solidFill>
                  <a:srgbClr val="EAF0F8"/>
                </a:solidFill>
                <a:latin typeface="Liberation Mono"/>
              </a:rPr>
              <a:t>    ...</a:t>
            </a:r>
            <a:endParaRPr sz="1140">
              <a:solidFill>
                <a:srgbClr val="EAF0F8"/>
              </a:solidFill>
              <a:latin typeface="Liberation Mono"/>
            </a:endParaRPr>
          </a:p>
          <a:p>
            <a:pPr algn="l">
              <a:lnSpc>
                <a:spcPct val="100000"/>
              </a:lnSpc>
              <a:spcBef>
                <a:spcPts val="0"/>
              </a:spcBef>
              <a:spcAft>
                <a:spcPts val="0"/>
              </a:spcAft>
            </a:pPr>
            <a:r>
              <a:rPr sz="1140">
                <a:solidFill>
                  <a:srgbClr val="EAF0F8"/>
                </a:solidFill>
                <a:latin typeface="Liberation Mono"/>
              </a:rPr>
              <a:t>    System.out.println("8. Save and Exit");</a:t>
            </a:r>
            <a:endParaRPr sz="1140">
              <a:solidFill>
                <a:srgbClr val="EAF0F8"/>
              </a:solidFill>
              <a:latin typeface="Liberation Mono"/>
            </a:endParaRPr>
          </a:p>
          <a:p>
            <a:pPr algn="l">
              <a:lnSpc>
                <a:spcPct val="100000"/>
              </a:lnSpc>
              <a:spcBef>
                <a:spcPts val="0"/>
              </a:spcBef>
              <a:spcAft>
                <a:spcPts val="0"/>
              </a:spcAft>
            </a:pPr>
            <a:r>
              <a:rPr sz="1140">
                <a:solidFill>
                  <a:srgbClr val="EAF0F8"/>
                </a:solidFill>
                <a:latin typeface="Liberation Mono"/>
              </a:rPr>
              <a:t>    ...</a:t>
            </a:r>
            <a:endParaRPr sz="1140">
              <a:solidFill>
                <a:srgbClr val="EAF0F8"/>
              </a:solidFill>
              <a:latin typeface="Liberation Mono"/>
            </a:endParaRPr>
          </a:p>
          <a:p>
            <a:pPr algn="l">
              <a:lnSpc>
                <a:spcPct val="100000"/>
              </a:lnSpc>
              <a:spcBef>
                <a:spcPts val="0"/>
              </a:spcBef>
              <a:spcAft>
                <a:spcPts val="0"/>
              </a:spcAft>
            </a:pPr>
            <a:r>
              <a:rPr sz="1140">
                <a:solidFill>
                  <a:srgbClr val="EAF0F8"/>
                </a:solidFill>
                <a:latin typeface="Liberation Mono"/>
              </a:rPr>
              <a:t>    choice = sc.nextInt();</a:t>
            </a:r>
            <a:endParaRPr sz="1140">
              <a:solidFill>
                <a:srgbClr val="EAF0F8"/>
              </a:solidFill>
              <a:latin typeface="Liberation Mono"/>
            </a:endParaRPr>
          </a:p>
          <a:p>
            <a:pPr algn="l">
              <a:lnSpc>
                <a:spcPct val="100000"/>
              </a:lnSpc>
              <a:spcBef>
                <a:spcPts val="0"/>
              </a:spcBef>
              <a:spcAft>
                <a:spcPts val="0"/>
              </a:spcAft>
            </a:pPr>
            <a:r>
              <a:rPr sz="1140">
                <a:solidFill>
                  <a:srgbClr val="EAF0F8"/>
                </a:solidFill>
                <a:latin typeface="Liberation Mono"/>
              </a:rPr>
              <a:t>    sc.nextLine();</a:t>
            </a:r>
            <a:endParaRPr sz="1140">
              <a:solidFill>
                <a:srgbClr val="EAF0F8"/>
              </a:solidFill>
              <a:latin typeface="Liberation Mono"/>
            </a:endParaRPr>
          </a:p>
          <a:p>
            <a:pPr algn="l">
              <a:lnSpc>
                <a:spcPct val="100000"/>
              </a:lnSpc>
              <a:spcBef>
                <a:spcPts val="0"/>
              </a:spcBef>
              <a:spcAft>
                <a:spcPts val="0"/>
              </a:spcAft>
            </a:pPr>
            <a:r>
              <a:rPr sz="1140">
                <a:solidFill>
                  <a:srgbClr val="EAF0F8"/>
                </a:solidFill>
                <a:latin typeface="Liberation Mono"/>
              </a:rPr>
              <a:t>    switch (choice) {</a:t>
            </a:r>
            <a:endParaRPr sz="1140">
              <a:solidFill>
                <a:srgbClr val="EAF0F8"/>
              </a:solidFill>
              <a:latin typeface="Liberation Mono"/>
            </a:endParaRPr>
          </a:p>
          <a:p>
            <a:pPr algn="l">
              <a:lnSpc>
                <a:spcPct val="100000"/>
              </a:lnSpc>
              <a:spcBef>
                <a:spcPts val="0"/>
              </a:spcBef>
              <a:spcAft>
                <a:spcPts val="0"/>
              </a:spcAft>
            </a:pPr>
            <a:r>
              <a:rPr sz="1140">
                <a:solidFill>
                  <a:srgbClr val="EAF0F8"/>
                </a:solidFill>
                <a:latin typeface="Liberation Mono"/>
              </a:rPr>
              <a:t>        case 1: addDonor(); break;</a:t>
            </a:r>
            <a:endParaRPr sz="1140">
              <a:solidFill>
                <a:srgbClr val="EAF0F8"/>
              </a:solidFill>
              <a:latin typeface="Liberation Mono"/>
            </a:endParaRPr>
          </a:p>
          <a:p>
            <a:pPr algn="l">
              <a:lnSpc>
                <a:spcPct val="100000"/>
              </a:lnSpc>
              <a:spcBef>
                <a:spcPts val="0"/>
              </a:spcBef>
              <a:spcAft>
                <a:spcPts val="0"/>
              </a:spcAft>
            </a:pPr>
            <a:r>
              <a:rPr sz="1140">
                <a:solidFill>
                  <a:srgbClr val="EAF0F8"/>
                </a:solidFill>
                <a:latin typeface="Liberation Mono"/>
              </a:rPr>
              <a:t>        ...</a:t>
            </a:r>
            <a:endParaRPr sz="1140">
              <a:solidFill>
                <a:srgbClr val="EAF0F8"/>
              </a:solidFill>
              <a:latin typeface="Liberation Mono"/>
            </a:endParaRPr>
          </a:p>
          <a:p>
            <a:pPr algn="l">
              <a:lnSpc>
                <a:spcPct val="100000"/>
              </a:lnSpc>
              <a:spcBef>
                <a:spcPts val="0"/>
              </a:spcBef>
              <a:spcAft>
                <a:spcPts val="0"/>
              </a:spcAft>
            </a:pPr>
            <a:r>
              <a:rPr sz="1140">
                <a:solidFill>
                  <a:srgbClr val="EAF0F8"/>
                </a:solidFill>
                <a:latin typeface="Liberation Mono"/>
              </a:rPr>
              <a:t>        case 7: issueBlood(); break;</a:t>
            </a:r>
            <a:endParaRPr sz="1140">
              <a:solidFill>
                <a:srgbClr val="EAF0F8"/>
              </a:solidFill>
              <a:latin typeface="Liberation Mono"/>
            </a:endParaRPr>
          </a:p>
          <a:p>
            <a:pPr algn="l">
              <a:lnSpc>
                <a:spcPct val="100000"/>
              </a:lnSpc>
              <a:spcBef>
                <a:spcPts val="0"/>
              </a:spcBef>
              <a:spcAft>
                <a:spcPts val="0"/>
              </a:spcAft>
            </a:pPr>
            <a:r>
              <a:rPr sz="1140">
                <a:solidFill>
                  <a:srgbClr val="EAF0F8"/>
                </a:solidFill>
                <a:latin typeface="Liberation Mono"/>
              </a:rPr>
              <a:t>        case 8: saveDonors(); saveStock(); break;</a:t>
            </a:r>
            <a:endParaRPr sz="1140">
              <a:solidFill>
                <a:srgbClr val="EAF0F8"/>
              </a:solidFill>
              <a:latin typeface="Liberation Mono"/>
            </a:endParaRPr>
          </a:p>
          <a:p>
            <a:pPr algn="l">
              <a:lnSpc>
                <a:spcPct val="100000"/>
              </a:lnSpc>
              <a:spcBef>
                <a:spcPts val="0"/>
              </a:spcBef>
              <a:spcAft>
                <a:spcPts val="0"/>
              </a:spcAft>
            </a:pPr>
            <a:r>
              <a:rPr sz="1140">
                <a:solidFill>
                  <a:srgbClr val="EAF0F8"/>
                </a:solidFill>
                <a:latin typeface="Liberation Mono"/>
              </a:rPr>
              <a:t>    }</a:t>
            </a:r>
            <a:endParaRPr sz="1140">
              <a:solidFill>
                <a:srgbClr val="EAF0F8"/>
              </a:solidFill>
              <a:latin typeface="Liberation Mono"/>
            </a:endParaRPr>
          </a:p>
          <a:p>
            <a:pPr algn="l">
              <a:lnSpc>
                <a:spcPct val="100000"/>
              </a:lnSpc>
              <a:spcBef>
                <a:spcPts val="0"/>
              </a:spcBef>
              <a:spcAft>
                <a:spcPts val="0"/>
              </a:spcAft>
            </a:pPr>
            <a:r>
              <a:rPr sz="1140">
                <a:solidFill>
                  <a:srgbClr val="EAF0F8"/>
                </a:solidFill>
                <a:latin typeface="Liberation Mono"/>
              </a:rPr>
              <a:t>} while (choice != 8);</a:t>
            </a:r>
            <a:endParaRPr sz="1140">
              <a:solidFill>
                <a:srgbClr val="EAF0F8"/>
              </a:solidFill>
              <a:latin typeface="Liberation Mono"/>
            </a:endParaRPr>
          </a:p>
        </p:txBody>
      </p:sp>
      <p:sp>
        <p:nvSpPr>
          <p:cNvPr id="14" name="Text 11"/>
          <p:cNvSpPr/>
          <p:nvPr/>
        </p:nvSpPr>
        <p:spPr>
          <a:xfrm>
            <a:off x="6693408" y="1353312"/>
            <a:ext cx="1920240" cy="182880"/>
          </a:xfrm>
          <a:prstGeom prst="rect">
            <a:avLst/>
          </a:prstGeom>
          <a:noFill/>
        </p:spPr>
        <p:txBody>
          <a:bodyPr wrap="square" lIns="0" tIns="0" rIns="0" bIns="0" rtlCol="0" anchor="ctr">
            <a:normAutofit/>
          </a:bodyPr>
          <a:lstStyle/>
          <a:p>
            <a:pPr marL="0" indent="0">
              <a:buNone/>
            </a:pPr>
            <a:r>
              <a:rPr lang="en-US" sz="1000" b="1" kern="0" spc="60" dirty="0">
                <a:solidFill>
                  <a:srgbClr val="D91F26"/>
                </a:solidFill>
                <a:latin typeface="Arial" panose="020B0604020202020204" pitchFamily="34" charset="0"/>
                <a:ea typeface="Arial" panose="020B0604020202020204" pitchFamily="34" charset="-122"/>
                <a:cs typeface="Arial" panose="020B0604020202020204" pitchFamily="34" charset="-120"/>
              </a:rPr>
              <a:t>CONTROL FLOW</a:t>
            </a:r>
            <a:endParaRPr lang="en-US" sz="1000" dirty="0"/>
          </a:p>
        </p:txBody>
      </p:sp>
      <p:sp>
        <p:nvSpPr>
          <p:cNvPr id="15" name="Shape 12"/>
          <p:cNvSpPr/>
          <p:nvPr/>
        </p:nvSpPr>
        <p:spPr>
          <a:xfrm>
            <a:off x="6537960" y="1746504"/>
            <a:ext cx="1078992" cy="832104"/>
          </a:xfrm>
          <a:prstGeom prst="roundRect">
            <a:avLst>
              <a:gd name="adj" fmla="val 8791"/>
            </a:avLst>
          </a:prstGeom>
          <a:solidFill>
            <a:srgbClr val="FCEDEF"/>
          </a:solidFill>
          <a:ln w="12700">
            <a:solidFill>
              <a:srgbClr val="E8B8BE"/>
            </a:solidFill>
            <a:prstDash val="solid"/>
          </a:ln>
        </p:spPr>
      </p:sp>
      <p:sp>
        <p:nvSpPr>
          <p:cNvPr id="16" name="Text 13"/>
          <p:cNvSpPr/>
          <p:nvPr/>
        </p:nvSpPr>
        <p:spPr>
          <a:xfrm>
            <a:off x="6601968" y="1801368"/>
            <a:ext cx="950976" cy="722376"/>
          </a:xfrm>
          <a:prstGeom prst="rect">
            <a:avLst/>
          </a:prstGeom>
          <a:noFill/>
        </p:spPr>
        <p:txBody>
          <a:bodyPr wrap="square" lIns="0" tIns="0" rIns="0" bIns="0" rtlCol="0" anchor="ctr">
            <a:normAutofit/>
          </a:bodyPr>
          <a:lstStyle/>
          <a:p>
            <a:pPr marL="0" indent="0" algn="ctr">
              <a:buNone/>
            </a:pPr>
            <a:r>
              <a:rPr lang="en-US" sz="950" b="1" dirty="0">
                <a:solidFill>
                  <a:srgbClr val="172234"/>
                </a:solidFill>
                <a:latin typeface="Arial" panose="020B0604020202020204" pitchFamily="34" charset="0"/>
                <a:ea typeface="Arial" panose="020B0604020202020204" pitchFamily="34" charset="-122"/>
                <a:cs typeface="Arial" panose="020B0604020202020204" pitchFamily="34" charset="-120"/>
              </a:rPr>
              <a:t>Display</a:t>
            </a:r>
            <a:endParaRPr lang="en-US" sz="950" dirty="0"/>
          </a:p>
          <a:p>
            <a:pPr marL="0" indent="0" algn="ctr">
              <a:buNone/>
            </a:pPr>
            <a:r>
              <a:rPr lang="en-US" sz="950" b="1" dirty="0">
                <a:solidFill>
                  <a:srgbClr val="172234"/>
                </a:solidFill>
                <a:latin typeface="Arial" panose="020B0604020202020204" pitchFamily="34" charset="0"/>
                <a:ea typeface="Arial" panose="020B0604020202020204" pitchFamily="34" charset="-122"/>
                <a:cs typeface="Arial" panose="020B0604020202020204" pitchFamily="34" charset="-120"/>
              </a:rPr>
              <a:t>menu</a:t>
            </a:r>
            <a:endParaRPr lang="en-US" sz="950" dirty="0"/>
          </a:p>
        </p:txBody>
      </p:sp>
      <p:sp>
        <p:nvSpPr>
          <p:cNvPr id="17" name="Text 14"/>
          <p:cNvSpPr/>
          <p:nvPr/>
        </p:nvSpPr>
        <p:spPr>
          <a:xfrm>
            <a:off x="7626096" y="2029968"/>
            <a:ext cx="155448" cy="201168"/>
          </a:xfrm>
          <a:prstGeom prst="rect">
            <a:avLst/>
          </a:prstGeom>
          <a:noFill/>
        </p:spPr>
        <p:txBody>
          <a:bodyPr wrap="square" lIns="0" tIns="0" rIns="0" bIns="0" rtlCol="0" anchor="ctr">
            <a:normAutofit/>
          </a:bodyPr>
          <a:lstStyle/>
          <a:p>
            <a:pPr marL="0" indent="0" algn="ctr">
              <a:buNone/>
            </a:pPr>
            <a:r>
              <a:rPr lang="en-US" sz="1400" b="1" dirty="0">
                <a:solidFill>
                  <a:srgbClr val="687487"/>
                </a:solidFill>
                <a:latin typeface="Arial" panose="020B0604020202020204" pitchFamily="34" charset="0"/>
                <a:ea typeface="Arial" panose="020B0604020202020204" pitchFamily="34" charset="-122"/>
                <a:cs typeface="Arial" panose="020B0604020202020204" pitchFamily="34" charset="-120"/>
              </a:rPr>
              <a:t>→</a:t>
            </a:r>
            <a:endParaRPr lang="en-US" sz="1400" dirty="0"/>
          </a:p>
        </p:txBody>
      </p:sp>
      <p:sp>
        <p:nvSpPr>
          <p:cNvPr id="18" name="Shape 15"/>
          <p:cNvSpPr/>
          <p:nvPr/>
        </p:nvSpPr>
        <p:spPr>
          <a:xfrm>
            <a:off x="7799832" y="1746504"/>
            <a:ext cx="1078992" cy="832104"/>
          </a:xfrm>
          <a:prstGeom prst="roundRect">
            <a:avLst>
              <a:gd name="adj" fmla="val 8791"/>
            </a:avLst>
          </a:prstGeom>
          <a:solidFill>
            <a:srgbClr val="EAF2FB"/>
          </a:solidFill>
          <a:ln w="12700">
            <a:solidFill>
              <a:srgbClr val="B8D0EE"/>
            </a:solidFill>
            <a:prstDash val="solid"/>
          </a:ln>
        </p:spPr>
      </p:sp>
      <p:sp>
        <p:nvSpPr>
          <p:cNvPr id="19" name="Text 16"/>
          <p:cNvSpPr/>
          <p:nvPr/>
        </p:nvSpPr>
        <p:spPr>
          <a:xfrm>
            <a:off x="7863840" y="1801368"/>
            <a:ext cx="950976" cy="722376"/>
          </a:xfrm>
          <a:prstGeom prst="rect">
            <a:avLst/>
          </a:prstGeom>
          <a:noFill/>
        </p:spPr>
        <p:txBody>
          <a:bodyPr wrap="square" lIns="0" tIns="0" rIns="0" bIns="0" rtlCol="0" anchor="ctr">
            <a:normAutofit/>
          </a:bodyPr>
          <a:lstStyle/>
          <a:p>
            <a:pPr marL="0" indent="0" algn="ctr">
              <a:buNone/>
            </a:pPr>
            <a:r>
              <a:rPr lang="en-US" sz="950" b="1" dirty="0">
                <a:solidFill>
                  <a:srgbClr val="172234"/>
                </a:solidFill>
                <a:latin typeface="Arial" panose="020B0604020202020204" pitchFamily="34" charset="0"/>
                <a:ea typeface="Arial" panose="020B0604020202020204" pitchFamily="34" charset="-122"/>
                <a:cs typeface="Arial" panose="020B0604020202020204" pitchFamily="34" charset="-120"/>
              </a:rPr>
              <a:t>Validate</a:t>
            </a:r>
            <a:endParaRPr lang="en-US" sz="950" dirty="0"/>
          </a:p>
          <a:p>
            <a:pPr marL="0" indent="0" algn="ctr">
              <a:buNone/>
            </a:pPr>
            <a:r>
              <a:rPr lang="en-US" sz="950" b="1" dirty="0">
                <a:solidFill>
                  <a:srgbClr val="172234"/>
                </a:solidFill>
                <a:latin typeface="Arial" panose="020B0604020202020204" pitchFamily="34" charset="0"/>
                <a:ea typeface="Arial" panose="020B0604020202020204" pitchFamily="34" charset="-122"/>
                <a:cs typeface="Arial" panose="020B0604020202020204" pitchFamily="34" charset="-120"/>
              </a:rPr>
              <a:t>choice</a:t>
            </a:r>
            <a:endParaRPr lang="en-US" sz="950" dirty="0"/>
          </a:p>
        </p:txBody>
      </p:sp>
      <p:sp>
        <p:nvSpPr>
          <p:cNvPr id="20" name="Text 17"/>
          <p:cNvSpPr/>
          <p:nvPr/>
        </p:nvSpPr>
        <p:spPr>
          <a:xfrm>
            <a:off x="8887968" y="2029968"/>
            <a:ext cx="155448" cy="201168"/>
          </a:xfrm>
          <a:prstGeom prst="rect">
            <a:avLst/>
          </a:prstGeom>
          <a:noFill/>
        </p:spPr>
        <p:txBody>
          <a:bodyPr wrap="square" lIns="0" tIns="0" rIns="0" bIns="0" rtlCol="0" anchor="ctr">
            <a:normAutofit/>
          </a:bodyPr>
          <a:lstStyle/>
          <a:p>
            <a:pPr marL="0" indent="0" algn="ctr">
              <a:buNone/>
            </a:pPr>
            <a:r>
              <a:rPr lang="en-US" sz="1400" b="1" dirty="0">
                <a:solidFill>
                  <a:srgbClr val="687487"/>
                </a:solidFill>
                <a:latin typeface="Arial" panose="020B0604020202020204" pitchFamily="34" charset="0"/>
                <a:ea typeface="Arial" panose="020B0604020202020204" pitchFamily="34" charset="-122"/>
                <a:cs typeface="Arial" panose="020B0604020202020204" pitchFamily="34" charset="-120"/>
              </a:rPr>
              <a:t>→</a:t>
            </a:r>
            <a:endParaRPr lang="en-US" sz="1400" dirty="0"/>
          </a:p>
        </p:txBody>
      </p:sp>
      <p:sp>
        <p:nvSpPr>
          <p:cNvPr id="21" name="Shape 18"/>
          <p:cNvSpPr/>
          <p:nvPr/>
        </p:nvSpPr>
        <p:spPr>
          <a:xfrm>
            <a:off x="9061704" y="1746504"/>
            <a:ext cx="1078992" cy="832104"/>
          </a:xfrm>
          <a:prstGeom prst="roundRect">
            <a:avLst>
              <a:gd name="adj" fmla="val 8791"/>
            </a:avLst>
          </a:prstGeom>
          <a:solidFill>
            <a:srgbClr val="EAF6EF"/>
          </a:solidFill>
          <a:ln w="12700">
            <a:solidFill>
              <a:srgbClr val="B9DCC6"/>
            </a:solidFill>
            <a:prstDash val="solid"/>
          </a:ln>
        </p:spPr>
      </p:sp>
      <p:sp>
        <p:nvSpPr>
          <p:cNvPr id="22" name="Text 19"/>
          <p:cNvSpPr/>
          <p:nvPr/>
        </p:nvSpPr>
        <p:spPr>
          <a:xfrm>
            <a:off x="9125712" y="1801368"/>
            <a:ext cx="950976" cy="722376"/>
          </a:xfrm>
          <a:prstGeom prst="rect">
            <a:avLst/>
          </a:prstGeom>
          <a:noFill/>
        </p:spPr>
        <p:txBody>
          <a:bodyPr wrap="square" lIns="0" tIns="0" rIns="0" bIns="0" rtlCol="0" anchor="ctr">
            <a:normAutofit/>
          </a:bodyPr>
          <a:lstStyle/>
          <a:p>
            <a:pPr marL="0" indent="0" algn="ctr">
              <a:buNone/>
            </a:pPr>
            <a:r>
              <a:rPr lang="en-US" sz="950" b="1" dirty="0">
                <a:solidFill>
                  <a:srgbClr val="172234"/>
                </a:solidFill>
                <a:latin typeface="Arial" panose="020B0604020202020204" pitchFamily="34" charset="0"/>
                <a:ea typeface="Arial" panose="020B0604020202020204" pitchFamily="34" charset="-122"/>
                <a:cs typeface="Arial" panose="020B0604020202020204" pitchFamily="34" charset="-120"/>
              </a:rPr>
              <a:t>Run selected</a:t>
            </a:r>
            <a:endParaRPr lang="en-US" sz="950" dirty="0"/>
          </a:p>
          <a:p>
            <a:pPr marL="0" indent="0" algn="ctr">
              <a:buNone/>
            </a:pPr>
            <a:r>
              <a:rPr lang="en-US" sz="950" b="1" dirty="0">
                <a:solidFill>
                  <a:srgbClr val="172234"/>
                </a:solidFill>
                <a:latin typeface="Arial" panose="020B0604020202020204" pitchFamily="34" charset="0"/>
                <a:ea typeface="Arial" panose="020B0604020202020204" pitchFamily="34" charset="-122"/>
                <a:cs typeface="Arial" panose="020B0604020202020204" pitchFamily="34" charset="-120"/>
              </a:rPr>
              <a:t>operation</a:t>
            </a:r>
            <a:endParaRPr lang="en-US" sz="950" dirty="0"/>
          </a:p>
        </p:txBody>
      </p:sp>
      <p:sp>
        <p:nvSpPr>
          <p:cNvPr id="23" name="Text 20"/>
          <p:cNvSpPr/>
          <p:nvPr/>
        </p:nvSpPr>
        <p:spPr>
          <a:xfrm>
            <a:off x="10149840" y="2029968"/>
            <a:ext cx="155448" cy="201168"/>
          </a:xfrm>
          <a:prstGeom prst="rect">
            <a:avLst/>
          </a:prstGeom>
          <a:noFill/>
        </p:spPr>
        <p:txBody>
          <a:bodyPr wrap="square" lIns="0" tIns="0" rIns="0" bIns="0" rtlCol="0" anchor="ctr">
            <a:normAutofit/>
          </a:bodyPr>
          <a:lstStyle/>
          <a:p>
            <a:pPr marL="0" indent="0" algn="ctr">
              <a:buNone/>
            </a:pPr>
            <a:r>
              <a:rPr lang="en-US" sz="1400" b="1" dirty="0">
                <a:solidFill>
                  <a:srgbClr val="687487"/>
                </a:solidFill>
                <a:latin typeface="Arial" panose="020B0604020202020204" pitchFamily="34" charset="0"/>
                <a:ea typeface="Arial" panose="020B0604020202020204" pitchFamily="34" charset="-122"/>
                <a:cs typeface="Arial" panose="020B0604020202020204" pitchFamily="34" charset="-120"/>
              </a:rPr>
              <a:t>→</a:t>
            </a:r>
            <a:endParaRPr lang="en-US" sz="1400" dirty="0"/>
          </a:p>
        </p:txBody>
      </p:sp>
      <p:sp>
        <p:nvSpPr>
          <p:cNvPr id="24" name="Shape 21"/>
          <p:cNvSpPr/>
          <p:nvPr/>
        </p:nvSpPr>
        <p:spPr>
          <a:xfrm>
            <a:off x="10323576" y="1746504"/>
            <a:ext cx="1078992" cy="832104"/>
          </a:xfrm>
          <a:prstGeom prst="roundRect">
            <a:avLst>
              <a:gd name="adj" fmla="val 8791"/>
            </a:avLst>
          </a:prstGeom>
          <a:solidFill>
            <a:srgbClr val="EAF2FB"/>
          </a:solidFill>
          <a:ln w="12700">
            <a:solidFill>
              <a:srgbClr val="B8D0EE"/>
            </a:solidFill>
            <a:prstDash val="solid"/>
          </a:ln>
        </p:spPr>
      </p:sp>
      <p:sp>
        <p:nvSpPr>
          <p:cNvPr id="25" name="Text 22"/>
          <p:cNvSpPr/>
          <p:nvPr/>
        </p:nvSpPr>
        <p:spPr>
          <a:xfrm>
            <a:off x="10387584" y="1801368"/>
            <a:ext cx="950976" cy="722376"/>
          </a:xfrm>
          <a:prstGeom prst="rect">
            <a:avLst/>
          </a:prstGeom>
          <a:noFill/>
        </p:spPr>
        <p:txBody>
          <a:bodyPr wrap="square" lIns="0" tIns="0" rIns="0" bIns="0" rtlCol="0" anchor="ctr">
            <a:normAutofit/>
          </a:bodyPr>
          <a:lstStyle/>
          <a:p>
            <a:pPr marL="0" indent="0" algn="ctr">
              <a:buNone/>
            </a:pPr>
            <a:r>
              <a:rPr lang="en-US" sz="950" b="1" dirty="0">
                <a:solidFill>
                  <a:srgbClr val="172234"/>
                </a:solidFill>
                <a:latin typeface="Arial" panose="020B0604020202020204" pitchFamily="34" charset="0"/>
                <a:ea typeface="Arial" panose="020B0604020202020204" pitchFamily="34" charset="-122"/>
                <a:cs typeface="Arial" panose="020B0604020202020204" pitchFamily="34" charset="-120"/>
              </a:rPr>
              <a:t>Return to menu</a:t>
            </a:r>
            <a:endParaRPr lang="en-US" sz="950" dirty="0"/>
          </a:p>
          <a:p>
            <a:pPr marL="0" indent="0" algn="ctr">
              <a:buNone/>
            </a:pPr>
            <a:r>
              <a:rPr lang="en-US" sz="950" b="1" dirty="0">
                <a:solidFill>
                  <a:srgbClr val="172234"/>
                </a:solidFill>
                <a:latin typeface="Arial" panose="020B0604020202020204" pitchFamily="34" charset="0"/>
                <a:ea typeface="Arial" panose="020B0604020202020204" pitchFamily="34" charset="-122"/>
                <a:cs typeface="Arial" panose="020B0604020202020204" pitchFamily="34" charset="-120"/>
              </a:rPr>
              <a:t>or exit</a:t>
            </a:r>
            <a:endParaRPr lang="en-US" sz="950" dirty="0"/>
          </a:p>
        </p:txBody>
      </p:sp>
      <p:sp>
        <p:nvSpPr>
          <p:cNvPr id="26" name="Shape 23"/>
          <p:cNvSpPr/>
          <p:nvPr/>
        </p:nvSpPr>
        <p:spPr>
          <a:xfrm>
            <a:off x="6519672" y="2944368"/>
            <a:ext cx="5120640" cy="1691640"/>
          </a:xfrm>
          <a:prstGeom prst="roundRect">
            <a:avLst>
              <a:gd name="adj" fmla="val 4324"/>
            </a:avLst>
          </a:prstGeom>
          <a:solidFill>
            <a:srgbClr val="172234"/>
          </a:solidFill>
          <a:ln w="12700">
            <a:solidFill>
              <a:srgbClr val="172234"/>
            </a:solidFill>
            <a:prstDash val="solid"/>
          </a:ln>
        </p:spPr>
      </p:sp>
      <p:sp>
        <p:nvSpPr>
          <p:cNvPr id="27" name="Text 24"/>
          <p:cNvSpPr/>
          <p:nvPr/>
        </p:nvSpPr>
        <p:spPr>
          <a:xfrm>
            <a:off x="6684264" y="3044952"/>
            <a:ext cx="4791456"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00" b="1">
                <a:solidFill>
                  <a:srgbClr val="F2B8BD"/>
                </a:solidFill>
                <a:latin typeface="Arial" panose="020B0604020202020204"/>
              </a:rPr>
              <a:t>INSUFFICIENT-STOCK CHECK — BLOODBANK.JAVA</a:t>
            </a:r>
            <a:endParaRPr lang="en-US" sz="900" dirty="0"/>
          </a:p>
        </p:txBody>
      </p:sp>
      <p:sp>
        <p:nvSpPr>
          <p:cNvPr id="28" name="Shape 25"/>
          <p:cNvSpPr/>
          <p:nvPr/>
        </p:nvSpPr>
        <p:spPr>
          <a:xfrm>
            <a:off x="6656832" y="3300984"/>
            <a:ext cx="4846320" cy="0"/>
          </a:xfrm>
          <a:prstGeom prst="line">
            <a:avLst/>
          </a:prstGeom>
          <a:noFill/>
          <a:ln w="8890">
            <a:solidFill>
              <a:srgbClr val="42506A"/>
            </a:solidFill>
            <a:prstDash val="solid"/>
          </a:ln>
        </p:spPr>
      </p:sp>
      <p:sp>
        <p:nvSpPr>
          <p:cNvPr id="29" name="Text 26"/>
          <p:cNvSpPr/>
          <p:nvPr/>
        </p:nvSpPr>
        <p:spPr>
          <a:xfrm>
            <a:off x="6675120" y="3401568"/>
            <a:ext cx="4809744" cy="1143000"/>
          </a:xfrm>
          <a:prstGeom prst="rect">
            <a:avLst/>
          </a:prstGeom>
          <a:noFill/>
        </p:spPr>
        <p:txBody>
          <a:bodyPr wrap="square" lIns="127" tIns="127" rIns="127" bIns="127" rtlCol="0" anchor="t"/>
          <a:lstStyle/>
          <a:p>
            <a:pPr marL="0" indent="0" algn="l">
              <a:lnSpc>
                <a:spcPct val="100000"/>
              </a:lnSpc>
              <a:spcBef>
                <a:spcPts val="0"/>
              </a:spcBef>
              <a:spcAft>
                <a:spcPts val="0"/>
              </a:spcAft>
              <a:buNone/>
            </a:pPr>
            <a:r>
              <a:rPr sz="1020">
                <a:solidFill>
                  <a:srgbClr val="EAF0F8"/>
                </a:solidFill>
                <a:latin typeface="Liberation Mono"/>
              </a:rPr>
              <a:t>if (total &lt; needed) {</a:t>
            </a:r>
            <a:endParaRPr lang="en-US" sz="900" dirty="0"/>
          </a:p>
          <a:p>
            <a:pPr>
              <a:lnSpc>
                <a:spcPct val="100000"/>
              </a:lnSpc>
              <a:spcBef>
                <a:spcPts val="0"/>
              </a:spcBef>
              <a:spcAft>
                <a:spcPts val="0"/>
              </a:spcAft>
            </a:pPr>
            <a:r>
              <a:rPr sz="1020">
                <a:solidFill>
                  <a:srgbClr val="EAF0F8"/>
                </a:solidFill>
                <a:latin typeface="Liberation Mono"/>
              </a:rPr>
              <a:t>    System.out.println("Issue cancelled. Only " + total</a:t>
            </a:r>
            <a:endParaRPr sz="1020">
              <a:solidFill>
                <a:srgbClr val="EAF0F8"/>
              </a:solidFill>
              <a:latin typeface="Liberation Mono"/>
            </a:endParaRPr>
          </a:p>
          <a:p>
            <a:pPr>
              <a:lnSpc>
                <a:spcPct val="100000"/>
              </a:lnSpc>
              <a:spcBef>
                <a:spcPts val="0"/>
              </a:spcBef>
              <a:spcAft>
                <a:spcPts val="0"/>
              </a:spcAft>
            </a:pPr>
            <a:r>
              <a:rPr sz="1020">
                <a:solidFill>
                  <a:srgbClr val="EAF0F8"/>
                </a:solidFill>
                <a:latin typeface="Liberation Mono"/>
              </a:rPr>
              <a:t>            + " compatible unit(s) available. "</a:t>
            </a:r>
            <a:endParaRPr sz="1020">
              <a:solidFill>
                <a:srgbClr val="EAF0F8"/>
              </a:solidFill>
              <a:latin typeface="Liberation Mono"/>
            </a:endParaRPr>
          </a:p>
          <a:p>
            <a:pPr>
              <a:lnSpc>
                <a:spcPct val="100000"/>
              </a:lnSpc>
              <a:spcBef>
                <a:spcPts val="0"/>
              </a:spcBef>
              <a:spcAft>
                <a:spcPts val="0"/>
              </a:spcAft>
            </a:pPr>
            <a:r>
              <a:rPr sz="1020">
                <a:solidFill>
                  <a:srgbClr val="EAF0F8"/>
                </a:solidFill>
                <a:latin typeface="Liberation Mono"/>
              </a:rPr>
              <a:t>            + "Stock was not changed.");</a:t>
            </a:r>
            <a:endParaRPr sz="1020">
              <a:solidFill>
                <a:srgbClr val="EAF0F8"/>
              </a:solidFill>
              <a:latin typeface="Liberation Mono"/>
            </a:endParaRPr>
          </a:p>
          <a:p>
            <a:pPr>
              <a:lnSpc>
                <a:spcPct val="100000"/>
              </a:lnSpc>
              <a:spcBef>
                <a:spcPts val="0"/>
              </a:spcBef>
              <a:spcAft>
                <a:spcPts val="0"/>
              </a:spcAft>
            </a:pPr>
            <a:r>
              <a:rPr sz="1020">
                <a:solidFill>
                  <a:srgbClr val="EAF0F8"/>
                </a:solidFill>
                <a:latin typeface="Liberation Mono"/>
              </a:rPr>
              <a:t>    return;</a:t>
            </a:r>
            <a:endParaRPr sz="1020">
              <a:solidFill>
                <a:srgbClr val="EAF0F8"/>
              </a:solidFill>
              <a:latin typeface="Liberation Mono"/>
            </a:endParaRPr>
          </a:p>
          <a:p>
            <a:pPr>
              <a:lnSpc>
                <a:spcPct val="100000"/>
              </a:lnSpc>
              <a:spcBef>
                <a:spcPts val="0"/>
              </a:spcBef>
              <a:spcAft>
                <a:spcPts val="0"/>
              </a:spcAft>
            </a:pPr>
            <a:r>
              <a:rPr sz="1020">
                <a:solidFill>
                  <a:srgbClr val="EAF0F8"/>
                </a:solidFill>
                <a:latin typeface="Liberation Mono"/>
              </a:rPr>
              <a:t>}</a:t>
            </a:r>
            <a:endParaRPr sz="1020">
              <a:solidFill>
                <a:srgbClr val="EAF0F8"/>
              </a:solidFill>
              <a:latin typeface="Liberation Mono"/>
            </a:endParaRPr>
          </a:p>
        </p:txBody>
      </p:sp>
      <p:sp>
        <p:nvSpPr>
          <p:cNvPr id="30" name="Shape 27"/>
          <p:cNvSpPr/>
          <p:nvPr/>
        </p:nvSpPr>
        <p:spPr>
          <a:xfrm>
            <a:off x="585216" y="4892040"/>
            <a:ext cx="3520440" cy="1024128"/>
          </a:xfrm>
          <a:prstGeom prst="roundRect">
            <a:avLst>
              <a:gd name="adj" fmla="val 7143"/>
            </a:avLst>
          </a:prstGeom>
          <a:solidFill>
            <a:srgbClr val="FCEDEF"/>
          </a:solidFill>
          <a:ln w="12700">
            <a:solidFill>
              <a:srgbClr val="E8B8BE"/>
            </a:solidFill>
            <a:prstDash val="solid"/>
          </a:ln>
        </p:spPr>
      </p:sp>
      <p:sp>
        <p:nvSpPr>
          <p:cNvPr id="31" name="Shape 28"/>
          <p:cNvSpPr/>
          <p:nvPr/>
        </p:nvSpPr>
        <p:spPr>
          <a:xfrm>
            <a:off x="585216" y="4983480"/>
            <a:ext cx="50292" cy="841248"/>
          </a:xfrm>
          <a:prstGeom prst="rect">
            <a:avLst/>
          </a:prstGeom>
          <a:solidFill>
            <a:srgbClr val="B71920"/>
          </a:solidFill>
          <a:ln w="12700">
            <a:solidFill>
              <a:srgbClr val="B71920">
                <a:alpha val="0"/>
              </a:srgbClr>
            </a:solidFill>
            <a:prstDash val="solid"/>
          </a:ln>
        </p:spPr>
      </p:sp>
      <p:sp>
        <p:nvSpPr>
          <p:cNvPr id="32" name="Text 29"/>
          <p:cNvSpPr/>
          <p:nvPr/>
        </p:nvSpPr>
        <p:spPr>
          <a:xfrm>
            <a:off x="731520" y="5001768"/>
            <a:ext cx="3227832" cy="265176"/>
          </a:xfrm>
          <a:prstGeom prst="rect">
            <a:avLst/>
          </a:prstGeom>
          <a:noFill/>
        </p:spPr>
        <p:txBody>
          <a:bodyPr wrap="square" lIns="0" tIns="0" rIns="0" bIns="0" rtlCol="0" anchor="ctr">
            <a:normAutofit/>
          </a:bodyPr>
          <a:lstStyle/>
          <a:p>
            <a:pPr marL="0" indent="0">
              <a:lnSpc>
                <a:spcPct val="100000"/>
              </a:lnSpc>
              <a:spcBef>
                <a:spcPts val="0"/>
              </a:spcBef>
              <a:spcAft>
                <a:spcPts val="0"/>
              </a:spcAft>
              <a:buNone/>
            </a:pPr>
            <a:r>
              <a:rPr sz="1160" b="1">
                <a:solidFill>
                  <a:srgbClr val="B71920"/>
                </a:solidFill>
                <a:latin typeface="Arial" panose="020B0604020202020204"/>
              </a:rPr>
              <a:t>IF / VALIDATION</a:t>
            </a:r>
            <a:endParaRPr lang="en-US" sz="1160" dirty="0"/>
          </a:p>
        </p:txBody>
      </p:sp>
      <p:sp>
        <p:nvSpPr>
          <p:cNvPr id="33" name="Text 30"/>
          <p:cNvSpPr/>
          <p:nvPr/>
        </p:nvSpPr>
        <p:spPr>
          <a:xfrm>
            <a:off x="731520" y="5321808"/>
            <a:ext cx="3227832" cy="502920"/>
          </a:xfrm>
          <a:prstGeom prst="rect">
            <a:avLst/>
          </a:prstGeom>
          <a:noFill/>
        </p:spPr>
        <p:txBody>
          <a:bodyPr wrap="square" lIns="0" tIns="0" rIns="0" bIns="0" rtlCol="0" anchor="t">
            <a:normAutofit/>
          </a:bodyPr>
          <a:lstStyle/>
          <a:p>
            <a:pPr marL="0" indent="0" algn="l">
              <a:lnSpc>
                <a:spcPct val="100000"/>
              </a:lnSpc>
              <a:spcBef>
                <a:spcPts val="0"/>
              </a:spcBef>
              <a:spcAft>
                <a:spcPts val="0"/>
              </a:spcAft>
              <a:buNone/>
            </a:pPr>
            <a:r>
              <a:rPr sz="1020">
                <a:solidFill>
                  <a:srgbClr val="202938"/>
                </a:solidFill>
                <a:latin typeface="Arial" panose="020B0604020202020204"/>
              </a:rPr>
              <a:t>Checks age range, phone length, blood group and positive unit count.</a:t>
            </a:r>
            <a:endParaRPr lang="en-US" sz="1020" dirty="0"/>
          </a:p>
        </p:txBody>
      </p:sp>
      <p:sp>
        <p:nvSpPr>
          <p:cNvPr id="34" name="Shape 31"/>
          <p:cNvSpPr/>
          <p:nvPr/>
        </p:nvSpPr>
        <p:spPr>
          <a:xfrm>
            <a:off x="4325112" y="4892040"/>
            <a:ext cx="3520440" cy="1024128"/>
          </a:xfrm>
          <a:prstGeom prst="roundRect">
            <a:avLst>
              <a:gd name="adj" fmla="val 7143"/>
            </a:avLst>
          </a:prstGeom>
          <a:solidFill>
            <a:srgbClr val="EAF2FB"/>
          </a:solidFill>
          <a:ln w="12700">
            <a:solidFill>
              <a:srgbClr val="B8D0EE"/>
            </a:solidFill>
            <a:prstDash val="solid"/>
          </a:ln>
        </p:spPr>
        <p:txBody>
          <a:bodyPr/>
          <a:lstStyle/>
          <a:p>
            <a:pPr algn="l">
              <a:lnSpc>
                <a:spcPct val="100000"/>
              </a:lnSpc>
              <a:spcBef>
                <a:spcPts val="0"/>
              </a:spcBef>
              <a:spcAft>
                <a:spcPts val="0"/>
              </a:spcAft>
            </a:pPr>
          </a:p>
        </p:txBody>
      </p:sp>
      <p:sp>
        <p:nvSpPr>
          <p:cNvPr id="35" name="Shape 32"/>
          <p:cNvSpPr/>
          <p:nvPr/>
        </p:nvSpPr>
        <p:spPr>
          <a:xfrm>
            <a:off x="4325112" y="4983480"/>
            <a:ext cx="50292" cy="841248"/>
          </a:xfrm>
          <a:prstGeom prst="rect">
            <a:avLst/>
          </a:prstGeom>
          <a:solidFill>
            <a:srgbClr val="214D7B"/>
          </a:solidFill>
          <a:ln w="12700">
            <a:solidFill>
              <a:srgbClr val="214D7B">
                <a:alpha val="0"/>
              </a:srgbClr>
            </a:solidFill>
            <a:prstDash val="solid"/>
          </a:ln>
        </p:spPr>
      </p:sp>
      <p:sp>
        <p:nvSpPr>
          <p:cNvPr id="36" name="Text 33"/>
          <p:cNvSpPr/>
          <p:nvPr/>
        </p:nvSpPr>
        <p:spPr>
          <a:xfrm>
            <a:off x="4471416" y="5001768"/>
            <a:ext cx="3227832" cy="26517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160" b="1">
                <a:solidFill>
                  <a:srgbClr val="214D7B"/>
                </a:solidFill>
                <a:latin typeface="Arial" panose="020B0604020202020204"/>
              </a:rPr>
              <a:t>LOOP / TERMINATION</a:t>
            </a:r>
            <a:endParaRPr lang="en-US" sz="1160" dirty="0"/>
          </a:p>
        </p:txBody>
      </p:sp>
      <p:sp>
        <p:nvSpPr>
          <p:cNvPr id="37" name="Text 34"/>
          <p:cNvSpPr/>
          <p:nvPr/>
        </p:nvSpPr>
        <p:spPr>
          <a:xfrm>
            <a:off x="4471416" y="5321808"/>
            <a:ext cx="3227832" cy="502920"/>
          </a:xfrm>
          <a:prstGeom prst="rect">
            <a:avLst/>
          </a:prstGeom>
          <a:noFill/>
        </p:spPr>
        <p:txBody>
          <a:bodyPr wrap="square" lIns="0" tIns="0" rIns="0" bIns="0" rtlCol="0" anchor="t">
            <a:normAutofit/>
          </a:bodyPr>
          <a:lstStyle/>
          <a:p>
            <a:pPr marL="0" indent="0" algn="l">
              <a:lnSpc>
                <a:spcPct val="100000"/>
              </a:lnSpc>
              <a:spcBef>
                <a:spcPts val="0"/>
              </a:spcBef>
              <a:spcAft>
                <a:spcPts val="0"/>
              </a:spcAft>
              <a:buNone/>
            </a:pPr>
            <a:r>
              <a:rPr sz="1020">
                <a:solidFill>
                  <a:srgbClr val="202938"/>
                </a:solidFill>
                <a:latin typeface="Arial" panose="020B0604020202020204"/>
              </a:rPr>
              <a:t>The do-while menu repeats until option 8 saves and exits.</a:t>
            </a:r>
            <a:endParaRPr lang="en-US" sz="1020" dirty="0"/>
          </a:p>
        </p:txBody>
      </p:sp>
      <p:sp>
        <p:nvSpPr>
          <p:cNvPr id="38" name="Shape 35"/>
          <p:cNvSpPr/>
          <p:nvPr/>
        </p:nvSpPr>
        <p:spPr>
          <a:xfrm>
            <a:off x="8065008" y="4892040"/>
            <a:ext cx="3520440" cy="1024128"/>
          </a:xfrm>
          <a:prstGeom prst="roundRect">
            <a:avLst>
              <a:gd name="adj" fmla="val 7143"/>
            </a:avLst>
          </a:prstGeom>
          <a:solidFill>
            <a:srgbClr val="EAF6EF"/>
          </a:solidFill>
          <a:ln w="12700">
            <a:solidFill>
              <a:srgbClr val="B9DCC6"/>
            </a:solidFill>
            <a:prstDash val="solid"/>
          </a:ln>
        </p:spPr>
      </p:sp>
      <p:sp>
        <p:nvSpPr>
          <p:cNvPr id="39" name="Shape 36"/>
          <p:cNvSpPr/>
          <p:nvPr/>
        </p:nvSpPr>
        <p:spPr>
          <a:xfrm>
            <a:off x="8065008" y="4983480"/>
            <a:ext cx="50292" cy="841248"/>
          </a:xfrm>
          <a:prstGeom prst="rect">
            <a:avLst/>
          </a:prstGeom>
          <a:solidFill>
            <a:srgbClr val="28734B"/>
          </a:solidFill>
          <a:ln w="12700">
            <a:solidFill>
              <a:srgbClr val="28734B">
                <a:alpha val="0"/>
              </a:srgbClr>
            </a:solidFill>
            <a:prstDash val="solid"/>
          </a:ln>
        </p:spPr>
      </p:sp>
      <p:sp>
        <p:nvSpPr>
          <p:cNvPr id="40" name="Text 37"/>
          <p:cNvSpPr/>
          <p:nvPr/>
        </p:nvSpPr>
        <p:spPr>
          <a:xfrm>
            <a:off x="8211312" y="5001768"/>
            <a:ext cx="3227832" cy="26517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160" b="1">
                <a:solidFill>
                  <a:srgbClr val="28734B"/>
                </a:solidFill>
                <a:latin typeface="Arial" panose="020B0604020202020204"/>
              </a:rPr>
              <a:t>STOCK DECISION</a:t>
            </a:r>
            <a:endParaRPr lang="en-US" sz="1160" dirty="0"/>
          </a:p>
        </p:txBody>
      </p:sp>
      <p:sp>
        <p:nvSpPr>
          <p:cNvPr id="41" name="Text 38"/>
          <p:cNvSpPr/>
          <p:nvPr/>
        </p:nvSpPr>
        <p:spPr>
          <a:xfrm>
            <a:off x="8211312" y="5321808"/>
            <a:ext cx="3227832" cy="502920"/>
          </a:xfrm>
          <a:prstGeom prst="rect">
            <a:avLst/>
          </a:prstGeom>
          <a:noFill/>
        </p:spPr>
        <p:txBody>
          <a:bodyPr wrap="square" lIns="0" tIns="0" rIns="0" bIns="0" rtlCol="0" anchor="t">
            <a:normAutofit/>
          </a:bodyPr>
          <a:lstStyle/>
          <a:p>
            <a:pPr marL="0" indent="0" algn="l">
              <a:lnSpc>
                <a:spcPct val="100000"/>
              </a:lnSpc>
              <a:spcBef>
                <a:spcPts val="0"/>
              </a:spcBef>
              <a:spcAft>
                <a:spcPts val="0"/>
              </a:spcAft>
              <a:buNone/>
            </a:pPr>
            <a:r>
              <a:rPr sz="1020">
                <a:solidFill>
                  <a:srgbClr val="202938"/>
                </a:solidFill>
                <a:latin typeface="Arial" panose="020B0604020202020204"/>
              </a:rPr>
              <a:t>If compatible stock is insufficient, the issue is cancelled before units are deducted.</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1"/>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2200" b="1">
                <a:solidFill>
                  <a:srgbClr val="172234"/>
                </a:solidFill>
                <a:latin typeface="Arial" panose="020B0604020202020204"/>
              </a:rPr>
              <a:t>CO3 — Arrays, Methods &amp; Traversal</a:t>
            </a:r>
            <a:endParaRPr lang="en-US" sz="2200" dirty="0"/>
          </a:p>
        </p:txBody>
      </p:sp>
      <p:sp>
        <p:nvSpPr>
          <p:cNvPr id="4" name="Text 1"/>
          <p:cNvSpPr/>
          <p:nvPr/>
        </p:nvSpPr>
        <p:spPr>
          <a:xfrm>
            <a:off x="886968" y="640080"/>
            <a:ext cx="10789920"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030">
                <a:solidFill>
                  <a:srgbClr val="687487"/>
                </a:solidFill>
                <a:latin typeface="Arial" panose="020B0604020202020204"/>
              </a:rPr>
              <a:t>CO3: Use one-dimensional and two-dimensional arrays with loops and methods to process donor and stock data</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p:spPr>
        <p:txBody>
          <a:bodyPr wrap="square" lIns="0" tIns="0" rIns="0" bIns="0" rtlCol="0" anchor="ctr">
            <a:normAutofit/>
          </a:bodyPr>
          <a:lstStyle/>
          <a:p>
            <a:pPr marL="0" indent="0">
              <a:buNone/>
            </a:pPr>
            <a:r>
              <a:rPr lang="en-US" sz="810" dirty="0">
                <a:solidFill>
                  <a:srgbClr val="8A929E"/>
                </a:solidFill>
                <a:latin typeface="Arial" panose="020B0604020202020204" pitchFamily="34" charset="0"/>
                <a:ea typeface="Arial" panose="020B0604020202020204" pitchFamily="34" charset="-122"/>
                <a:cs typeface="Arial" panose="020B0604020202020204" pitchFamily="34" charset="-120"/>
              </a:rPr>
              <a:t>11/10/2026</a:t>
            </a:r>
            <a:endParaRPr lang="en-US" sz="810" dirty="0"/>
          </a:p>
        </p:txBody>
      </p:sp>
      <p:sp>
        <p:nvSpPr>
          <p:cNvPr id="8" name="Text 5"/>
          <p:cNvSpPr/>
          <p:nvPr/>
        </p:nvSpPr>
        <p:spPr>
          <a:xfrm>
            <a:off x="3840480" y="6501384"/>
            <a:ext cx="4526280" cy="146304"/>
          </a:xfrm>
          <a:prstGeom prst="rect">
            <a:avLst/>
          </a:prstGeom>
          <a:noFill/>
        </p:spPr>
        <p:txBody>
          <a:bodyPr wrap="square" lIns="0" tIns="0" rIns="0" bIns="0" rtlCol="0" anchor="ctr">
            <a:normAutofit/>
          </a:bodyPr>
          <a:lstStyle/>
          <a:p>
            <a:pPr marL="0" indent="0" algn="ctr">
              <a:buNone/>
            </a:pPr>
            <a:r>
              <a:rPr lang="en-US" sz="760" dirty="0">
                <a:solidFill>
                  <a:srgbClr val="A0A7B2"/>
                </a:solidFill>
                <a:latin typeface="Arial" panose="020B0604020202020204" pitchFamily="34" charset="0"/>
                <a:ea typeface="Arial" panose="020B0604020202020204" pitchFamily="34" charset="-122"/>
                <a:cs typeface="Arial" panose="020B0604020202020204"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p:spPr>
        <p:txBody>
          <a:bodyPr wrap="square" lIns="0" tIns="0" rIns="0" bIns="0" rtlCol="0" anchor="ctr">
            <a:normAutofit/>
          </a:bodyPr>
          <a:lstStyle/>
          <a:p>
            <a:pPr marL="0" indent="0" algn="r">
              <a:buNone/>
            </a:pPr>
            <a:r>
              <a:rPr lang="en-US" sz="810" dirty="0">
                <a:solidFill>
                  <a:srgbClr val="8A929E"/>
                </a:solidFill>
                <a:latin typeface="Arial" panose="020B0604020202020204" pitchFamily="34" charset="0"/>
                <a:ea typeface="Arial" panose="020B0604020202020204" pitchFamily="34" charset="-122"/>
                <a:cs typeface="Arial" panose="020B0604020202020204" pitchFamily="34" charset="-120"/>
              </a:rPr>
              <a:t>6</a:t>
            </a:r>
            <a:endParaRPr lang="en-US" sz="810" dirty="0"/>
          </a:p>
        </p:txBody>
      </p:sp>
      <p:sp>
        <p:nvSpPr>
          <p:cNvPr id="10" name="Shape 7"/>
          <p:cNvSpPr/>
          <p:nvPr/>
        </p:nvSpPr>
        <p:spPr>
          <a:xfrm>
            <a:off x="548640" y="1298448"/>
            <a:ext cx="4590288" cy="1188720"/>
          </a:xfrm>
          <a:prstGeom prst="roundRect">
            <a:avLst>
              <a:gd name="adj" fmla="val 6154"/>
            </a:avLst>
          </a:prstGeom>
          <a:solidFill>
            <a:srgbClr val="FCEDEF"/>
          </a:solidFill>
          <a:ln w="12700">
            <a:solidFill>
              <a:srgbClr val="E8B8BE"/>
            </a:solidFill>
            <a:prstDash val="solid"/>
          </a:ln>
        </p:spPr>
      </p:sp>
      <p:sp>
        <p:nvSpPr>
          <p:cNvPr id="11" name="Text 8"/>
          <p:cNvSpPr/>
          <p:nvPr/>
        </p:nvSpPr>
        <p:spPr>
          <a:xfrm>
            <a:off x="722376" y="1417320"/>
            <a:ext cx="4251960" cy="210312"/>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120" b="1">
                <a:solidFill>
                  <a:srgbClr val="B71920"/>
                </a:solidFill>
                <a:latin typeface="Arial" panose="020B0604020202020204"/>
              </a:rPr>
              <a:t>ACTUAL ARRAYS — BLOODBANK.JAVA</a:t>
            </a:r>
            <a:endParaRPr lang="en-US" sz="1120" dirty="0"/>
          </a:p>
        </p:txBody>
      </p:sp>
      <p:sp>
        <p:nvSpPr>
          <p:cNvPr id="12" name="Shape 9"/>
          <p:cNvSpPr/>
          <p:nvPr/>
        </p:nvSpPr>
        <p:spPr>
          <a:xfrm>
            <a:off x="731520" y="1764792"/>
            <a:ext cx="804672" cy="292608"/>
          </a:xfrm>
          <a:prstGeom prst="roundRect">
            <a:avLst>
              <a:gd name="adj" fmla="val 25000"/>
            </a:avLst>
          </a:prstGeom>
          <a:solidFill>
            <a:srgbClr val="FFFFFF"/>
          </a:solidFill>
          <a:ln w="12700">
            <a:solidFill>
              <a:srgbClr val="B8D0EE"/>
            </a:solidFill>
            <a:prstDash val="solid"/>
          </a:ln>
        </p:spPr>
      </p:sp>
      <p:sp>
        <p:nvSpPr>
          <p:cNvPr id="13" name="Text 10"/>
          <p:cNvSpPr/>
          <p:nvPr/>
        </p:nvSpPr>
        <p:spPr>
          <a:xfrm>
            <a:off x="795528" y="1819656"/>
            <a:ext cx="676656" cy="182880"/>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030" b="1">
                <a:solidFill>
                  <a:srgbClr val="172234"/>
                </a:solidFill>
                <a:latin typeface="Arial" panose="020B0604020202020204"/>
              </a:rPr>
              <a:t>A+</a:t>
            </a:r>
            <a:endParaRPr lang="en-US" sz="1030" dirty="0"/>
          </a:p>
        </p:txBody>
      </p:sp>
      <p:sp>
        <p:nvSpPr>
          <p:cNvPr id="14" name="Shape 11"/>
          <p:cNvSpPr/>
          <p:nvPr/>
        </p:nvSpPr>
        <p:spPr>
          <a:xfrm>
            <a:off x="1737360" y="1764792"/>
            <a:ext cx="804672" cy="292608"/>
          </a:xfrm>
          <a:prstGeom prst="roundRect">
            <a:avLst>
              <a:gd name="adj" fmla="val 25000"/>
            </a:avLst>
          </a:prstGeom>
          <a:solidFill>
            <a:srgbClr val="EAF2FB"/>
          </a:solidFill>
          <a:ln w="12700">
            <a:solidFill>
              <a:srgbClr val="B8D0EE"/>
            </a:solidFill>
            <a:prstDash val="solid"/>
          </a:ln>
        </p:spPr>
      </p:sp>
      <p:sp>
        <p:nvSpPr>
          <p:cNvPr id="15" name="Text 12"/>
          <p:cNvSpPr/>
          <p:nvPr/>
        </p:nvSpPr>
        <p:spPr>
          <a:xfrm>
            <a:off x="1801368" y="1819656"/>
            <a:ext cx="676656" cy="182880"/>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030" b="1">
                <a:solidFill>
                  <a:srgbClr val="172234"/>
                </a:solidFill>
                <a:latin typeface="Arial" panose="020B0604020202020204"/>
              </a:rPr>
              <a:t>A-</a:t>
            </a:r>
            <a:endParaRPr lang="en-US" sz="1030" dirty="0"/>
          </a:p>
        </p:txBody>
      </p:sp>
      <p:sp>
        <p:nvSpPr>
          <p:cNvPr id="16" name="Shape 13"/>
          <p:cNvSpPr/>
          <p:nvPr/>
        </p:nvSpPr>
        <p:spPr>
          <a:xfrm>
            <a:off x="2743200" y="1764792"/>
            <a:ext cx="804672" cy="292608"/>
          </a:xfrm>
          <a:prstGeom prst="roundRect">
            <a:avLst>
              <a:gd name="adj" fmla="val 25000"/>
            </a:avLst>
          </a:prstGeom>
          <a:solidFill>
            <a:srgbClr val="EAF2FB"/>
          </a:solidFill>
          <a:ln w="12700">
            <a:solidFill>
              <a:srgbClr val="B8D0EE"/>
            </a:solidFill>
            <a:prstDash val="solid"/>
          </a:ln>
        </p:spPr>
      </p:sp>
      <p:sp>
        <p:nvSpPr>
          <p:cNvPr id="17" name="Text 14"/>
          <p:cNvSpPr/>
          <p:nvPr/>
        </p:nvSpPr>
        <p:spPr>
          <a:xfrm>
            <a:off x="2807208" y="1819656"/>
            <a:ext cx="676656" cy="182880"/>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030" b="1">
                <a:solidFill>
                  <a:srgbClr val="172234"/>
                </a:solidFill>
                <a:latin typeface="Arial" panose="020B0604020202020204"/>
              </a:rPr>
              <a:t>B+</a:t>
            </a:r>
            <a:endParaRPr lang="en-US" sz="1030" dirty="0"/>
          </a:p>
        </p:txBody>
      </p:sp>
      <p:sp>
        <p:nvSpPr>
          <p:cNvPr id="18" name="Shape 15"/>
          <p:cNvSpPr/>
          <p:nvPr/>
        </p:nvSpPr>
        <p:spPr>
          <a:xfrm>
            <a:off x="3749040" y="1764792"/>
            <a:ext cx="804672" cy="292608"/>
          </a:xfrm>
          <a:prstGeom prst="roundRect">
            <a:avLst>
              <a:gd name="adj" fmla="val 25000"/>
            </a:avLst>
          </a:prstGeom>
          <a:solidFill>
            <a:srgbClr val="FFFFFF"/>
          </a:solidFill>
          <a:ln w="12700">
            <a:solidFill>
              <a:srgbClr val="B8D0EE"/>
            </a:solidFill>
            <a:prstDash val="solid"/>
          </a:ln>
        </p:spPr>
      </p:sp>
      <p:sp>
        <p:nvSpPr>
          <p:cNvPr id="19" name="Text 16"/>
          <p:cNvSpPr/>
          <p:nvPr/>
        </p:nvSpPr>
        <p:spPr>
          <a:xfrm>
            <a:off x="3813048" y="1819656"/>
            <a:ext cx="676656" cy="182880"/>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030" b="1">
                <a:solidFill>
                  <a:srgbClr val="172234"/>
                </a:solidFill>
                <a:latin typeface="Arial" panose="020B0604020202020204"/>
              </a:rPr>
              <a:t>B-</a:t>
            </a:r>
            <a:endParaRPr lang="en-US" sz="1030" dirty="0"/>
          </a:p>
        </p:txBody>
      </p:sp>
      <p:sp>
        <p:nvSpPr>
          <p:cNvPr id="20" name="Shape 17"/>
          <p:cNvSpPr/>
          <p:nvPr/>
        </p:nvSpPr>
        <p:spPr>
          <a:xfrm>
            <a:off x="731520" y="2167128"/>
            <a:ext cx="804672" cy="292608"/>
          </a:xfrm>
          <a:prstGeom prst="roundRect">
            <a:avLst>
              <a:gd name="adj" fmla="val 25000"/>
            </a:avLst>
          </a:prstGeom>
          <a:solidFill>
            <a:srgbClr val="EAF2FB"/>
          </a:solidFill>
          <a:ln w="12700">
            <a:solidFill>
              <a:srgbClr val="B8D0EE"/>
            </a:solidFill>
            <a:prstDash val="solid"/>
          </a:ln>
        </p:spPr>
      </p:sp>
      <p:sp>
        <p:nvSpPr>
          <p:cNvPr id="21" name="Text 18"/>
          <p:cNvSpPr/>
          <p:nvPr/>
        </p:nvSpPr>
        <p:spPr>
          <a:xfrm>
            <a:off x="795528" y="2221992"/>
            <a:ext cx="676656" cy="182880"/>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030" b="1">
                <a:solidFill>
                  <a:srgbClr val="172234"/>
                </a:solidFill>
                <a:latin typeface="Arial" panose="020B0604020202020204"/>
              </a:rPr>
              <a:t>AB+</a:t>
            </a:r>
            <a:endParaRPr lang="en-US" sz="1030" dirty="0"/>
          </a:p>
        </p:txBody>
      </p:sp>
      <p:sp>
        <p:nvSpPr>
          <p:cNvPr id="22" name="Shape 19"/>
          <p:cNvSpPr/>
          <p:nvPr/>
        </p:nvSpPr>
        <p:spPr>
          <a:xfrm>
            <a:off x="1737360" y="2167128"/>
            <a:ext cx="804672" cy="292608"/>
          </a:xfrm>
          <a:prstGeom prst="roundRect">
            <a:avLst>
              <a:gd name="adj" fmla="val 25000"/>
            </a:avLst>
          </a:prstGeom>
          <a:solidFill>
            <a:srgbClr val="EAF2FB"/>
          </a:solidFill>
          <a:ln w="12700">
            <a:solidFill>
              <a:srgbClr val="B8D0EE"/>
            </a:solidFill>
            <a:prstDash val="solid"/>
          </a:ln>
        </p:spPr>
      </p:sp>
      <p:sp>
        <p:nvSpPr>
          <p:cNvPr id="23" name="Text 20"/>
          <p:cNvSpPr/>
          <p:nvPr/>
        </p:nvSpPr>
        <p:spPr>
          <a:xfrm>
            <a:off x="1801368" y="2221992"/>
            <a:ext cx="676656" cy="182880"/>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030" b="1">
                <a:solidFill>
                  <a:srgbClr val="172234"/>
                </a:solidFill>
                <a:latin typeface="Arial" panose="020B0604020202020204"/>
              </a:rPr>
              <a:t>AB-</a:t>
            </a:r>
            <a:endParaRPr lang="en-US" sz="1030" dirty="0"/>
          </a:p>
        </p:txBody>
      </p:sp>
      <p:sp>
        <p:nvSpPr>
          <p:cNvPr id="24" name="Shape 21"/>
          <p:cNvSpPr/>
          <p:nvPr/>
        </p:nvSpPr>
        <p:spPr>
          <a:xfrm>
            <a:off x="2743200" y="2167128"/>
            <a:ext cx="804672" cy="292608"/>
          </a:xfrm>
          <a:prstGeom prst="roundRect">
            <a:avLst>
              <a:gd name="adj" fmla="val 25000"/>
            </a:avLst>
          </a:prstGeom>
          <a:solidFill>
            <a:srgbClr val="FFFFFF"/>
          </a:solidFill>
          <a:ln w="12700">
            <a:solidFill>
              <a:srgbClr val="B8D0EE"/>
            </a:solidFill>
            <a:prstDash val="solid"/>
          </a:ln>
        </p:spPr>
      </p:sp>
      <p:sp>
        <p:nvSpPr>
          <p:cNvPr id="25" name="Text 22"/>
          <p:cNvSpPr/>
          <p:nvPr/>
        </p:nvSpPr>
        <p:spPr>
          <a:xfrm>
            <a:off x="2807208" y="2221992"/>
            <a:ext cx="676656" cy="182880"/>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030" b="1">
                <a:solidFill>
                  <a:srgbClr val="172234"/>
                </a:solidFill>
                <a:latin typeface="Arial" panose="020B0604020202020204"/>
              </a:rPr>
              <a:t>O+</a:t>
            </a:r>
            <a:endParaRPr lang="en-US" sz="1030" dirty="0"/>
          </a:p>
        </p:txBody>
      </p:sp>
      <p:sp>
        <p:nvSpPr>
          <p:cNvPr id="26" name="Shape 23"/>
          <p:cNvSpPr/>
          <p:nvPr/>
        </p:nvSpPr>
        <p:spPr>
          <a:xfrm>
            <a:off x="3749040" y="2167128"/>
            <a:ext cx="804672" cy="292608"/>
          </a:xfrm>
          <a:prstGeom prst="roundRect">
            <a:avLst>
              <a:gd name="adj" fmla="val 25000"/>
            </a:avLst>
          </a:prstGeom>
          <a:solidFill>
            <a:srgbClr val="EAF2FB"/>
          </a:solidFill>
          <a:ln w="12700">
            <a:solidFill>
              <a:srgbClr val="B8D0EE"/>
            </a:solidFill>
            <a:prstDash val="solid"/>
          </a:ln>
        </p:spPr>
      </p:sp>
      <p:sp>
        <p:nvSpPr>
          <p:cNvPr id="27" name="Text 24"/>
          <p:cNvSpPr/>
          <p:nvPr/>
        </p:nvSpPr>
        <p:spPr>
          <a:xfrm>
            <a:off x="3813048" y="2221992"/>
            <a:ext cx="676656" cy="182880"/>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030" b="1">
                <a:solidFill>
                  <a:srgbClr val="172234"/>
                </a:solidFill>
                <a:latin typeface="Arial" panose="020B0604020202020204"/>
              </a:rPr>
              <a:t>O-</a:t>
            </a:r>
            <a:endParaRPr lang="en-US" sz="1030" dirty="0"/>
          </a:p>
        </p:txBody>
      </p:sp>
      <p:sp>
        <p:nvSpPr>
          <p:cNvPr id="28" name="Shape 25"/>
          <p:cNvSpPr/>
          <p:nvPr/>
        </p:nvSpPr>
        <p:spPr>
          <a:xfrm>
            <a:off x="548640" y="2660904"/>
            <a:ext cx="4590288" cy="2359152"/>
          </a:xfrm>
          <a:prstGeom prst="roundRect">
            <a:avLst>
              <a:gd name="adj" fmla="val 3101"/>
            </a:avLst>
          </a:prstGeom>
          <a:solidFill>
            <a:srgbClr val="172234"/>
          </a:solidFill>
          <a:ln w="12700">
            <a:solidFill>
              <a:srgbClr val="172234"/>
            </a:solidFill>
            <a:prstDash val="solid"/>
          </a:ln>
        </p:spPr>
      </p:sp>
      <p:sp>
        <p:nvSpPr>
          <p:cNvPr id="29" name="Text 26"/>
          <p:cNvSpPr/>
          <p:nvPr/>
        </p:nvSpPr>
        <p:spPr>
          <a:xfrm>
            <a:off x="713232" y="2761488"/>
            <a:ext cx="4261104"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00" b="1">
                <a:solidFill>
                  <a:srgbClr val="F2B8BD"/>
                </a:solidFill>
                <a:latin typeface="Arial" panose="020B0604020202020204"/>
              </a:rPr>
              <a:t>ARRAY DECLARATION — BLOODBANK.JAVA</a:t>
            </a:r>
            <a:endParaRPr lang="en-US" sz="900" dirty="0"/>
          </a:p>
        </p:txBody>
      </p:sp>
      <p:sp>
        <p:nvSpPr>
          <p:cNvPr id="30" name="Shape 27"/>
          <p:cNvSpPr/>
          <p:nvPr/>
        </p:nvSpPr>
        <p:spPr>
          <a:xfrm>
            <a:off x="685800" y="3017520"/>
            <a:ext cx="4315968" cy="0"/>
          </a:xfrm>
          <a:prstGeom prst="line">
            <a:avLst/>
          </a:prstGeom>
          <a:noFill/>
          <a:ln w="8890">
            <a:solidFill>
              <a:srgbClr val="42506A"/>
            </a:solidFill>
            <a:prstDash val="solid"/>
          </a:ln>
        </p:spPr>
      </p:sp>
      <p:sp>
        <p:nvSpPr>
          <p:cNvPr id="31" name="Text 28"/>
          <p:cNvSpPr/>
          <p:nvPr/>
        </p:nvSpPr>
        <p:spPr>
          <a:xfrm>
            <a:off x="704088" y="3118104"/>
            <a:ext cx="4279392" cy="1810512"/>
          </a:xfrm>
          <a:prstGeom prst="rect">
            <a:avLst/>
          </a:prstGeom>
          <a:noFill/>
        </p:spPr>
        <p:txBody>
          <a:bodyPr wrap="square" lIns="127" tIns="127" rIns="127" bIns="127" rtlCol="0" anchor="t"/>
          <a:lstStyle/>
          <a:p>
            <a:pPr marL="0" indent="0" algn="l">
              <a:lnSpc>
                <a:spcPct val="100000"/>
              </a:lnSpc>
              <a:spcBef>
                <a:spcPts val="0"/>
              </a:spcBef>
              <a:spcAft>
                <a:spcPts val="0"/>
              </a:spcAft>
              <a:buNone/>
            </a:pPr>
            <a:r>
              <a:rPr sz="1140">
                <a:solidFill>
                  <a:srgbClr val="EAF0F8"/>
                </a:solidFill>
                <a:latin typeface="Liberation Mono"/>
              </a:rPr>
              <a:t>static String[] groups = {</a:t>
            </a:r>
            <a:endParaRPr lang="en-US" sz="900" dirty="0"/>
          </a:p>
          <a:p>
            <a:pPr algn="l">
              <a:lnSpc>
                <a:spcPct val="100000"/>
              </a:lnSpc>
              <a:spcBef>
                <a:spcPts val="0"/>
              </a:spcBef>
              <a:spcAft>
                <a:spcPts val="0"/>
              </a:spcAft>
            </a:pPr>
            <a:r>
              <a:rPr sz="1140">
                <a:solidFill>
                  <a:srgbClr val="EAF0F8"/>
                </a:solidFill>
                <a:latin typeface="Liberation Mono"/>
              </a:rPr>
              <a:t>    "A+", "A-", "B+", "B-",</a:t>
            </a:r>
            <a:endParaRPr sz="1140">
              <a:solidFill>
                <a:srgbClr val="EAF0F8"/>
              </a:solidFill>
              <a:latin typeface="Liberation Mono"/>
            </a:endParaRPr>
          </a:p>
          <a:p>
            <a:pPr algn="l">
              <a:lnSpc>
                <a:spcPct val="100000"/>
              </a:lnSpc>
              <a:spcBef>
                <a:spcPts val="0"/>
              </a:spcBef>
              <a:spcAft>
                <a:spcPts val="0"/>
              </a:spcAft>
            </a:pPr>
            <a:r>
              <a:rPr sz="1140">
                <a:solidFill>
                  <a:srgbClr val="EAF0F8"/>
                </a:solidFill>
                <a:latin typeface="Liberation Mono"/>
              </a:rPr>
              <a:t>    "AB+", "AB-", "O+", "O-"</a:t>
            </a:r>
            <a:endParaRPr sz="1140">
              <a:solidFill>
                <a:srgbClr val="EAF0F8"/>
              </a:solidFill>
              <a:latin typeface="Liberation Mono"/>
            </a:endParaRPr>
          </a:p>
          <a:p>
            <a:pPr algn="l">
              <a:lnSpc>
                <a:spcPct val="100000"/>
              </a:lnSpc>
              <a:spcBef>
                <a:spcPts val="0"/>
              </a:spcBef>
              <a:spcAft>
                <a:spcPts val="0"/>
              </a:spcAft>
            </a:pPr>
            <a:r>
              <a:rPr sz="1140">
                <a:solidFill>
                  <a:srgbClr val="EAF0F8"/>
                </a:solidFill>
                <a:latin typeface="Liberation Mono"/>
              </a:rPr>
              <a:t>};</a:t>
            </a:r>
            <a:endParaRPr sz="1140">
              <a:solidFill>
                <a:srgbClr val="EAF0F8"/>
              </a:solidFill>
              <a:latin typeface="Liberation Mono"/>
            </a:endParaRPr>
          </a:p>
          <a:p>
            <a:pPr algn="l">
              <a:lnSpc>
                <a:spcPct val="100000"/>
              </a:lnSpc>
              <a:spcBef>
                <a:spcPts val="0"/>
              </a:spcBef>
              <a:spcAft>
                <a:spcPts val="0"/>
              </a:spcAft>
            </a:pPr>
            <a:r>
              <a:rPr sz="1140">
                <a:solidFill>
                  <a:srgbClr val="EAF0F8"/>
                </a:solidFill>
                <a:latin typeface="Liberation Mono"/>
              </a:rPr>
              <a:t>static int[] stock = new int[8];</a:t>
            </a:r>
            <a:endParaRPr sz="1140">
              <a:solidFill>
                <a:srgbClr val="EAF0F8"/>
              </a:solidFill>
              <a:latin typeface="Liberation Mono"/>
            </a:endParaRPr>
          </a:p>
        </p:txBody>
      </p:sp>
      <p:sp>
        <p:nvSpPr>
          <p:cNvPr id="32" name="Shape 29"/>
          <p:cNvSpPr/>
          <p:nvPr/>
        </p:nvSpPr>
        <p:spPr>
          <a:xfrm>
            <a:off x="557784" y="5202936"/>
            <a:ext cx="4572000" cy="713232"/>
          </a:xfrm>
          <a:prstGeom prst="roundRect">
            <a:avLst>
              <a:gd name="adj" fmla="val 10256"/>
            </a:avLst>
          </a:prstGeom>
          <a:solidFill>
            <a:srgbClr val="F7F9FC"/>
          </a:solidFill>
          <a:ln w="12700">
            <a:solidFill>
              <a:srgbClr val="E1E6ED"/>
            </a:solidFill>
            <a:prstDash val="solid"/>
          </a:ln>
        </p:spPr>
      </p:sp>
      <p:sp>
        <p:nvSpPr>
          <p:cNvPr id="33" name="Text 30"/>
          <p:cNvSpPr/>
          <p:nvPr/>
        </p:nvSpPr>
        <p:spPr>
          <a:xfrm>
            <a:off x="667512" y="5257800"/>
            <a:ext cx="4352544" cy="603504"/>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80">
                <a:solidFill>
                  <a:srgbClr val="687487"/>
                </a:solidFill>
                <a:latin typeface="Arial" panose="020B0604020202020204"/>
              </a:rPr>
              <a:t>The groups array stores eight labels; stock uses the same index for each unit count. The program searches and updates these arrays with loops. This version does not use recursion.</a:t>
            </a:r>
            <a:endParaRPr lang="en-US" sz="980" dirty="0"/>
          </a:p>
        </p:txBody>
      </p:sp>
      <p:sp>
        <p:nvSpPr>
          <p:cNvPr id="34" name="Shape 31"/>
          <p:cNvSpPr/>
          <p:nvPr/>
        </p:nvSpPr>
        <p:spPr>
          <a:xfrm>
            <a:off x="5330952" y="1298448"/>
            <a:ext cx="6291072" cy="4617720"/>
          </a:xfrm>
          <a:prstGeom prst="roundRect">
            <a:avLst>
              <a:gd name="adj" fmla="val 1584"/>
            </a:avLst>
          </a:prstGeom>
          <a:solidFill>
            <a:srgbClr val="F7F9FC"/>
          </a:solidFill>
          <a:ln w="12700">
            <a:solidFill>
              <a:srgbClr val="E1E6ED"/>
            </a:solidFill>
            <a:prstDash val="solid"/>
          </a:ln>
        </p:spPr>
      </p:sp>
      <p:sp>
        <p:nvSpPr>
          <p:cNvPr id="35" name="Text 32"/>
          <p:cNvSpPr/>
          <p:nvPr/>
        </p:nvSpPr>
        <p:spPr>
          <a:xfrm>
            <a:off x="5532120" y="1417320"/>
            <a:ext cx="5897880" cy="237744"/>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110" b="1">
                <a:solidFill>
                  <a:srgbClr val="214D7B"/>
                </a:solidFill>
                <a:latin typeface="Arial" panose="020B0604020202020204"/>
              </a:rPr>
              <a:t>2D BOOLEAN ARRAY — COMPATIBILITY ROW → COLUMN</a:t>
            </a:r>
            <a:endParaRPr lang="en-US" sz="1110" dirty="0"/>
          </a:p>
        </p:txBody>
      </p:sp>
      <p:sp>
        <p:nvSpPr>
          <p:cNvPr id="36" name="Text 33"/>
          <p:cNvSpPr/>
          <p:nvPr/>
        </p:nvSpPr>
        <p:spPr>
          <a:xfrm>
            <a:off x="5532120" y="1682496"/>
            <a:ext cx="5897880"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30">
                <a:solidFill>
                  <a:srgbClr val="687487"/>
                </a:solidFill>
                <a:latin typeface="Arial" panose="020B0604020202020204"/>
              </a:rPr>
              <a:t>Y = true in the current code array  •  – = false</a:t>
            </a:r>
            <a:endParaRPr lang="en-US" sz="930" dirty="0"/>
          </a:p>
        </p:txBody>
      </p:sp>
      <p:sp>
        <p:nvSpPr>
          <p:cNvPr id="37" name="Text 34"/>
          <p:cNvSpPr/>
          <p:nvPr/>
        </p:nvSpPr>
        <p:spPr>
          <a:xfrm>
            <a:off x="6428232" y="1965960"/>
            <a:ext cx="493776"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830" b="1">
                <a:solidFill>
                  <a:srgbClr val="172234"/>
                </a:solidFill>
                <a:latin typeface="Arial" panose="020B0604020202020204"/>
              </a:rPr>
              <a:t>A+</a:t>
            </a:r>
            <a:endParaRPr lang="en-US" sz="830" dirty="0"/>
          </a:p>
        </p:txBody>
      </p:sp>
      <p:sp>
        <p:nvSpPr>
          <p:cNvPr id="38" name="Text 35"/>
          <p:cNvSpPr/>
          <p:nvPr/>
        </p:nvSpPr>
        <p:spPr>
          <a:xfrm>
            <a:off x="6922008" y="1965960"/>
            <a:ext cx="493776"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830" b="1">
                <a:solidFill>
                  <a:srgbClr val="172234"/>
                </a:solidFill>
                <a:latin typeface="Arial" panose="020B0604020202020204"/>
              </a:rPr>
              <a:t>A-</a:t>
            </a:r>
            <a:endParaRPr lang="en-US" sz="830" dirty="0"/>
          </a:p>
        </p:txBody>
      </p:sp>
      <p:sp>
        <p:nvSpPr>
          <p:cNvPr id="39" name="Text 36"/>
          <p:cNvSpPr/>
          <p:nvPr/>
        </p:nvSpPr>
        <p:spPr>
          <a:xfrm>
            <a:off x="7415784" y="1965960"/>
            <a:ext cx="493776"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830" b="1">
                <a:solidFill>
                  <a:srgbClr val="172234"/>
                </a:solidFill>
                <a:latin typeface="Arial" panose="020B0604020202020204"/>
              </a:rPr>
              <a:t>B+</a:t>
            </a:r>
            <a:endParaRPr lang="en-US" sz="830" dirty="0"/>
          </a:p>
        </p:txBody>
      </p:sp>
      <p:sp>
        <p:nvSpPr>
          <p:cNvPr id="40" name="Text 37"/>
          <p:cNvSpPr/>
          <p:nvPr/>
        </p:nvSpPr>
        <p:spPr>
          <a:xfrm>
            <a:off x="7909560" y="1965960"/>
            <a:ext cx="493776"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830" b="1">
                <a:solidFill>
                  <a:srgbClr val="172234"/>
                </a:solidFill>
                <a:latin typeface="Arial" panose="020B0604020202020204"/>
              </a:rPr>
              <a:t>B-</a:t>
            </a:r>
            <a:endParaRPr lang="en-US" sz="830" dirty="0"/>
          </a:p>
        </p:txBody>
      </p:sp>
      <p:sp>
        <p:nvSpPr>
          <p:cNvPr id="41" name="Text 38"/>
          <p:cNvSpPr/>
          <p:nvPr/>
        </p:nvSpPr>
        <p:spPr>
          <a:xfrm>
            <a:off x="8403336" y="1965960"/>
            <a:ext cx="493776"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830" b="1">
                <a:solidFill>
                  <a:srgbClr val="172234"/>
                </a:solidFill>
                <a:latin typeface="Arial" panose="020B0604020202020204"/>
              </a:rPr>
              <a:t>AB+</a:t>
            </a:r>
            <a:endParaRPr lang="en-US" sz="830" dirty="0"/>
          </a:p>
        </p:txBody>
      </p:sp>
      <p:sp>
        <p:nvSpPr>
          <p:cNvPr id="42" name="Text 39"/>
          <p:cNvSpPr/>
          <p:nvPr/>
        </p:nvSpPr>
        <p:spPr>
          <a:xfrm>
            <a:off x="8897112" y="1965960"/>
            <a:ext cx="493776"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830" b="1">
                <a:solidFill>
                  <a:srgbClr val="172234"/>
                </a:solidFill>
                <a:latin typeface="Arial" panose="020B0604020202020204"/>
              </a:rPr>
              <a:t>AB-</a:t>
            </a:r>
            <a:endParaRPr lang="en-US" sz="830" dirty="0"/>
          </a:p>
        </p:txBody>
      </p:sp>
      <p:sp>
        <p:nvSpPr>
          <p:cNvPr id="43" name="Text 40"/>
          <p:cNvSpPr/>
          <p:nvPr/>
        </p:nvSpPr>
        <p:spPr>
          <a:xfrm>
            <a:off x="9390888" y="1965960"/>
            <a:ext cx="493776"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830" b="1">
                <a:solidFill>
                  <a:srgbClr val="172234"/>
                </a:solidFill>
                <a:latin typeface="Arial" panose="020B0604020202020204"/>
              </a:rPr>
              <a:t>O+</a:t>
            </a:r>
            <a:endParaRPr lang="en-US" sz="830" dirty="0"/>
          </a:p>
        </p:txBody>
      </p:sp>
      <p:sp>
        <p:nvSpPr>
          <p:cNvPr id="44" name="Text 41"/>
          <p:cNvSpPr/>
          <p:nvPr/>
        </p:nvSpPr>
        <p:spPr>
          <a:xfrm>
            <a:off x="9884664" y="1965960"/>
            <a:ext cx="493776"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830" b="1">
                <a:solidFill>
                  <a:srgbClr val="172234"/>
                </a:solidFill>
                <a:latin typeface="Arial" panose="020B0604020202020204"/>
              </a:rPr>
              <a:t>O-</a:t>
            </a:r>
            <a:endParaRPr lang="en-US" sz="830" dirty="0"/>
          </a:p>
        </p:txBody>
      </p:sp>
      <p:sp>
        <p:nvSpPr>
          <p:cNvPr id="45" name="Text 42"/>
          <p:cNvSpPr/>
          <p:nvPr/>
        </p:nvSpPr>
        <p:spPr>
          <a:xfrm>
            <a:off x="5696712" y="2212848"/>
            <a:ext cx="512064" cy="228600"/>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880" b="1">
                <a:solidFill>
                  <a:srgbClr val="172234"/>
                </a:solidFill>
                <a:latin typeface="Arial" panose="020B0604020202020204"/>
              </a:rPr>
              <a:t>A+</a:t>
            </a:r>
            <a:endParaRPr lang="en-US" sz="880" dirty="0"/>
          </a:p>
        </p:txBody>
      </p:sp>
      <p:sp>
        <p:nvSpPr>
          <p:cNvPr id="46" name="Shape 43"/>
          <p:cNvSpPr/>
          <p:nvPr/>
        </p:nvSpPr>
        <p:spPr>
          <a:xfrm>
            <a:off x="6428232" y="2212848"/>
            <a:ext cx="461772" cy="306324"/>
          </a:xfrm>
          <a:prstGeom prst="rect">
            <a:avLst/>
          </a:prstGeom>
          <a:solidFill>
            <a:srgbClr val="EAF6EF"/>
          </a:solidFill>
          <a:ln w="5715">
            <a:solidFill>
              <a:srgbClr val="B9DCC6"/>
            </a:solidFill>
            <a:prstDash val="solid"/>
          </a:ln>
        </p:spPr>
      </p:sp>
      <p:sp>
        <p:nvSpPr>
          <p:cNvPr id="47" name="Text 44"/>
          <p:cNvSpPr/>
          <p:nvPr/>
        </p:nvSpPr>
        <p:spPr>
          <a:xfrm>
            <a:off x="6428232" y="2221992"/>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panose="020B0604020202020204"/>
              </a:rPr>
              <a:t>Y</a:t>
            </a:r>
            <a:endParaRPr lang="en-US" sz="910" dirty="0"/>
          </a:p>
        </p:txBody>
      </p:sp>
      <p:sp>
        <p:nvSpPr>
          <p:cNvPr id="48" name="Shape 45"/>
          <p:cNvSpPr/>
          <p:nvPr/>
        </p:nvSpPr>
        <p:spPr>
          <a:xfrm>
            <a:off x="6922008" y="2212848"/>
            <a:ext cx="461772" cy="306324"/>
          </a:xfrm>
          <a:prstGeom prst="rect">
            <a:avLst/>
          </a:prstGeom>
          <a:solidFill>
            <a:srgbClr val="EAF6EF"/>
          </a:solidFill>
          <a:ln w="5715">
            <a:solidFill>
              <a:srgbClr val="B9DCC6"/>
            </a:solidFill>
            <a:prstDash val="solid"/>
          </a:ln>
        </p:spPr>
      </p:sp>
      <p:sp>
        <p:nvSpPr>
          <p:cNvPr id="49" name="Text 46"/>
          <p:cNvSpPr/>
          <p:nvPr/>
        </p:nvSpPr>
        <p:spPr>
          <a:xfrm>
            <a:off x="6922008" y="2221992"/>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panose="020B0604020202020204"/>
              </a:rPr>
              <a:t>–</a:t>
            </a:r>
            <a:endParaRPr lang="en-US" sz="910" dirty="0"/>
          </a:p>
        </p:txBody>
      </p:sp>
      <p:sp>
        <p:nvSpPr>
          <p:cNvPr id="50" name="Shape 47"/>
          <p:cNvSpPr/>
          <p:nvPr/>
        </p:nvSpPr>
        <p:spPr>
          <a:xfrm>
            <a:off x="7415784" y="2212848"/>
            <a:ext cx="461772" cy="306324"/>
          </a:xfrm>
          <a:prstGeom prst="rect">
            <a:avLst/>
          </a:prstGeom>
          <a:solidFill>
            <a:srgbClr val="EAF6EF"/>
          </a:solidFill>
          <a:ln w="5715">
            <a:solidFill>
              <a:srgbClr val="B9DCC6"/>
            </a:solidFill>
            <a:prstDash val="solid"/>
          </a:ln>
        </p:spPr>
      </p:sp>
      <p:sp>
        <p:nvSpPr>
          <p:cNvPr id="51" name="Text 48"/>
          <p:cNvSpPr/>
          <p:nvPr/>
        </p:nvSpPr>
        <p:spPr>
          <a:xfrm>
            <a:off x="7415784" y="2221992"/>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panose="020B0604020202020204"/>
              </a:rPr>
              <a:t>–</a:t>
            </a:r>
            <a:endParaRPr lang="en-US" sz="910" dirty="0"/>
          </a:p>
        </p:txBody>
      </p:sp>
      <p:sp>
        <p:nvSpPr>
          <p:cNvPr id="52" name="Shape 49"/>
          <p:cNvSpPr/>
          <p:nvPr/>
        </p:nvSpPr>
        <p:spPr>
          <a:xfrm>
            <a:off x="7909560" y="2212848"/>
            <a:ext cx="461772" cy="306324"/>
          </a:xfrm>
          <a:prstGeom prst="rect">
            <a:avLst/>
          </a:prstGeom>
          <a:solidFill>
            <a:srgbClr val="EAF6EF"/>
          </a:solidFill>
          <a:ln w="5715">
            <a:solidFill>
              <a:srgbClr val="B9DCC6"/>
            </a:solidFill>
            <a:prstDash val="solid"/>
          </a:ln>
        </p:spPr>
      </p:sp>
      <p:sp>
        <p:nvSpPr>
          <p:cNvPr id="53" name="Text 50"/>
          <p:cNvSpPr/>
          <p:nvPr/>
        </p:nvSpPr>
        <p:spPr>
          <a:xfrm>
            <a:off x="7909560" y="2221992"/>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panose="020B0604020202020204"/>
              </a:rPr>
              <a:t>–</a:t>
            </a:r>
            <a:endParaRPr lang="en-US" sz="910" dirty="0"/>
          </a:p>
        </p:txBody>
      </p:sp>
      <p:sp>
        <p:nvSpPr>
          <p:cNvPr id="54" name="Shape 51"/>
          <p:cNvSpPr/>
          <p:nvPr/>
        </p:nvSpPr>
        <p:spPr>
          <a:xfrm>
            <a:off x="8403336" y="2212848"/>
            <a:ext cx="461772" cy="306324"/>
          </a:xfrm>
          <a:prstGeom prst="rect">
            <a:avLst/>
          </a:prstGeom>
          <a:solidFill>
            <a:srgbClr val="EAF6EF"/>
          </a:solidFill>
          <a:ln w="5715">
            <a:solidFill>
              <a:srgbClr val="B9DCC6"/>
            </a:solidFill>
            <a:prstDash val="solid"/>
          </a:ln>
        </p:spPr>
      </p:sp>
      <p:sp>
        <p:nvSpPr>
          <p:cNvPr id="55" name="Text 52"/>
          <p:cNvSpPr/>
          <p:nvPr/>
        </p:nvSpPr>
        <p:spPr>
          <a:xfrm>
            <a:off x="8403336" y="2221992"/>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panose="020B0604020202020204"/>
              </a:rPr>
              <a:t>–</a:t>
            </a:r>
            <a:endParaRPr lang="en-US" sz="910" dirty="0"/>
          </a:p>
        </p:txBody>
      </p:sp>
      <p:sp>
        <p:nvSpPr>
          <p:cNvPr id="56" name="Shape 53"/>
          <p:cNvSpPr/>
          <p:nvPr/>
        </p:nvSpPr>
        <p:spPr>
          <a:xfrm>
            <a:off x="8897112" y="2212848"/>
            <a:ext cx="461772" cy="306324"/>
          </a:xfrm>
          <a:prstGeom prst="rect">
            <a:avLst/>
          </a:prstGeom>
          <a:solidFill>
            <a:srgbClr val="EAF6EF"/>
          </a:solidFill>
          <a:ln w="5715">
            <a:solidFill>
              <a:srgbClr val="B9DCC6"/>
            </a:solidFill>
            <a:prstDash val="solid"/>
          </a:ln>
        </p:spPr>
      </p:sp>
      <p:sp>
        <p:nvSpPr>
          <p:cNvPr id="57" name="Text 54"/>
          <p:cNvSpPr/>
          <p:nvPr/>
        </p:nvSpPr>
        <p:spPr>
          <a:xfrm>
            <a:off x="8897112" y="2221992"/>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panose="020B0604020202020204"/>
              </a:rPr>
              <a:t>–</a:t>
            </a:r>
            <a:endParaRPr lang="en-US" sz="910" dirty="0"/>
          </a:p>
        </p:txBody>
      </p:sp>
      <p:sp>
        <p:nvSpPr>
          <p:cNvPr id="58" name="Shape 55"/>
          <p:cNvSpPr/>
          <p:nvPr/>
        </p:nvSpPr>
        <p:spPr>
          <a:xfrm>
            <a:off x="9390888" y="2212848"/>
            <a:ext cx="461772" cy="306324"/>
          </a:xfrm>
          <a:prstGeom prst="rect">
            <a:avLst/>
          </a:prstGeom>
          <a:solidFill>
            <a:srgbClr val="EAF6EF"/>
          </a:solidFill>
          <a:ln w="5715">
            <a:solidFill>
              <a:srgbClr val="B9DCC6"/>
            </a:solidFill>
            <a:prstDash val="solid"/>
          </a:ln>
        </p:spPr>
      </p:sp>
      <p:sp>
        <p:nvSpPr>
          <p:cNvPr id="59" name="Text 56"/>
          <p:cNvSpPr/>
          <p:nvPr/>
        </p:nvSpPr>
        <p:spPr>
          <a:xfrm>
            <a:off x="9390888" y="2221992"/>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panose="020B0604020202020204"/>
              </a:rPr>
              <a:t>–</a:t>
            </a:r>
            <a:endParaRPr lang="en-US" sz="910" dirty="0"/>
          </a:p>
        </p:txBody>
      </p:sp>
      <p:sp>
        <p:nvSpPr>
          <p:cNvPr id="60" name="Shape 57"/>
          <p:cNvSpPr/>
          <p:nvPr/>
        </p:nvSpPr>
        <p:spPr>
          <a:xfrm>
            <a:off x="9884664" y="2212848"/>
            <a:ext cx="461772" cy="306324"/>
          </a:xfrm>
          <a:prstGeom prst="rect">
            <a:avLst/>
          </a:prstGeom>
          <a:solidFill>
            <a:srgbClr val="EAF6EF"/>
          </a:solidFill>
          <a:ln w="5715">
            <a:solidFill>
              <a:srgbClr val="B9DCC6"/>
            </a:solidFill>
            <a:prstDash val="solid"/>
          </a:ln>
        </p:spPr>
      </p:sp>
      <p:sp>
        <p:nvSpPr>
          <p:cNvPr id="61" name="Text 58"/>
          <p:cNvSpPr/>
          <p:nvPr/>
        </p:nvSpPr>
        <p:spPr>
          <a:xfrm>
            <a:off x="9884664" y="2221992"/>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panose="020B0604020202020204"/>
              </a:rPr>
              <a:t>–</a:t>
            </a:r>
            <a:endParaRPr lang="en-US" sz="910" dirty="0"/>
          </a:p>
        </p:txBody>
      </p:sp>
      <p:sp>
        <p:nvSpPr>
          <p:cNvPr id="62" name="Text 59"/>
          <p:cNvSpPr/>
          <p:nvPr/>
        </p:nvSpPr>
        <p:spPr>
          <a:xfrm>
            <a:off x="5696712" y="2583180"/>
            <a:ext cx="512064" cy="228600"/>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880" b="1">
                <a:solidFill>
                  <a:srgbClr val="172234"/>
                </a:solidFill>
                <a:latin typeface="Arial" panose="020B0604020202020204"/>
              </a:rPr>
              <a:t>A-</a:t>
            </a:r>
            <a:endParaRPr lang="en-US" sz="880" dirty="0"/>
          </a:p>
        </p:txBody>
      </p:sp>
      <p:sp>
        <p:nvSpPr>
          <p:cNvPr id="63" name="Shape 60"/>
          <p:cNvSpPr/>
          <p:nvPr/>
        </p:nvSpPr>
        <p:spPr>
          <a:xfrm>
            <a:off x="6428232" y="2583180"/>
            <a:ext cx="461772" cy="306324"/>
          </a:xfrm>
          <a:prstGeom prst="rect">
            <a:avLst/>
          </a:prstGeom>
          <a:solidFill>
            <a:srgbClr val="FFFFFF"/>
          </a:solidFill>
          <a:ln w="5715">
            <a:solidFill>
              <a:srgbClr val="E5E9EF"/>
            </a:solidFill>
            <a:prstDash val="solid"/>
          </a:ln>
        </p:spPr>
      </p:sp>
      <p:sp>
        <p:nvSpPr>
          <p:cNvPr id="64" name="Text 61"/>
          <p:cNvSpPr/>
          <p:nvPr/>
        </p:nvSpPr>
        <p:spPr>
          <a:xfrm>
            <a:off x="6428232" y="2592324"/>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Y</a:t>
            </a:r>
            <a:endParaRPr lang="en-US" sz="910" dirty="0"/>
          </a:p>
        </p:txBody>
      </p:sp>
      <p:sp>
        <p:nvSpPr>
          <p:cNvPr id="65" name="Shape 62"/>
          <p:cNvSpPr/>
          <p:nvPr/>
        </p:nvSpPr>
        <p:spPr>
          <a:xfrm>
            <a:off x="6922008" y="2583180"/>
            <a:ext cx="461772" cy="306324"/>
          </a:xfrm>
          <a:prstGeom prst="rect">
            <a:avLst/>
          </a:prstGeom>
          <a:solidFill>
            <a:srgbClr val="EAF6EF"/>
          </a:solidFill>
          <a:ln w="5715">
            <a:solidFill>
              <a:srgbClr val="B9DCC6"/>
            </a:solidFill>
            <a:prstDash val="solid"/>
          </a:ln>
        </p:spPr>
      </p:sp>
      <p:sp>
        <p:nvSpPr>
          <p:cNvPr id="66" name="Text 63"/>
          <p:cNvSpPr/>
          <p:nvPr/>
        </p:nvSpPr>
        <p:spPr>
          <a:xfrm>
            <a:off x="6922008" y="2592324"/>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panose="020B0604020202020204"/>
              </a:rPr>
              <a:t>Y</a:t>
            </a:r>
            <a:endParaRPr lang="en-US" sz="910" dirty="0"/>
          </a:p>
        </p:txBody>
      </p:sp>
      <p:sp>
        <p:nvSpPr>
          <p:cNvPr id="67" name="Shape 64"/>
          <p:cNvSpPr/>
          <p:nvPr/>
        </p:nvSpPr>
        <p:spPr>
          <a:xfrm>
            <a:off x="7415784" y="2583180"/>
            <a:ext cx="461772" cy="306324"/>
          </a:xfrm>
          <a:prstGeom prst="rect">
            <a:avLst/>
          </a:prstGeom>
          <a:solidFill>
            <a:srgbClr val="FFFFFF"/>
          </a:solidFill>
          <a:ln w="5715">
            <a:solidFill>
              <a:srgbClr val="E5E9EF"/>
            </a:solidFill>
            <a:prstDash val="solid"/>
          </a:ln>
        </p:spPr>
      </p:sp>
      <p:sp>
        <p:nvSpPr>
          <p:cNvPr id="68" name="Text 65"/>
          <p:cNvSpPr/>
          <p:nvPr/>
        </p:nvSpPr>
        <p:spPr>
          <a:xfrm>
            <a:off x="7415784" y="2592324"/>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a:t>
            </a:r>
            <a:endParaRPr lang="en-US" sz="910" dirty="0"/>
          </a:p>
        </p:txBody>
      </p:sp>
      <p:sp>
        <p:nvSpPr>
          <p:cNvPr id="69" name="Shape 66"/>
          <p:cNvSpPr/>
          <p:nvPr/>
        </p:nvSpPr>
        <p:spPr>
          <a:xfrm>
            <a:off x="7909560" y="2583180"/>
            <a:ext cx="461772" cy="306324"/>
          </a:xfrm>
          <a:prstGeom prst="rect">
            <a:avLst/>
          </a:prstGeom>
          <a:solidFill>
            <a:srgbClr val="EAF6EF"/>
          </a:solidFill>
          <a:ln w="5715">
            <a:solidFill>
              <a:srgbClr val="B9DCC6"/>
            </a:solidFill>
            <a:prstDash val="solid"/>
          </a:ln>
        </p:spPr>
      </p:sp>
      <p:sp>
        <p:nvSpPr>
          <p:cNvPr id="70" name="Text 67"/>
          <p:cNvSpPr/>
          <p:nvPr/>
        </p:nvSpPr>
        <p:spPr>
          <a:xfrm>
            <a:off x="7909560" y="2592324"/>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panose="020B0604020202020204"/>
              </a:rPr>
              <a:t>–</a:t>
            </a:r>
            <a:endParaRPr lang="en-US" sz="910" dirty="0"/>
          </a:p>
        </p:txBody>
      </p:sp>
      <p:sp>
        <p:nvSpPr>
          <p:cNvPr id="71" name="Shape 68"/>
          <p:cNvSpPr/>
          <p:nvPr/>
        </p:nvSpPr>
        <p:spPr>
          <a:xfrm>
            <a:off x="8403336" y="2583180"/>
            <a:ext cx="461772" cy="306324"/>
          </a:xfrm>
          <a:prstGeom prst="rect">
            <a:avLst/>
          </a:prstGeom>
          <a:solidFill>
            <a:srgbClr val="FFFFFF"/>
          </a:solidFill>
          <a:ln w="5715">
            <a:solidFill>
              <a:srgbClr val="E5E9EF"/>
            </a:solidFill>
            <a:prstDash val="solid"/>
          </a:ln>
        </p:spPr>
      </p:sp>
      <p:sp>
        <p:nvSpPr>
          <p:cNvPr id="72" name="Text 69"/>
          <p:cNvSpPr/>
          <p:nvPr/>
        </p:nvSpPr>
        <p:spPr>
          <a:xfrm>
            <a:off x="8403336" y="2592324"/>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a:t>
            </a:r>
            <a:endParaRPr lang="en-US" sz="910" dirty="0"/>
          </a:p>
        </p:txBody>
      </p:sp>
      <p:sp>
        <p:nvSpPr>
          <p:cNvPr id="73" name="Shape 70"/>
          <p:cNvSpPr/>
          <p:nvPr/>
        </p:nvSpPr>
        <p:spPr>
          <a:xfrm>
            <a:off x="8897112" y="2583180"/>
            <a:ext cx="461772" cy="306324"/>
          </a:xfrm>
          <a:prstGeom prst="rect">
            <a:avLst/>
          </a:prstGeom>
          <a:solidFill>
            <a:srgbClr val="EAF6EF"/>
          </a:solidFill>
          <a:ln w="5715">
            <a:solidFill>
              <a:srgbClr val="B9DCC6"/>
            </a:solidFill>
            <a:prstDash val="solid"/>
          </a:ln>
        </p:spPr>
      </p:sp>
      <p:sp>
        <p:nvSpPr>
          <p:cNvPr id="74" name="Text 71"/>
          <p:cNvSpPr/>
          <p:nvPr/>
        </p:nvSpPr>
        <p:spPr>
          <a:xfrm>
            <a:off x="8897112" y="2592324"/>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panose="020B0604020202020204"/>
              </a:rPr>
              <a:t>–</a:t>
            </a:r>
            <a:endParaRPr lang="en-US" sz="910" dirty="0"/>
          </a:p>
        </p:txBody>
      </p:sp>
      <p:sp>
        <p:nvSpPr>
          <p:cNvPr id="75" name="Shape 72"/>
          <p:cNvSpPr/>
          <p:nvPr/>
        </p:nvSpPr>
        <p:spPr>
          <a:xfrm>
            <a:off x="9390888" y="2583180"/>
            <a:ext cx="461772" cy="306324"/>
          </a:xfrm>
          <a:prstGeom prst="rect">
            <a:avLst/>
          </a:prstGeom>
          <a:solidFill>
            <a:srgbClr val="FFFFFF"/>
          </a:solidFill>
          <a:ln w="5715">
            <a:solidFill>
              <a:srgbClr val="E5E9EF"/>
            </a:solidFill>
            <a:prstDash val="solid"/>
          </a:ln>
        </p:spPr>
      </p:sp>
      <p:sp>
        <p:nvSpPr>
          <p:cNvPr id="76" name="Text 73"/>
          <p:cNvSpPr/>
          <p:nvPr/>
        </p:nvSpPr>
        <p:spPr>
          <a:xfrm>
            <a:off x="9390888" y="2592324"/>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a:t>
            </a:r>
            <a:endParaRPr lang="en-US" sz="910" dirty="0"/>
          </a:p>
        </p:txBody>
      </p:sp>
      <p:sp>
        <p:nvSpPr>
          <p:cNvPr id="77" name="Shape 74"/>
          <p:cNvSpPr/>
          <p:nvPr/>
        </p:nvSpPr>
        <p:spPr>
          <a:xfrm>
            <a:off x="9884664" y="2583180"/>
            <a:ext cx="461772" cy="306324"/>
          </a:xfrm>
          <a:prstGeom prst="rect">
            <a:avLst/>
          </a:prstGeom>
          <a:solidFill>
            <a:srgbClr val="EAF6EF"/>
          </a:solidFill>
          <a:ln w="5715">
            <a:solidFill>
              <a:srgbClr val="B9DCC6"/>
            </a:solidFill>
            <a:prstDash val="solid"/>
          </a:ln>
        </p:spPr>
      </p:sp>
      <p:sp>
        <p:nvSpPr>
          <p:cNvPr id="78" name="Text 75"/>
          <p:cNvSpPr/>
          <p:nvPr/>
        </p:nvSpPr>
        <p:spPr>
          <a:xfrm>
            <a:off x="9884664" y="2592324"/>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panose="020B0604020202020204"/>
              </a:rPr>
              <a:t>–</a:t>
            </a:r>
            <a:endParaRPr lang="en-US" sz="910" dirty="0"/>
          </a:p>
        </p:txBody>
      </p:sp>
      <p:sp>
        <p:nvSpPr>
          <p:cNvPr id="79" name="Text 76"/>
          <p:cNvSpPr/>
          <p:nvPr/>
        </p:nvSpPr>
        <p:spPr>
          <a:xfrm>
            <a:off x="5696712" y="2953512"/>
            <a:ext cx="512064" cy="228600"/>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880" b="1">
                <a:solidFill>
                  <a:srgbClr val="172234"/>
                </a:solidFill>
                <a:latin typeface="Arial" panose="020B0604020202020204"/>
              </a:rPr>
              <a:t>B+</a:t>
            </a:r>
            <a:endParaRPr lang="en-US" sz="880" dirty="0"/>
          </a:p>
        </p:txBody>
      </p:sp>
      <p:sp>
        <p:nvSpPr>
          <p:cNvPr id="80" name="Shape 77"/>
          <p:cNvSpPr/>
          <p:nvPr/>
        </p:nvSpPr>
        <p:spPr>
          <a:xfrm>
            <a:off x="6428232" y="2953512"/>
            <a:ext cx="461772" cy="306324"/>
          </a:xfrm>
          <a:prstGeom prst="rect">
            <a:avLst/>
          </a:prstGeom>
          <a:solidFill>
            <a:srgbClr val="FFFFFF"/>
          </a:solidFill>
          <a:ln w="5715">
            <a:solidFill>
              <a:srgbClr val="E5E9EF"/>
            </a:solidFill>
            <a:prstDash val="solid"/>
          </a:ln>
        </p:spPr>
      </p:sp>
      <p:sp>
        <p:nvSpPr>
          <p:cNvPr id="81" name="Text 78"/>
          <p:cNvSpPr/>
          <p:nvPr/>
        </p:nvSpPr>
        <p:spPr>
          <a:xfrm>
            <a:off x="6428232" y="2962656"/>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a:t>
            </a:r>
            <a:endParaRPr lang="en-US" sz="910" dirty="0"/>
          </a:p>
        </p:txBody>
      </p:sp>
      <p:sp>
        <p:nvSpPr>
          <p:cNvPr id="82" name="Shape 79"/>
          <p:cNvSpPr/>
          <p:nvPr/>
        </p:nvSpPr>
        <p:spPr>
          <a:xfrm>
            <a:off x="6922008" y="2953512"/>
            <a:ext cx="461772" cy="306324"/>
          </a:xfrm>
          <a:prstGeom prst="rect">
            <a:avLst/>
          </a:prstGeom>
          <a:solidFill>
            <a:srgbClr val="FFFFFF"/>
          </a:solidFill>
          <a:ln w="5715">
            <a:solidFill>
              <a:srgbClr val="E5E9EF"/>
            </a:solidFill>
            <a:prstDash val="solid"/>
          </a:ln>
        </p:spPr>
      </p:sp>
      <p:sp>
        <p:nvSpPr>
          <p:cNvPr id="83" name="Text 80"/>
          <p:cNvSpPr/>
          <p:nvPr/>
        </p:nvSpPr>
        <p:spPr>
          <a:xfrm>
            <a:off x="6922008" y="2962656"/>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a:t>
            </a:r>
            <a:endParaRPr lang="en-US" sz="910" dirty="0"/>
          </a:p>
        </p:txBody>
      </p:sp>
      <p:sp>
        <p:nvSpPr>
          <p:cNvPr id="84" name="Shape 81"/>
          <p:cNvSpPr/>
          <p:nvPr/>
        </p:nvSpPr>
        <p:spPr>
          <a:xfrm>
            <a:off x="7415784" y="2953512"/>
            <a:ext cx="461772" cy="306324"/>
          </a:xfrm>
          <a:prstGeom prst="rect">
            <a:avLst/>
          </a:prstGeom>
          <a:solidFill>
            <a:srgbClr val="EAF6EF"/>
          </a:solidFill>
          <a:ln w="5715">
            <a:solidFill>
              <a:srgbClr val="B9DCC6"/>
            </a:solidFill>
            <a:prstDash val="solid"/>
          </a:ln>
        </p:spPr>
      </p:sp>
      <p:sp>
        <p:nvSpPr>
          <p:cNvPr id="85" name="Text 82"/>
          <p:cNvSpPr/>
          <p:nvPr/>
        </p:nvSpPr>
        <p:spPr>
          <a:xfrm>
            <a:off x="7415784" y="2962656"/>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panose="020B0604020202020204"/>
              </a:rPr>
              <a:t>Y</a:t>
            </a:r>
            <a:endParaRPr lang="en-US" sz="910" dirty="0"/>
          </a:p>
        </p:txBody>
      </p:sp>
      <p:sp>
        <p:nvSpPr>
          <p:cNvPr id="86" name="Shape 83"/>
          <p:cNvSpPr/>
          <p:nvPr/>
        </p:nvSpPr>
        <p:spPr>
          <a:xfrm>
            <a:off x="7909560" y="2953512"/>
            <a:ext cx="461772" cy="306324"/>
          </a:xfrm>
          <a:prstGeom prst="rect">
            <a:avLst/>
          </a:prstGeom>
          <a:solidFill>
            <a:srgbClr val="EAF6EF"/>
          </a:solidFill>
          <a:ln w="5715">
            <a:solidFill>
              <a:srgbClr val="B9DCC6"/>
            </a:solidFill>
            <a:prstDash val="solid"/>
          </a:ln>
        </p:spPr>
      </p:sp>
      <p:sp>
        <p:nvSpPr>
          <p:cNvPr id="87" name="Text 84"/>
          <p:cNvSpPr/>
          <p:nvPr/>
        </p:nvSpPr>
        <p:spPr>
          <a:xfrm>
            <a:off x="7909560" y="2962656"/>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panose="020B0604020202020204"/>
              </a:rPr>
              <a:t>–</a:t>
            </a:r>
            <a:endParaRPr lang="en-US" sz="910" dirty="0"/>
          </a:p>
        </p:txBody>
      </p:sp>
      <p:sp>
        <p:nvSpPr>
          <p:cNvPr id="88" name="Shape 85"/>
          <p:cNvSpPr/>
          <p:nvPr/>
        </p:nvSpPr>
        <p:spPr>
          <a:xfrm>
            <a:off x="8403336" y="2953512"/>
            <a:ext cx="461772" cy="306324"/>
          </a:xfrm>
          <a:prstGeom prst="rect">
            <a:avLst/>
          </a:prstGeom>
          <a:solidFill>
            <a:srgbClr val="FFFFFF"/>
          </a:solidFill>
          <a:ln w="5715">
            <a:solidFill>
              <a:srgbClr val="E5E9EF"/>
            </a:solidFill>
            <a:prstDash val="solid"/>
          </a:ln>
        </p:spPr>
      </p:sp>
      <p:sp>
        <p:nvSpPr>
          <p:cNvPr id="89" name="Text 86"/>
          <p:cNvSpPr/>
          <p:nvPr/>
        </p:nvSpPr>
        <p:spPr>
          <a:xfrm>
            <a:off x="8403336" y="2962656"/>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a:t>
            </a:r>
            <a:endParaRPr lang="en-US" sz="910" dirty="0"/>
          </a:p>
        </p:txBody>
      </p:sp>
      <p:sp>
        <p:nvSpPr>
          <p:cNvPr id="90" name="Shape 87"/>
          <p:cNvSpPr/>
          <p:nvPr/>
        </p:nvSpPr>
        <p:spPr>
          <a:xfrm>
            <a:off x="8897112" y="2953512"/>
            <a:ext cx="461772" cy="306324"/>
          </a:xfrm>
          <a:prstGeom prst="rect">
            <a:avLst/>
          </a:prstGeom>
          <a:solidFill>
            <a:srgbClr val="FFFFFF"/>
          </a:solidFill>
          <a:ln w="5715">
            <a:solidFill>
              <a:srgbClr val="E5E9EF"/>
            </a:solidFill>
            <a:prstDash val="solid"/>
          </a:ln>
        </p:spPr>
      </p:sp>
      <p:sp>
        <p:nvSpPr>
          <p:cNvPr id="91" name="Text 88"/>
          <p:cNvSpPr/>
          <p:nvPr/>
        </p:nvSpPr>
        <p:spPr>
          <a:xfrm>
            <a:off x="8897112" y="2962656"/>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a:t>
            </a:r>
            <a:endParaRPr lang="en-US" sz="910" dirty="0"/>
          </a:p>
        </p:txBody>
      </p:sp>
      <p:sp>
        <p:nvSpPr>
          <p:cNvPr id="92" name="Shape 89"/>
          <p:cNvSpPr/>
          <p:nvPr/>
        </p:nvSpPr>
        <p:spPr>
          <a:xfrm>
            <a:off x="9390888" y="2953512"/>
            <a:ext cx="461772" cy="306324"/>
          </a:xfrm>
          <a:prstGeom prst="rect">
            <a:avLst/>
          </a:prstGeom>
          <a:solidFill>
            <a:srgbClr val="EAF6EF"/>
          </a:solidFill>
          <a:ln w="5715">
            <a:solidFill>
              <a:srgbClr val="B9DCC6"/>
            </a:solidFill>
            <a:prstDash val="solid"/>
          </a:ln>
        </p:spPr>
      </p:sp>
      <p:sp>
        <p:nvSpPr>
          <p:cNvPr id="93" name="Text 90"/>
          <p:cNvSpPr/>
          <p:nvPr/>
        </p:nvSpPr>
        <p:spPr>
          <a:xfrm>
            <a:off x="9390888" y="2962656"/>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panose="020B0604020202020204"/>
              </a:rPr>
              <a:t>–</a:t>
            </a:r>
            <a:endParaRPr lang="en-US" sz="910" dirty="0"/>
          </a:p>
        </p:txBody>
      </p:sp>
      <p:sp>
        <p:nvSpPr>
          <p:cNvPr id="94" name="Shape 91"/>
          <p:cNvSpPr/>
          <p:nvPr/>
        </p:nvSpPr>
        <p:spPr>
          <a:xfrm>
            <a:off x="9884664" y="2953512"/>
            <a:ext cx="461772" cy="306324"/>
          </a:xfrm>
          <a:prstGeom prst="rect">
            <a:avLst/>
          </a:prstGeom>
          <a:solidFill>
            <a:srgbClr val="EAF6EF"/>
          </a:solidFill>
          <a:ln w="5715">
            <a:solidFill>
              <a:srgbClr val="B9DCC6"/>
            </a:solidFill>
            <a:prstDash val="solid"/>
          </a:ln>
        </p:spPr>
      </p:sp>
      <p:sp>
        <p:nvSpPr>
          <p:cNvPr id="95" name="Text 92"/>
          <p:cNvSpPr/>
          <p:nvPr/>
        </p:nvSpPr>
        <p:spPr>
          <a:xfrm>
            <a:off x="9884664" y="2962656"/>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panose="020B0604020202020204"/>
              </a:rPr>
              <a:t>–</a:t>
            </a:r>
            <a:endParaRPr lang="en-US" sz="910" dirty="0"/>
          </a:p>
        </p:txBody>
      </p:sp>
      <p:sp>
        <p:nvSpPr>
          <p:cNvPr id="96" name="Text 93"/>
          <p:cNvSpPr/>
          <p:nvPr/>
        </p:nvSpPr>
        <p:spPr>
          <a:xfrm>
            <a:off x="5696712" y="3323844"/>
            <a:ext cx="512064" cy="228600"/>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880" b="1">
                <a:solidFill>
                  <a:srgbClr val="172234"/>
                </a:solidFill>
                <a:latin typeface="Arial" panose="020B0604020202020204"/>
              </a:rPr>
              <a:t>B-</a:t>
            </a:r>
            <a:endParaRPr lang="en-US" sz="880" dirty="0"/>
          </a:p>
        </p:txBody>
      </p:sp>
      <p:sp>
        <p:nvSpPr>
          <p:cNvPr id="97" name="Shape 94"/>
          <p:cNvSpPr/>
          <p:nvPr/>
        </p:nvSpPr>
        <p:spPr>
          <a:xfrm>
            <a:off x="6428232" y="3323844"/>
            <a:ext cx="461772" cy="306324"/>
          </a:xfrm>
          <a:prstGeom prst="rect">
            <a:avLst/>
          </a:prstGeom>
          <a:solidFill>
            <a:srgbClr val="FFFFFF"/>
          </a:solidFill>
          <a:ln w="5715">
            <a:solidFill>
              <a:srgbClr val="E5E9EF"/>
            </a:solidFill>
            <a:prstDash val="solid"/>
          </a:ln>
        </p:spPr>
      </p:sp>
      <p:sp>
        <p:nvSpPr>
          <p:cNvPr id="98" name="Text 95"/>
          <p:cNvSpPr/>
          <p:nvPr/>
        </p:nvSpPr>
        <p:spPr>
          <a:xfrm>
            <a:off x="6428232" y="3332988"/>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a:t>
            </a:r>
            <a:endParaRPr lang="en-US" sz="910" dirty="0"/>
          </a:p>
        </p:txBody>
      </p:sp>
      <p:sp>
        <p:nvSpPr>
          <p:cNvPr id="99" name="Shape 96"/>
          <p:cNvSpPr/>
          <p:nvPr/>
        </p:nvSpPr>
        <p:spPr>
          <a:xfrm>
            <a:off x="6922008" y="3323844"/>
            <a:ext cx="461772" cy="306324"/>
          </a:xfrm>
          <a:prstGeom prst="rect">
            <a:avLst/>
          </a:prstGeom>
          <a:solidFill>
            <a:srgbClr val="FFFFFF"/>
          </a:solidFill>
          <a:ln w="5715">
            <a:solidFill>
              <a:srgbClr val="E5E9EF"/>
            </a:solidFill>
            <a:prstDash val="solid"/>
          </a:ln>
        </p:spPr>
      </p:sp>
      <p:sp>
        <p:nvSpPr>
          <p:cNvPr id="100" name="Text 97"/>
          <p:cNvSpPr/>
          <p:nvPr/>
        </p:nvSpPr>
        <p:spPr>
          <a:xfrm>
            <a:off x="6922008" y="3332988"/>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a:t>
            </a:r>
            <a:endParaRPr lang="en-US" sz="910" dirty="0"/>
          </a:p>
        </p:txBody>
      </p:sp>
      <p:sp>
        <p:nvSpPr>
          <p:cNvPr id="101" name="Shape 98"/>
          <p:cNvSpPr/>
          <p:nvPr/>
        </p:nvSpPr>
        <p:spPr>
          <a:xfrm>
            <a:off x="7415784" y="3323844"/>
            <a:ext cx="461772" cy="306324"/>
          </a:xfrm>
          <a:prstGeom prst="rect">
            <a:avLst/>
          </a:prstGeom>
          <a:solidFill>
            <a:srgbClr val="FFFFFF"/>
          </a:solidFill>
          <a:ln w="5715">
            <a:solidFill>
              <a:srgbClr val="E5E9EF"/>
            </a:solidFill>
            <a:prstDash val="solid"/>
          </a:ln>
        </p:spPr>
      </p:sp>
      <p:sp>
        <p:nvSpPr>
          <p:cNvPr id="102" name="Text 99"/>
          <p:cNvSpPr/>
          <p:nvPr/>
        </p:nvSpPr>
        <p:spPr>
          <a:xfrm>
            <a:off x="7415784" y="3332988"/>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Y</a:t>
            </a:r>
            <a:endParaRPr lang="en-US" sz="910" dirty="0"/>
          </a:p>
        </p:txBody>
      </p:sp>
      <p:sp>
        <p:nvSpPr>
          <p:cNvPr id="103" name="Shape 100"/>
          <p:cNvSpPr/>
          <p:nvPr/>
        </p:nvSpPr>
        <p:spPr>
          <a:xfrm>
            <a:off x="7909560" y="3323844"/>
            <a:ext cx="461772" cy="306324"/>
          </a:xfrm>
          <a:prstGeom prst="rect">
            <a:avLst/>
          </a:prstGeom>
          <a:solidFill>
            <a:srgbClr val="EAF6EF"/>
          </a:solidFill>
          <a:ln w="5715">
            <a:solidFill>
              <a:srgbClr val="B9DCC6"/>
            </a:solidFill>
            <a:prstDash val="solid"/>
          </a:ln>
        </p:spPr>
      </p:sp>
      <p:sp>
        <p:nvSpPr>
          <p:cNvPr id="104" name="Text 101"/>
          <p:cNvSpPr/>
          <p:nvPr/>
        </p:nvSpPr>
        <p:spPr>
          <a:xfrm>
            <a:off x="7909560" y="3332988"/>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panose="020B0604020202020204"/>
              </a:rPr>
              <a:t>Y</a:t>
            </a:r>
            <a:endParaRPr lang="en-US" sz="910" dirty="0"/>
          </a:p>
        </p:txBody>
      </p:sp>
      <p:sp>
        <p:nvSpPr>
          <p:cNvPr id="105" name="Shape 102"/>
          <p:cNvSpPr/>
          <p:nvPr/>
        </p:nvSpPr>
        <p:spPr>
          <a:xfrm>
            <a:off x="8403336" y="3323844"/>
            <a:ext cx="461772" cy="306324"/>
          </a:xfrm>
          <a:prstGeom prst="rect">
            <a:avLst/>
          </a:prstGeom>
          <a:solidFill>
            <a:srgbClr val="FFFFFF"/>
          </a:solidFill>
          <a:ln w="5715">
            <a:solidFill>
              <a:srgbClr val="E5E9EF"/>
            </a:solidFill>
            <a:prstDash val="solid"/>
          </a:ln>
        </p:spPr>
      </p:sp>
      <p:sp>
        <p:nvSpPr>
          <p:cNvPr id="106" name="Text 103"/>
          <p:cNvSpPr/>
          <p:nvPr/>
        </p:nvSpPr>
        <p:spPr>
          <a:xfrm>
            <a:off x="8403336" y="3332988"/>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a:t>
            </a:r>
            <a:endParaRPr lang="en-US" sz="910" dirty="0"/>
          </a:p>
        </p:txBody>
      </p:sp>
      <p:sp>
        <p:nvSpPr>
          <p:cNvPr id="107" name="Shape 104"/>
          <p:cNvSpPr/>
          <p:nvPr/>
        </p:nvSpPr>
        <p:spPr>
          <a:xfrm>
            <a:off x="8897112" y="3323844"/>
            <a:ext cx="461772" cy="306324"/>
          </a:xfrm>
          <a:prstGeom prst="rect">
            <a:avLst/>
          </a:prstGeom>
          <a:solidFill>
            <a:srgbClr val="FFFFFF"/>
          </a:solidFill>
          <a:ln w="5715">
            <a:solidFill>
              <a:srgbClr val="E5E9EF"/>
            </a:solidFill>
            <a:prstDash val="solid"/>
          </a:ln>
        </p:spPr>
      </p:sp>
      <p:sp>
        <p:nvSpPr>
          <p:cNvPr id="108" name="Text 105"/>
          <p:cNvSpPr/>
          <p:nvPr/>
        </p:nvSpPr>
        <p:spPr>
          <a:xfrm>
            <a:off x="8897112" y="3332988"/>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a:t>
            </a:r>
            <a:endParaRPr lang="en-US" sz="910" dirty="0"/>
          </a:p>
        </p:txBody>
      </p:sp>
      <p:sp>
        <p:nvSpPr>
          <p:cNvPr id="109" name="Shape 106"/>
          <p:cNvSpPr/>
          <p:nvPr/>
        </p:nvSpPr>
        <p:spPr>
          <a:xfrm>
            <a:off x="9390888" y="3323844"/>
            <a:ext cx="461772" cy="306324"/>
          </a:xfrm>
          <a:prstGeom prst="rect">
            <a:avLst/>
          </a:prstGeom>
          <a:solidFill>
            <a:srgbClr val="FFFFFF"/>
          </a:solidFill>
          <a:ln w="5715">
            <a:solidFill>
              <a:srgbClr val="E5E9EF"/>
            </a:solidFill>
            <a:prstDash val="solid"/>
          </a:ln>
        </p:spPr>
      </p:sp>
      <p:sp>
        <p:nvSpPr>
          <p:cNvPr id="110" name="Text 107"/>
          <p:cNvSpPr/>
          <p:nvPr/>
        </p:nvSpPr>
        <p:spPr>
          <a:xfrm>
            <a:off x="9390888" y="3332988"/>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a:t>
            </a:r>
            <a:endParaRPr lang="en-US" sz="910" dirty="0"/>
          </a:p>
        </p:txBody>
      </p:sp>
      <p:sp>
        <p:nvSpPr>
          <p:cNvPr id="111" name="Shape 108"/>
          <p:cNvSpPr/>
          <p:nvPr/>
        </p:nvSpPr>
        <p:spPr>
          <a:xfrm>
            <a:off x="9884664" y="3323844"/>
            <a:ext cx="461772" cy="306324"/>
          </a:xfrm>
          <a:prstGeom prst="rect">
            <a:avLst/>
          </a:prstGeom>
          <a:solidFill>
            <a:srgbClr val="EAF6EF"/>
          </a:solidFill>
          <a:ln w="5715">
            <a:solidFill>
              <a:srgbClr val="B9DCC6"/>
            </a:solidFill>
            <a:prstDash val="solid"/>
          </a:ln>
        </p:spPr>
      </p:sp>
      <p:sp>
        <p:nvSpPr>
          <p:cNvPr id="112" name="Text 109"/>
          <p:cNvSpPr/>
          <p:nvPr/>
        </p:nvSpPr>
        <p:spPr>
          <a:xfrm>
            <a:off x="9884664" y="3332988"/>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panose="020B0604020202020204"/>
              </a:rPr>
              <a:t>–</a:t>
            </a:r>
            <a:endParaRPr lang="en-US" sz="910" dirty="0"/>
          </a:p>
        </p:txBody>
      </p:sp>
      <p:sp>
        <p:nvSpPr>
          <p:cNvPr id="113" name="Text 110"/>
          <p:cNvSpPr/>
          <p:nvPr/>
        </p:nvSpPr>
        <p:spPr>
          <a:xfrm>
            <a:off x="5696712" y="3694176"/>
            <a:ext cx="512064" cy="228600"/>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880" b="1">
                <a:solidFill>
                  <a:srgbClr val="172234"/>
                </a:solidFill>
                <a:latin typeface="Arial" panose="020B0604020202020204"/>
              </a:rPr>
              <a:t>AB+</a:t>
            </a:r>
            <a:endParaRPr lang="en-US" sz="880" dirty="0"/>
          </a:p>
        </p:txBody>
      </p:sp>
      <p:sp>
        <p:nvSpPr>
          <p:cNvPr id="114" name="Shape 111"/>
          <p:cNvSpPr/>
          <p:nvPr/>
        </p:nvSpPr>
        <p:spPr>
          <a:xfrm>
            <a:off x="6428232" y="3694176"/>
            <a:ext cx="461772" cy="306324"/>
          </a:xfrm>
          <a:prstGeom prst="rect">
            <a:avLst/>
          </a:prstGeom>
          <a:solidFill>
            <a:srgbClr val="FFFFFF"/>
          </a:solidFill>
          <a:ln w="5715">
            <a:solidFill>
              <a:srgbClr val="E5E9EF"/>
            </a:solidFill>
            <a:prstDash val="solid"/>
          </a:ln>
        </p:spPr>
      </p:sp>
      <p:sp>
        <p:nvSpPr>
          <p:cNvPr id="115" name="Text 112"/>
          <p:cNvSpPr/>
          <p:nvPr/>
        </p:nvSpPr>
        <p:spPr>
          <a:xfrm>
            <a:off x="6428232" y="3703320"/>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Y</a:t>
            </a:r>
            <a:endParaRPr lang="en-US" sz="910" dirty="0"/>
          </a:p>
        </p:txBody>
      </p:sp>
      <p:sp>
        <p:nvSpPr>
          <p:cNvPr id="116" name="Shape 113"/>
          <p:cNvSpPr/>
          <p:nvPr/>
        </p:nvSpPr>
        <p:spPr>
          <a:xfrm>
            <a:off x="6922008" y="3694176"/>
            <a:ext cx="461772" cy="306324"/>
          </a:xfrm>
          <a:prstGeom prst="rect">
            <a:avLst/>
          </a:prstGeom>
          <a:solidFill>
            <a:srgbClr val="FFFFFF"/>
          </a:solidFill>
          <a:ln w="5715">
            <a:solidFill>
              <a:srgbClr val="E5E9EF"/>
            </a:solidFill>
            <a:prstDash val="solid"/>
          </a:ln>
        </p:spPr>
      </p:sp>
      <p:sp>
        <p:nvSpPr>
          <p:cNvPr id="117" name="Text 114"/>
          <p:cNvSpPr/>
          <p:nvPr/>
        </p:nvSpPr>
        <p:spPr>
          <a:xfrm>
            <a:off x="6922008" y="3703320"/>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a:t>
            </a:r>
            <a:endParaRPr lang="en-US" sz="910" dirty="0"/>
          </a:p>
        </p:txBody>
      </p:sp>
      <p:sp>
        <p:nvSpPr>
          <p:cNvPr id="118" name="Shape 115"/>
          <p:cNvSpPr/>
          <p:nvPr/>
        </p:nvSpPr>
        <p:spPr>
          <a:xfrm>
            <a:off x="7415784" y="3694176"/>
            <a:ext cx="461772" cy="306324"/>
          </a:xfrm>
          <a:prstGeom prst="rect">
            <a:avLst/>
          </a:prstGeom>
          <a:solidFill>
            <a:srgbClr val="FFFFFF"/>
          </a:solidFill>
          <a:ln w="5715">
            <a:solidFill>
              <a:srgbClr val="E5E9EF"/>
            </a:solidFill>
            <a:prstDash val="solid"/>
          </a:ln>
        </p:spPr>
      </p:sp>
      <p:sp>
        <p:nvSpPr>
          <p:cNvPr id="119" name="Text 116"/>
          <p:cNvSpPr/>
          <p:nvPr/>
        </p:nvSpPr>
        <p:spPr>
          <a:xfrm>
            <a:off x="7415784" y="3703320"/>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Y</a:t>
            </a:r>
            <a:endParaRPr lang="en-US" sz="910" dirty="0"/>
          </a:p>
        </p:txBody>
      </p:sp>
      <p:sp>
        <p:nvSpPr>
          <p:cNvPr id="120" name="Shape 117"/>
          <p:cNvSpPr/>
          <p:nvPr/>
        </p:nvSpPr>
        <p:spPr>
          <a:xfrm>
            <a:off x="7909560" y="3694176"/>
            <a:ext cx="461772" cy="306324"/>
          </a:xfrm>
          <a:prstGeom prst="rect">
            <a:avLst/>
          </a:prstGeom>
          <a:solidFill>
            <a:srgbClr val="FFFFFF"/>
          </a:solidFill>
          <a:ln w="5715">
            <a:solidFill>
              <a:srgbClr val="E5E9EF"/>
            </a:solidFill>
            <a:prstDash val="solid"/>
          </a:ln>
        </p:spPr>
      </p:sp>
      <p:sp>
        <p:nvSpPr>
          <p:cNvPr id="121" name="Text 118"/>
          <p:cNvSpPr/>
          <p:nvPr/>
        </p:nvSpPr>
        <p:spPr>
          <a:xfrm>
            <a:off x="7909560" y="3703320"/>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a:t>
            </a:r>
            <a:endParaRPr lang="en-US" sz="910" dirty="0"/>
          </a:p>
        </p:txBody>
      </p:sp>
      <p:sp>
        <p:nvSpPr>
          <p:cNvPr id="122" name="Shape 119"/>
          <p:cNvSpPr/>
          <p:nvPr/>
        </p:nvSpPr>
        <p:spPr>
          <a:xfrm>
            <a:off x="8403336" y="3694176"/>
            <a:ext cx="461772" cy="306324"/>
          </a:xfrm>
          <a:prstGeom prst="rect">
            <a:avLst/>
          </a:prstGeom>
          <a:solidFill>
            <a:srgbClr val="EAF6EF"/>
          </a:solidFill>
          <a:ln w="5715">
            <a:solidFill>
              <a:srgbClr val="B9DCC6"/>
            </a:solidFill>
            <a:prstDash val="solid"/>
          </a:ln>
        </p:spPr>
      </p:sp>
      <p:sp>
        <p:nvSpPr>
          <p:cNvPr id="123" name="Text 120"/>
          <p:cNvSpPr/>
          <p:nvPr/>
        </p:nvSpPr>
        <p:spPr>
          <a:xfrm>
            <a:off x="8403336" y="3703320"/>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panose="020B0604020202020204"/>
              </a:rPr>
              <a:t>Y</a:t>
            </a:r>
            <a:endParaRPr lang="en-US" sz="910" dirty="0"/>
          </a:p>
        </p:txBody>
      </p:sp>
      <p:sp>
        <p:nvSpPr>
          <p:cNvPr id="124" name="Shape 121"/>
          <p:cNvSpPr/>
          <p:nvPr/>
        </p:nvSpPr>
        <p:spPr>
          <a:xfrm>
            <a:off x="8897112" y="3694176"/>
            <a:ext cx="461772" cy="306324"/>
          </a:xfrm>
          <a:prstGeom prst="rect">
            <a:avLst/>
          </a:prstGeom>
          <a:solidFill>
            <a:srgbClr val="EAF6EF"/>
          </a:solidFill>
          <a:ln w="5715">
            <a:solidFill>
              <a:srgbClr val="B9DCC6"/>
            </a:solidFill>
            <a:prstDash val="solid"/>
          </a:ln>
        </p:spPr>
      </p:sp>
      <p:sp>
        <p:nvSpPr>
          <p:cNvPr id="125" name="Text 122"/>
          <p:cNvSpPr/>
          <p:nvPr/>
        </p:nvSpPr>
        <p:spPr>
          <a:xfrm>
            <a:off x="8897112" y="3703320"/>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panose="020B0604020202020204"/>
              </a:rPr>
              <a:t>–</a:t>
            </a:r>
            <a:endParaRPr lang="en-US" sz="910" dirty="0"/>
          </a:p>
        </p:txBody>
      </p:sp>
      <p:sp>
        <p:nvSpPr>
          <p:cNvPr id="126" name="Shape 123"/>
          <p:cNvSpPr/>
          <p:nvPr/>
        </p:nvSpPr>
        <p:spPr>
          <a:xfrm>
            <a:off x="9390888" y="3694176"/>
            <a:ext cx="461772" cy="306324"/>
          </a:xfrm>
          <a:prstGeom prst="rect">
            <a:avLst/>
          </a:prstGeom>
          <a:solidFill>
            <a:srgbClr val="EAF6EF"/>
          </a:solidFill>
          <a:ln w="5715">
            <a:solidFill>
              <a:srgbClr val="B9DCC6"/>
            </a:solidFill>
            <a:prstDash val="solid"/>
          </a:ln>
        </p:spPr>
      </p:sp>
      <p:sp>
        <p:nvSpPr>
          <p:cNvPr id="127" name="Text 124"/>
          <p:cNvSpPr/>
          <p:nvPr/>
        </p:nvSpPr>
        <p:spPr>
          <a:xfrm>
            <a:off x="9390888" y="3703320"/>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panose="020B0604020202020204"/>
              </a:rPr>
              <a:t>–</a:t>
            </a:r>
            <a:endParaRPr lang="en-US" sz="910" dirty="0"/>
          </a:p>
        </p:txBody>
      </p:sp>
      <p:sp>
        <p:nvSpPr>
          <p:cNvPr id="128" name="Shape 125"/>
          <p:cNvSpPr/>
          <p:nvPr/>
        </p:nvSpPr>
        <p:spPr>
          <a:xfrm>
            <a:off x="9884664" y="3694176"/>
            <a:ext cx="461772" cy="306324"/>
          </a:xfrm>
          <a:prstGeom prst="rect">
            <a:avLst/>
          </a:prstGeom>
          <a:solidFill>
            <a:srgbClr val="EAF6EF"/>
          </a:solidFill>
          <a:ln w="5715">
            <a:solidFill>
              <a:srgbClr val="B9DCC6"/>
            </a:solidFill>
            <a:prstDash val="solid"/>
          </a:ln>
        </p:spPr>
      </p:sp>
      <p:sp>
        <p:nvSpPr>
          <p:cNvPr id="129" name="Text 126"/>
          <p:cNvSpPr/>
          <p:nvPr/>
        </p:nvSpPr>
        <p:spPr>
          <a:xfrm>
            <a:off x="9884664" y="3703320"/>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panose="020B0604020202020204"/>
              </a:rPr>
              <a:t>–</a:t>
            </a:r>
            <a:endParaRPr lang="en-US" sz="910" dirty="0"/>
          </a:p>
        </p:txBody>
      </p:sp>
      <p:sp>
        <p:nvSpPr>
          <p:cNvPr id="130" name="Text 127"/>
          <p:cNvSpPr/>
          <p:nvPr/>
        </p:nvSpPr>
        <p:spPr>
          <a:xfrm>
            <a:off x="5696712" y="4064508"/>
            <a:ext cx="512064" cy="228600"/>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880" b="1">
                <a:solidFill>
                  <a:srgbClr val="172234"/>
                </a:solidFill>
                <a:latin typeface="Arial" panose="020B0604020202020204"/>
              </a:rPr>
              <a:t>AB-</a:t>
            </a:r>
            <a:endParaRPr lang="en-US" sz="880" dirty="0"/>
          </a:p>
        </p:txBody>
      </p:sp>
      <p:sp>
        <p:nvSpPr>
          <p:cNvPr id="131" name="Shape 128"/>
          <p:cNvSpPr/>
          <p:nvPr/>
        </p:nvSpPr>
        <p:spPr>
          <a:xfrm>
            <a:off x="6428232" y="4064508"/>
            <a:ext cx="461772" cy="306324"/>
          </a:xfrm>
          <a:prstGeom prst="rect">
            <a:avLst/>
          </a:prstGeom>
          <a:solidFill>
            <a:srgbClr val="FFFFFF"/>
          </a:solidFill>
          <a:ln w="5715">
            <a:solidFill>
              <a:srgbClr val="E5E9EF"/>
            </a:solidFill>
            <a:prstDash val="solid"/>
          </a:ln>
        </p:spPr>
      </p:sp>
      <p:sp>
        <p:nvSpPr>
          <p:cNvPr id="132" name="Text 129"/>
          <p:cNvSpPr/>
          <p:nvPr/>
        </p:nvSpPr>
        <p:spPr>
          <a:xfrm>
            <a:off x="6428232" y="4073652"/>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Y</a:t>
            </a:r>
            <a:endParaRPr lang="en-US" sz="910" dirty="0"/>
          </a:p>
        </p:txBody>
      </p:sp>
      <p:sp>
        <p:nvSpPr>
          <p:cNvPr id="133" name="Shape 130"/>
          <p:cNvSpPr/>
          <p:nvPr/>
        </p:nvSpPr>
        <p:spPr>
          <a:xfrm>
            <a:off x="6922008" y="4064508"/>
            <a:ext cx="461772" cy="306324"/>
          </a:xfrm>
          <a:prstGeom prst="rect">
            <a:avLst/>
          </a:prstGeom>
          <a:solidFill>
            <a:srgbClr val="FFFFFF"/>
          </a:solidFill>
          <a:ln w="5715">
            <a:solidFill>
              <a:srgbClr val="E5E9EF"/>
            </a:solidFill>
            <a:prstDash val="solid"/>
          </a:ln>
        </p:spPr>
      </p:sp>
      <p:sp>
        <p:nvSpPr>
          <p:cNvPr id="134" name="Text 131"/>
          <p:cNvSpPr/>
          <p:nvPr/>
        </p:nvSpPr>
        <p:spPr>
          <a:xfrm>
            <a:off x="6922008" y="4073652"/>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Y</a:t>
            </a:r>
            <a:endParaRPr lang="en-US" sz="910" dirty="0"/>
          </a:p>
        </p:txBody>
      </p:sp>
      <p:sp>
        <p:nvSpPr>
          <p:cNvPr id="135" name="Shape 132"/>
          <p:cNvSpPr/>
          <p:nvPr/>
        </p:nvSpPr>
        <p:spPr>
          <a:xfrm>
            <a:off x="7415784" y="4064508"/>
            <a:ext cx="461772" cy="306324"/>
          </a:xfrm>
          <a:prstGeom prst="rect">
            <a:avLst/>
          </a:prstGeom>
          <a:solidFill>
            <a:srgbClr val="FFFFFF"/>
          </a:solidFill>
          <a:ln w="5715">
            <a:solidFill>
              <a:srgbClr val="E5E9EF"/>
            </a:solidFill>
            <a:prstDash val="solid"/>
          </a:ln>
        </p:spPr>
      </p:sp>
      <p:sp>
        <p:nvSpPr>
          <p:cNvPr id="136" name="Text 133"/>
          <p:cNvSpPr/>
          <p:nvPr/>
        </p:nvSpPr>
        <p:spPr>
          <a:xfrm>
            <a:off x="7415784" y="4073652"/>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Y</a:t>
            </a:r>
            <a:endParaRPr lang="en-US" sz="910" dirty="0"/>
          </a:p>
        </p:txBody>
      </p:sp>
      <p:sp>
        <p:nvSpPr>
          <p:cNvPr id="137" name="Shape 134"/>
          <p:cNvSpPr/>
          <p:nvPr/>
        </p:nvSpPr>
        <p:spPr>
          <a:xfrm>
            <a:off x="7909560" y="4064508"/>
            <a:ext cx="461772" cy="306324"/>
          </a:xfrm>
          <a:prstGeom prst="rect">
            <a:avLst/>
          </a:prstGeom>
          <a:solidFill>
            <a:srgbClr val="FFFFFF"/>
          </a:solidFill>
          <a:ln w="5715">
            <a:solidFill>
              <a:srgbClr val="E5E9EF"/>
            </a:solidFill>
            <a:prstDash val="solid"/>
          </a:ln>
        </p:spPr>
      </p:sp>
      <p:sp>
        <p:nvSpPr>
          <p:cNvPr id="138" name="Text 135"/>
          <p:cNvSpPr/>
          <p:nvPr/>
        </p:nvSpPr>
        <p:spPr>
          <a:xfrm>
            <a:off x="7909560" y="4073652"/>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Y</a:t>
            </a:r>
            <a:endParaRPr lang="en-US" sz="910" dirty="0"/>
          </a:p>
        </p:txBody>
      </p:sp>
      <p:sp>
        <p:nvSpPr>
          <p:cNvPr id="139" name="Shape 136"/>
          <p:cNvSpPr/>
          <p:nvPr/>
        </p:nvSpPr>
        <p:spPr>
          <a:xfrm>
            <a:off x="8403336" y="4064508"/>
            <a:ext cx="461772" cy="306324"/>
          </a:xfrm>
          <a:prstGeom prst="rect">
            <a:avLst/>
          </a:prstGeom>
          <a:solidFill>
            <a:srgbClr val="FFFFFF"/>
          </a:solidFill>
          <a:ln w="5715">
            <a:solidFill>
              <a:srgbClr val="E5E9EF"/>
            </a:solidFill>
            <a:prstDash val="solid"/>
          </a:ln>
        </p:spPr>
      </p:sp>
      <p:sp>
        <p:nvSpPr>
          <p:cNvPr id="140" name="Text 137"/>
          <p:cNvSpPr/>
          <p:nvPr/>
        </p:nvSpPr>
        <p:spPr>
          <a:xfrm>
            <a:off x="8403336" y="4073652"/>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Y</a:t>
            </a:r>
            <a:endParaRPr lang="en-US" sz="910" dirty="0"/>
          </a:p>
        </p:txBody>
      </p:sp>
      <p:sp>
        <p:nvSpPr>
          <p:cNvPr id="141" name="Shape 138"/>
          <p:cNvSpPr/>
          <p:nvPr/>
        </p:nvSpPr>
        <p:spPr>
          <a:xfrm>
            <a:off x="8897112" y="4064508"/>
            <a:ext cx="461772" cy="306324"/>
          </a:xfrm>
          <a:prstGeom prst="rect">
            <a:avLst/>
          </a:prstGeom>
          <a:solidFill>
            <a:srgbClr val="EAF6EF"/>
          </a:solidFill>
          <a:ln w="5715">
            <a:solidFill>
              <a:srgbClr val="B9DCC6"/>
            </a:solidFill>
            <a:prstDash val="solid"/>
          </a:ln>
        </p:spPr>
      </p:sp>
      <p:sp>
        <p:nvSpPr>
          <p:cNvPr id="142" name="Text 139"/>
          <p:cNvSpPr/>
          <p:nvPr/>
        </p:nvSpPr>
        <p:spPr>
          <a:xfrm>
            <a:off x="8897112" y="4073652"/>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panose="020B0604020202020204"/>
              </a:rPr>
              <a:t>Y</a:t>
            </a:r>
            <a:endParaRPr lang="en-US" sz="910" dirty="0"/>
          </a:p>
        </p:txBody>
      </p:sp>
      <p:sp>
        <p:nvSpPr>
          <p:cNvPr id="143" name="Shape 140"/>
          <p:cNvSpPr/>
          <p:nvPr/>
        </p:nvSpPr>
        <p:spPr>
          <a:xfrm>
            <a:off x="9390888" y="4064508"/>
            <a:ext cx="461772" cy="306324"/>
          </a:xfrm>
          <a:prstGeom prst="rect">
            <a:avLst/>
          </a:prstGeom>
          <a:solidFill>
            <a:srgbClr val="FFFFFF"/>
          </a:solidFill>
          <a:ln w="5715">
            <a:solidFill>
              <a:srgbClr val="E5E9EF"/>
            </a:solidFill>
            <a:prstDash val="solid"/>
          </a:ln>
        </p:spPr>
      </p:sp>
      <p:sp>
        <p:nvSpPr>
          <p:cNvPr id="144" name="Text 141"/>
          <p:cNvSpPr/>
          <p:nvPr/>
        </p:nvSpPr>
        <p:spPr>
          <a:xfrm>
            <a:off x="9390888" y="4073652"/>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a:t>
            </a:r>
            <a:endParaRPr lang="en-US" sz="910" dirty="0"/>
          </a:p>
        </p:txBody>
      </p:sp>
      <p:sp>
        <p:nvSpPr>
          <p:cNvPr id="145" name="Shape 142"/>
          <p:cNvSpPr/>
          <p:nvPr/>
        </p:nvSpPr>
        <p:spPr>
          <a:xfrm>
            <a:off x="9884664" y="4064508"/>
            <a:ext cx="461772" cy="306324"/>
          </a:xfrm>
          <a:prstGeom prst="rect">
            <a:avLst/>
          </a:prstGeom>
          <a:solidFill>
            <a:srgbClr val="EAF6EF"/>
          </a:solidFill>
          <a:ln w="5715">
            <a:solidFill>
              <a:srgbClr val="B9DCC6"/>
            </a:solidFill>
            <a:prstDash val="solid"/>
          </a:ln>
        </p:spPr>
      </p:sp>
      <p:sp>
        <p:nvSpPr>
          <p:cNvPr id="146" name="Text 143"/>
          <p:cNvSpPr/>
          <p:nvPr/>
        </p:nvSpPr>
        <p:spPr>
          <a:xfrm>
            <a:off x="9884664" y="4073652"/>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panose="020B0604020202020204"/>
              </a:rPr>
              <a:t>–</a:t>
            </a:r>
            <a:endParaRPr lang="en-US" sz="910" dirty="0"/>
          </a:p>
        </p:txBody>
      </p:sp>
      <p:sp>
        <p:nvSpPr>
          <p:cNvPr id="147" name="Text 144"/>
          <p:cNvSpPr/>
          <p:nvPr/>
        </p:nvSpPr>
        <p:spPr>
          <a:xfrm>
            <a:off x="5696712" y="4434840"/>
            <a:ext cx="512064" cy="228600"/>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880" b="1">
                <a:solidFill>
                  <a:srgbClr val="172234"/>
                </a:solidFill>
                <a:latin typeface="Arial" panose="020B0604020202020204"/>
              </a:rPr>
              <a:t>O+</a:t>
            </a:r>
            <a:endParaRPr lang="en-US" sz="880" dirty="0"/>
          </a:p>
        </p:txBody>
      </p:sp>
      <p:sp>
        <p:nvSpPr>
          <p:cNvPr id="148" name="Shape 145"/>
          <p:cNvSpPr/>
          <p:nvPr/>
        </p:nvSpPr>
        <p:spPr>
          <a:xfrm>
            <a:off x="6428232" y="4434840"/>
            <a:ext cx="461772" cy="306324"/>
          </a:xfrm>
          <a:prstGeom prst="rect">
            <a:avLst/>
          </a:prstGeom>
          <a:solidFill>
            <a:srgbClr val="FFFFFF"/>
          </a:solidFill>
          <a:ln w="5715">
            <a:solidFill>
              <a:srgbClr val="E5E9EF"/>
            </a:solidFill>
            <a:prstDash val="solid"/>
          </a:ln>
        </p:spPr>
      </p:sp>
      <p:sp>
        <p:nvSpPr>
          <p:cNvPr id="149" name="Text 146"/>
          <p:cNvSpPr/>
          <p:nvPr/>
        </p:nvSpPr>
        <p:spPr>
          <a:xfrm>
            <a:off x="6428232" y="4443984"/>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Y</a:t>
            </a:r>
            <a:endParaRPr lang="en-US" sz="910" dirty="0"/>
          </a:p>
        </p:txBody>
      </p:sp>
      <p:sp>
        <p:nvSpPr>
          <p:cNvPr id="150" name="Shape 147"/>
          <p:cNvSpPr/>
          <p:nvPr/>
        </p:nvSpPr>
        <p:spPr>
          <a:xfrm>
            <a:off x="6922008" y="4434840"/>
            <a:ext cx="461772" cy="306324"/>
          </a:xfrm>
          <a:prstGeom prst="rect">
            <a:avLst/>
          </a:prstGeom>
          <a:solidFill>
            <a:srgbClr val="FFFFFF"/>
          </a:solidFill>
          <a:ln w="5715">
            <a:solidFill>
              <a:srgbClr val="E5E9EF"/>
            </a:solidFill>
            <a:prstDash val="solid"/>
          </a:ln>
        </p:spPr>
      </p:sp>
      <p:sp>
        <p:nvSpPr>
          <p:cNvPr id="151" name="Text 148"/>
          <p:cNvSpPr/>
          <p:nvPr/>
        </p:nvSpPr>
        <p:spPr>
          <a:xfrm>
            <a:off x="6922008" y="4443984"/>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a:t>
            </a:r>
            <a:endParaRPr lang="en-US" sz="910" dirty="0"/>
          </a:p>
        </p:txBody>
      </p:sp>
      <p:sp>
        <p:nvSpPr>
          <p:cNvPr id="152" name="Shape 149"/>
          <p:cNvSpPr/>
          <p:nvPr/>
        </p:nvSpPr>
        <p:spPr>
          <a:xfrm>
            <a:off x="7415784" y="4434840"/>
            <a:ext cx="461772" cy="306324"/>
          </a:xfrm>
          <a:prstGeom prst="rect">
            <a:avLst/>
          </a:prstGeom>
          <a:solidFill>
            <a:srgbClr val="FFFFFF"/>
          </a:solidFill>
          <a:ln w="5715">
            <a:solidFill>
              <a:srgbClr val="E5E9EF"/>
            </a:solidFill>
            <a:prstDash val="solid"/>
          </a:ln>
        </p:spPr>
      </p:sp>
      <p:sp>
        <p:nvSpPr>
          <p:cNvPr id="153" name="Text 150"/>
          <p:cNvSpPr/>
          <p:nvPr/>
        </p:nvSpPr>
        <p:spPr>
          <a:xfrm>
            <a:off x="7415784" y="4443984"/>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a:t>
            </a:r>
            <a:endParaRPr lang="en-US" sz="910" dirty="0"/>
          </a:p>
        </p:txBody>
      </p:sp>
      <p:sp>
        <p:nvSpPr>
          <p:cNvPr id="154" name="Shape 151"/>
          <p:cNvSpPr/>
          <p:nvPr/>
        </p:nvSpPr>
        <p:spPr>
          <a:xfrm>
            <a:off x="7909560" y="4434840"/>
            <a:ext cx="461772" cy="306324"/>
          </a:xfrm>
          <a:prstGeom prst="rect">
            <a:avLst/>
          </a:prstGeom>
          <a:solidFill>
            <a:srgbClr val="FFFFFF"/>
          </a:solidFill>
          <a:ln w="5715">
            <a:solidFill>
              <a:srgbClr val="E5E9EF"/>
            </a:solidFill>
            <a:prstDash val="solid"/>
          </a:ln>
        </p:spPr>
      </p:sp>
      <p:sp>
        <p:nvSpPr>
          <p:cNvPr id="155" name="Text 152"/>
          <p:cNvSpPr/>
          <p:nvPr/>
        </p:nvSpPr>
        <p:spPr>
          <a:xfrm>
            <a:off x="7909560" y="4443984"/>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a:t>
            </a:r>
            <a:endParaRPr lang="en-US" sz="910" dirty="0"/>
          </a:p>
        </p:txBody>
      </p:sp>
      <p:sp>
        <p:nvSpPr>
          <p:cNvPr id="156" name="Shape 153"/>
          <p:cNvSpPr/>
          <p:nvPr/>
        </p:nvSpPr>
        <p:spPr>
          <a:xfrm>
            <a:off x="8403336" y="4434840"/>
            <a:ext cx="461772" cy="306324"/>
          </a:xfrm>
          <a:prstGeom prst="rect">
            <a:avLst/>
          </a:prstGeom>
          <a:solidFill>
            <a:srgbClr val="FFFFFF"/>
          </a:solidFill>
          <a:ln w="5715">
            <a:solidFill>
              <a:srgbClr val="E5E9EF"/>
            </a:solidFill>
            <a:prstDash val="solid"/>
          </a:ln>
        </p:spPr>
      </p:sp>
      <p:sp>
        <p:nvSpPr>
          <p:cNvPr id="157" name="Text 154"/>
          <p:cNvSpPr/>
          <p:nvPr/>
        </p:nvSpPr>
        <p:spPr>
          <a:xfrm>
            <a:off x="8403336" y="4443984"/>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a:t>
            </a:r>
            <a:endParaRPr lang="en-US" sz="910" dirty="0"/>
          </a:p>
        </p:txBody>
      </p:sp>
      <p:sp>
        <p:nvSpPr>
          <p:cNvPr id="158" name="Shape 155"/>
          <p:cNvSpPr/>
          <p:nvPr/>
        </p:nvSpPr>
        <p:spPr>
          <a:xfrm>
            <a:off x="8897112" y="4434840"/>
            <a:ext cx="461772" cy="306324"/>
          </a:xfrm>
          <a:prstGeom prst="rect">
            <a:avLst/>
          </a:prstGeom>
          <a:solidFill>
            <a:srgbClr val="FFFFFF"/>
          </a:solidFill>
          <a:ln w="5715">
            <a:solidFill>
              <a:srgbClr val="E5E9EF"/>
            </a:solidFill>
            <a:prstDash val="solid"/>
          </a:ln>
        </p:spPr>
      </p:sp>
      <p:sp>
        <p:nvSpPr>
          <p:cNvPr id="159" name="Text 156"/>
          <p:cNvSpPr/>
          <p:nvPr/>
        </p:nvSpPr>
        <p:spPr>
          <a:xfrm>
            <a:off x="8897112" y="4443984"/>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a:t>
            </a:r>
            <a:endParaRPr lang="en-US" sz="910" dirty="0"/>
          </a:p>
        </p:txBody>
      </p:sp>
      <p:sp>
        <p:nvSpPr>
          <p:cNvPr id="160" name="Shape 157"/>
          <p:cNvSpPr/>
          <p:nvPr/>
        </p:nvSpPr>
        <p:spPr>
          <a:xfrm>
            <a:off x="9390888" y="4434840"/>
            <a:ext cx="461772" cy="306324"/>
          </a:xfrm>
          <a:prstGeom prst="rect">
            <a:avLst/>
          </a:prstGeom>
          <a:solidFill>
            <a:srgbClr val="EAF6EF"/>
          </a:solidFill>
          <a:ln w="5715">
            <a:solidFill>
              <a:srgbClr val="B9DCC6"/>
            </a:solidFill>
            <a:prstDash val="solid"/>
          </a:ln>
        </p:spPr>
      </p:sp>
      <p:sp>
        <p:nvSpPr>
          <p:cNvPr id="161" name="Text 158"/>
          <p:cNvSpPr/>
          <p:nvPr/>
        </p:nvSpPr>
        <p:spPr>
          <a:xfrm>
            <a:off x="9390888" y="4443984"/>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panose="020B0604020202020204"/>
              </a:rPr>
              <a:t>Y</a:t>
            </a:r>
            <a:endParaRPr lang="en-US" sz="910" dirty="0"/>
          </a:p>
        </p:txBody>
      </p:sp>
      <p:sp>
        <p:nvSpPr>
          <p:cNvPr id="162" name="Shape 159"/>
          <p:cNvSpPr/>
          <p:nvPr/>
        </p:nvSpPr>
        <p:spPr>
          <a:xfrm>
            <a:off x="9884664" y="4434840"/>
            <a:ext cx="461772" cy="306324"/>
          </a:xfrm>
          <a:prstGeom prst="rect">
            <a:avLst/>
          </a:prstGeom>
          <a:solidFill>
            <a:srgbClr val="EAF6EF"/>
          </a:solidFill>
          <a:ln w="5715">
            <a:solidFill>
              <a:srgbClr val="B9DCC6"/>
            </a:solidFill>
            <a:prstDash val="solid"/>
          </a:ln>
        </p:spPr>
      </p:sp>
      <p:sp>
        <p:nvSpPr>
          <p:cNvPr id="163" name="Text 160"/>
          <p:cNvSpPr/>
          <p:nvPr/>
        </p:nvSpPr>
        <p:spPr>
          <a:xfrm>
            <a:off x="9884664" y="4443984"/>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panose="020B0604020202020204"/>
              </a:rPr>
              <a:t>–</a:t>
            </a:r>
            <a:endParaRPr lang="en-US" sz="910" dirty="0"/>
          </a:p>
        </p:txBody>
      </p:sp>
      <p:sp>
        <p:nvSpPr>
          <p:cNvPr id="164" name="Text 161"/>
          <p:cNvSpPr/>
          <p:nvPr/>
        </p:nvSpPr>
        <p:spPr>
          <a:xfrm>
            <a:off x="5696712" y="4805172"/>
            <a:ext cx="512064" cy="228600"/>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880" b="1">
                <a:solidFill>
                  <a:srgbClr val="172234"/>
                </a:solidFill>
                <a:latin typeface="Arial" panose="020B0604020202020204"/>
              </a:rPr>
              <a:t>O-</a:t>
            </a:r>
            <a:endParaRPr lang="en-US" sz="880" dirty="0"/>
          </a:p>
        </p:txBody>
      </p:sp>
      <p:sp>
        <p:nvSpPr>
          <p:cNvPr id="165" name="Shape 162"/>
          <p:cNvSpPr/>
          <p:nvPr/>
        </p:nvSpPr>
        <p:spPr>
          <a:xfrm>
            <a:off x="6428232" y="4805172"/>
            <a:ext cx="461772" cy="306324"/>
          </a:xfrm>
          <a:prstGeom prst="rect">
            <a:avLst/>
          </a:prstGeom>
          <a:solidFill>
            <a:srgbClr val="FFFFFF"/>
          </a:solidFill>
          <a:ln w="5715">
            <a:solidFill>
              <a:srgbClr val="E5E9EF"/>
            </a:solidFill>
            <a:prstDash val="solid"/>
          </a:ln>
        </p:spPr>
      </p:sp>
      <p:sp>
        <p:nvSpPr>
          <p:cNvPr id="166" name="Text 163"/>
          <p:cNvSpPr/>
          <p:nvPr/>
        </p:nvSpPr>
        <p:spPr>
          <a:xfrm>
            <a:off x="6428232" y="4814316"/>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Y</a:t>
            </a:r>
            <a:endParaRPr lang="en-US" sz="910" dirty="0"/>
          </a:p>
        </p:txBody>
      </p:sp>
      <p:sp>
        <p:nvSpPr>
          <p:cNvPr id="167" name="Shape 164"/>
          <p:cNvSpPr/>
          <p:nvPr/>
        </p:nvSpPr>
        <p:spPr>
          <a:xfrm>
            <a:off x="6922008" y="4805172"/>
            <a:ext cx="461772" cy="306324"/>
          </a:xfrm>
          <a:prstGeom prst="rect">
            <a:avLst/>
          </a:prstGeom>
          <a:solidFill>
            <a:srgbClr val="FFFFFF"/>
          </a:solidFill>
          <a:ln w="5715">
            <a:solidFill>
              <a:srgbClr val="E5E9EF"/>
            </a:solidFill>
            <a:prstDash val="solid"/>
          </a:ln>
        </p:spPr>
      </p:sp>
      <p:sp>
        <p:nvSpPr>
          <p:cNvPr id="168" name="Text 165"/>
          <p:cNvSpPr/>
          <p:nvPr/>
        </p:nvSpPr>
        <p:spPr>
          <a:xfrm>
            <a:off x="6922008" y="4814316"/>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Y</a:t>
            </a:r>
            <a:endParaRPr lang="en-US" sz="910" dirty="0"/>
          </a:p>
        </p:txBody>
      </p:sp>
      <p:sp>
        <p:nvSpPr>
          <p:cNvPr id="169" name="Shape 166"/>
          <p:cNvSpPr/>
          <p:nvPr/>
        </p:nvSpPr>
        <p:spPr>
          <a:xfrm>
            <a:off x="7415784" y="4805172"/>
            <a:ext cx="461772" cy="306324"/>
          </a:xfrm>
          <a:prstGeom prst="rect">
            <a:avLst/>
          </a:prstGeom>
          <a:solidFill>
            <a:srgbClr val="FFFFFF"/>
          </a:solidFill>
          <a:ln w="5715">
            <a:solidFill>
              <a:srgbClr val="E5E9EF"/>
            </a:solidFill>
            <a:prstDash val="solid"/>
          </a:ln>
        </p:spPr>
      </p:sp>
      <p:sp>
        <p:nvSpPr>
          <p:cNvPr id="170" name="Text 167"/>
          <p:cNvSpPr/>
          <p:nvPr/>
        </p:nvSpPr>
        <p:spPr>
          <a:xfrm>
            <a:off x="7415784" y="4814316"/>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Y</a:t>
            </a:r>
            <a:endParaRPr lang="en-US" sz="910" dirty="0"/>
          </a:p>
        </p:txBody>
      </p:sp>
      <p:sp>
        <p:nvSpPr>
          <p:cNvPr id="171" name="Shape 168"/>
          <p:cNvSpPr/>
          <p:nvPr/>
        </p:nvSpPr>
        <p:spPr>
          <a:xfrm>
            <a:off x="7909560" y="4805172"/>
            <a:ext cx="461772" cy="306324"/>
          </a:xfrm>
          <a:prstGeom prst="rect">
            <a:avLst/>
          </a:prstGeom>
          <a:solidFill>
            <a:srgbClr val="FFFFFF"/>
          </a:solidFill>
          <a:ln w="5715">
            <a:solidFill>
              <a:srgbClr val="E5E9EF"/>
            </a:solidFill>
            <a:prstDash val="solid"/>
          </a:ln>
        </p:spPr>
      </p:sp>
      <p:sp>
        <p:nvSpPr>
          <p:cNvPr id="172" name="Text 169"/>
          <p:cNvSpPr/>
          <p:nvPr/>
        </p:nvSpPr>
        <p:spPr>
          <a:xfrm>
            <a:off x="7909560" y="4814316"/>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Y</a:t>
            </a:r>
            <a:endParaRPr lang="en-US" sz="910" dirty="0"/>
          </a:p>
        </p:txBody>
      </p:sp>
      <p:sp>
        <p:nvSpPr>
          <p:cNvPr id="173" name="Shape 170"/>
          <p:cNvSpPr/>
          <p:nvPr/>
        </p:nvSpPr>
        <p:spPr>
          <a:xfrm>
            <a:off x="8403336" y="4805172"/>
            <a:ext cx="461772" cy="306324"/>
          </a:xfrm>
          <a:prstGeom prst="rect">
            <a:avLst/>
          </a:prstGeom>
          <a:solidFill>
            <a:srgbClr val="FFFFFF"/>
          </a:solidFill>
          <a:ln w="5715">
            <a:solidFill>
              <a:srgbClr val="E5E9EF"/>
            </a:solidFill>
            <a:prstDash val="solid"/>
          </a:ln>
        </p:spPr>
      </p:sp>
      <p:sp>
        <p:nvSpPr>
          <p:cNvPr id="174" name="Text 171"/>
          <p:cNvSpPr/>
          <p:nvPr/>
        </p:nvSpPr>
        <p:spPr>
          <a:xfrm>
            <a:off x="8403336" y="4814316"/>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Y</a:t>
            </a:r>
            <a:endParaRPr lang="en-US" sz="910" dirty="0"/>
          </a:p>
        </p:txBody>
      </p:sp>
      <p:sp>
        <p:nvSpPr>
          <p:cNvPr id="175" name="Shape 172"/>
          <p:cNvSpPr/>
          <p:nvPr/>
        </p:nvSpPr>
        <p:spPr>
          <a:xfrm>
            <a:off x="8897112" y="4805172"/>
            <a:ext cx="461772" cy="306324"/>
          </a:xfrm>
          <a:prstGeom prst="rect">
            <a:avLst/>
          </a:prstGeom>
          <a:solidFill>
            <a:srgbClr val="FFFFFF"/>
          </a:solidFill>
          <a:ln w="5715">
            <a:solidFill>
              <a:srgbClr val="E5E9EF"/>
            </a:solidFill>
            <a:prstDash val="solid"/>
          </a:ln>
        </p:spPr>
      </p:sp>
      <p:sp>
        <p:nvSpPr>
          <p:cNvPr id="176" name="Text 173"/>
          <p:cNvSpPr/>
          <p:nvPr/>
        </p:nvSpPr>
        <p:spPr>
          <a:xfrm>
            <a:off x="8897112" y="4814316"/>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Y</a:t>
            </a:r>
            <a:endParaRPr lang="en-US" sz="910" dirty="0"/>
          </a:p>
        </p:txBody>
      </p:sp>
      <p:sp>
        <p:nvSpPr>
          <p:cNvPr id="177" name="Shape 174"/>
          <p:cNvSpPr/>
          <p:nvPr/>
        </p:nvSpPr>
        <p:spPr>
          <a:xfrm>
            <a:off x="9390888" y="4805172"/>
            <a:ext cx="461772" cy="306324"/>
          </a:xfrm>
          <a:prstGeom prst="rect">
            <a:avLst/>
          </a:prstGeom>
          <a:solidFill>
            <a:srgbClr val="FFFFFF"/>
          </a:solidFill>
          <a:ln w="5715">
            <a:solidFill>
              <a:srgbClr val="E5E9EF"/>
            </a:solidFill>
            <a:prstDash val="solid"/>
          </a:ln>
        </p:spPr>
      </p:sp>
      <p:sp>
        <p:nvSpPr>
          <p:cNvPr id="178" name="Text 175"/>
          <p:cNvSpPr/>
          <p:nvPr/>
        </p:nvSpPr>
        <p:spPr>
          <a:xfrm>
            <a:off x="9390888" y="4814316"/>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panose="020B0604020202020204"/>
              </a:rPr>
              <a:t>Y</a:t>
            </a:r>
            <a:endParaRPr lang="en-US" sz="910" dirty="0"/>
          </a:p>
        </p:txBody>
      </p:sp>
      <p:sp>
        <p:nvSpPr>
          <p:cNvPr id="179" name="Shape 176"/>
          <p:cNvSpPr/>
          <p:nvPr/>
        </p:nvSpPr>
        <p:spPr>
          <a:xfrm>
            <a:off x="9884664" y="4805172"/>
            <a:ext cx="461772" cy="306324"/>
          </a:xfrm>
          <a:prstGeom prst="rect">
            <a:avLst/>
          </a:prstGeom>
          <a:solidFill>
            <a:srgbClr val="EAF6EF"/>
          </a:solidFill>
          <a:ln w="5715">
            <a:solidFill>
              <a:srgbClr val="B9DCC6"/>
            </a:solidFill>
            <a:prstDash val="solid"/>
          </a:ln>
        </p:spPr>
      </p:sp>
      <p:sp>
        <p:nvSpPr>
          <p:cNvPr id="180" name="Text 177"/>
          <p:cNvSpPr/>
          <p:nvPr/>
        </p:nvSpPr>
        <p:spPr>
          <a:xfrm>
            <a:off x="9884664" y="4814316"/>
            <a:ext cx="461772" cy="28803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panose="020B0604020202020204"/>
              </a:rPr>
              <a:t>Y</a:t>
            </a:r>
            <a:endParaRPr lang="en-US" sz="910" dirty="0"/>
          </a:p>
        </p:txBody>
      </p:sp>
      <p:sp>
        <p:nvSpPr>
          <p:cNvPr id="181" name="Shape 178"/>
          <p:cNvSpPr/>
          <p:nvPr/>
        </p:nvSpPr>
        <p:spPr>
          <a:xfrm>
            <a:off x="5559552" y="5376672"/>
            <a:ext cx="5806440" cy="310896"/>
          </a:xfrm>
          <a:prstGeom prst="roundRect">
            <a:avLst>
              <a:gd name="adj" fmla="val 23529"/>
            </a:avLst>
          </a:prstGeom>
          <a:solidFill>
            <a:srgbClr val="FFF6E2"/>
          </a:solidFill>
          <a:ln w="12700">
            <a:solidFill>
              <a:srgbClr val="E9D29A"/>
            </a:solidFill>
            <a:prstDash val="solid"/>
          </a:ln>
        </p:spPr>
      </p:sp>
      <p:sp>
        <p:nvSpPr>
          <p:cNvPr id="182" name="Text 179"/>
          <p:cNvSpPr/>
          <p:nvPr/>
        </p:nvSpPr>
        <p:spPr>
          <a:xfrm>
            <a:off x="5669280" y="5431536"/>
            <a:ext cx="5586984"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850">
                <a:solidFill>
                  <a:srgbClr val="7C5A11"/>
                </a:solidFill>
                <a:latin typeface="Arial" panose="020B0604020202020204"/>
              </a:rPr>
              <a:t>Table reflects the current Java array values only; it is not clinical transfusion guidance.</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1"/>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2200" b="1">
                <a:solidFill>
                  <a:srgbClr val="172234"/>
                </a:solidFill>
                <a:latin typeface="Arial" panose="020B0604020202020204"/>
              </a:rPr>
              <a:t>CO4 — Validation &amp; Error Handling</a:t>
            </a:r>
            <a:endParaRPr lang="en-US" sz="2200" dirty="0"/>
          </a:p>
        </p:txBody>
      </p:sp>
      <p:sp>
        <p:nvSpPr>
          <p:cNvPr id="4" name="Text 1"/>
          <p:cNvSpPr/>
          <p:nvPr/>
        </p:nvSpPr>
        <p:spPr>
          <a:xfrm>
            <a:off x="886968" y="640080"/>
            <a:ext cx="10789920"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030">
                <a:solidFill>
                  <a:srgbClr val="687487"/>
                </a:solidFill>
                <a:latin typeface="Arial" panose="020B0604020202020204"/>
              </a:rPr>
              <a:t>The submitted single-class program uses conditions, Scanner checks and file exceptions; it does not define separate domain classes</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p:spPr>
        <p:txBody>
          <a:bodyPr wrap="square" lIns="0" tIns="0" rIns="0" bIns="0" rtlCol="0" anchor="ctr">
            <a:normAutofit/>
          </a:bodyPr>
          <a:lstStyle/>
          <a:p>
            <a:pPr marL="0" indent="0">
              <a:buNone/>
            </a:pPr>
            <a:r>
              <a:rPr lang="en-US" sz="810" dirty="0">
                <a:solidFill>
                  <a:srgbClr val="8A929E"/>
                </a:solidFill>
                <a:latin typeface="Arial" panose="020B0604020202020204" pitchFamily="34" charset="0"/>
                <a:ea typeface="Arial" panose="020B0604020202020204" pitchFamily="34" charset="-122"/>
                <a:cs typeface="Arial" panose="020B0604020202020204" pitchFamily="34" charset="-120"/>
              </a:rPr>
              <a:t>11/10/2026</a:t>
            </a:r>
            <a:endParaRPr lang="en-US" sz="810" dirty="0"/>
          </a:p>
        </p:txBody>
      </p:sp>
      <p:sp>
        <p:nvSpPr>
          <p:cNvPr id="8" name="Text 5"/>
          <p:cNvSpPr/>
          <p:nvPr/>
        </p:nvSpPr>
        <p:spPr>
          <a:xfrm>
            <a:off x="3840480" y="6501384"/>
            <a:ext cx="4526280" cy="146304"/>
          </a:xfrm>
          <a:prstGeom prst="rect">
            <a:avLst/>
          </a:prstGeom>
          <a:noFill/>
        </p:spPr>
        <p:txBody>
          <a:bodyPr wrap="square" lIns="0" tIns="0" rIns="0" bIns="0" rtlCol="0" anchor="ctr">
            <a:normAutofit/>
          </a:bodyPr>
          <a:lstStyle/>
          <a:p>
            <a:pPr marL="0" indent="0" algn="ctr">
              <a:buNone/>
            </a:pPr>
            <a:r>
              <a:rPr lang="en-US" sz="760" dirty="0">
                <a:solidFill>
                  <a:srgbClr val="A0A7B2"/>
                </a:solidFill>
                <a:latin typeface="Arial" panose="020B0604020202020204" pitchFamily="34" charset="0"/>
                <a:ea typeface="Arial" panose="020B0604020202020204" pitchFamily="34" charset="-122"/>
                <a:cs typeface="Arial" panose="020B0604020202020204"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p:spPr>
        <p:txBody>
          <a:bodyPr wrap="square" lIns="0" tIns="0" rIns="0" bIns="0" rtlCol="0" anchor="ctr">
            <a:normAutofit/>
          </a:bodyPr>
          <a:lstStyle/>
          <a:p>
            <a:pPr marL="0" indent="0" algn="r">
              <a:buNone/>
            </a:pPr>
            <a:r>
              <a:rPr lang="en-US" sz="810" dirty="0">
                <a:solidFill>
                  <a:srgbClr val="8A929E"/>
                </a:solidFill>
                <a:latin typeface="Arial" panose="020B0604020202020204" pitchFamily="34" charset="0"/>
                <a:ea typeface="Arial" panose="020B0604020202020204" pitchFamily="34" charset="-122"/>
                <a:cs typeface="Arial" panose="020B0604020202020204" pitchFamily="34" charset="-120"/>
              </a:rPr>
              <a:t>7</a:t>
            </a:r>
            <a:endParaRPr lang="en-US" sz="810" dirty="0"/>
          </a:p>
        </p:txBody>
      </p:sp>
      <p:sp>
        <p:nvSpPr>
          <p:cNvPr id="10" name="Text 7"/>
          <p:cNvSpPr/>
          <p:nvPr/>
        </p:nvSpPr>
        <p:spPr>
          <a:xfrm>
            <a:off x="566928" y="1280160"/>
            <a:ext cx="2240280"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000" b="1">
                <a:solidFill>
                  <a:srgbClr val="D91F26"/>
                </a:solidFill>
                <a:latin typeface="Arial" panose="020B0604020202020204"/>
              </a:rPr>
              <a:t>PROGRAM STRUCTURE</a:t>
            </a:r>
            <a:endParaRPr lang="en-US" sz="1000" dirty="0"/>
          </a:p>
        </p:txBody>
      </p:sp>
      <p:sp>
        <p:nvSpPr>
          <p:cNvPr id="11" name="Shape 8"/>
          <p:cNvSpPr/>
          <p:nvPr/>
        </p:nvSpPr>
        <p:spPr>
          <a:xfrm>
            <a:off x="658368" y="1627632"/>
            <a:ext cx="1664208" cy="658368"/>
          </a:xfrm>
          <a:prstGeom prst="roundRect">
            <a:avLst>
              <a:gd name="adj" fmla="val 11111"/>
            </a:avLst>
          </a:prstGeom>
          <a:solidFill>
            <a:srgbClr val="FCEDEF"/>
          </a:solidFill>
          <a:ln w="12700">
            <a:solidFill>
              <a:srgbClr val="E8B8BE"/>
            </a:solidFill>
            <a:prstDash val="solid"/>
          </a:ln>
        </p:spPr>
      </p:sp>
      <p:sp>
        <p:nvSpPr>
          <p:cNvPr id="12" name="Text 9"/>
          <p:cNvSpPr/>
          <p:nvPr/>
        </p:nvSpPr>
        <p:spPr>
          <a:xfrm>
            <a:off x="722376" y="1682496"/>
            <a:ext cx="1536192" cy="548640"/>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080" b="1">
                <a:solidFill>
                  <a:srgbClr val="172234"/>
                </a:solidFill>
                <a:latin typeface="Arial" panose="020B0604020202020204"/>
              </a:rPr>
              <a:t>main()</a:t>
            </a:r>
            <a:endParaRPr lang="en-US" sz="1080" dirty="0"/>
          </a:p>
          <a:p>
            <a:pPr algn="l">
              <a:lnSpc>
                <a:spcPct val="100000"/>
              </a:lnSpc>
              <a:spcBef>
                <a:spcPts val="0"/>
              </a:spcBef>
              <a:spcAft>
                <a:spcPts val="0"/>
              </a:spcAft>
            </a:pPr>
            <a:r>
              <a:rPr sz="1080" b="1">
                <a:solidFill>
                  <a:srgbClr val="172234"/>
                </a:solidFill>
                <a:latin typeface="Arial" panose="020B0604020202020204"/>
              </a:rPr>
              <a:t>menu loop</a:t>
            </a:r>
            <a:endParaRPr sz="1080" b="1">
              <a:solidFill>
                <a:srgbClr val="172234"/>
              </a:solidFill>
              <a:latin typeface="Arial" panose="020B0604020202020204"/>
            </a:endParaRPr>
          </a:p>
        </p:txBody>
      </p:sp>
      <p:sp>
        <p:nvSpPr>
          <p:cNvPr id="13" name="Text 10"/>
          <p:cNvSpPr/>
          <p:nvPr/>
        </p:nvSpPr>
        <p:spPr>
          <a:xfrm>
            <a:off x="2350008" y="1856232"/>
            <a:ext cx="347472" cy="164592"/>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840" i="1">
                <a:solidFill>
                  <a:srgbClr val="687487"/>
                </a:solidFill>
                <a:latin typeface="Arial" panose="020B0604020202020204"/>
              </a:rPr>
              <a:t>calls</a:t>
            </a:r>
            <a:endParaRPr lang="en-US" sz="840" dirty="0"/>
          </a:p>
        </p:txBody>
      </p:sp>
      <p:sp>
        <p:nvSpPr>
          <p:cNvPr id="14" name="Shape 11"/>
          <p:cNvSpPr/>
          <p:nvPr/>
        </p:nvSpPr>
        <p:spPr>
          <a:xfrm>
            <a:off x="2724912" y="1627632"/>
            <a:ext cx="1965960" cy="658368"/>
          </a:xfrm>
          <a:prstGeom prst="roundRect">
            <a:avLst>
              <a:gd name="adj" fmla="val 11111"/>
            </a:avLst>
          </a:prstGeom>
          <a:solidFill>
            <a:srgbClr val="EAF2FB"/>
          </a:solidFill>
          <a:ln w="12700">
            <a:solidFill>
              <a:srgbClr val="B8D0EE"/>
            </a:solidFill>
            <a:prstDash val="solid"/>
          </a:ln>
        </p:spPr>
      </p:sp>
      <p:sp>
        <p:nvSpPr>
          <p:cNvPr id="15" name="Text 12"/>
          <p:cNvSpPr/>
          <p:nvPr/>
        </p:nvSpPr>
        <p:spPr>
          <a:xfrm>
            <a:off x="2788920" y="1682496"/>
            <a:ext cx="1837944" cy="548640"/>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080" b="1">
                <a:solidFill>
                  <a:srgbClr val="172234"/>
                </a:solidFill>
                <a:latin typeface="Arial" panose="020B0604020202020204"/>
              </a:rPr>
              <a:t>Static methods</a:t>
            </a:r>
            <a:endParaRPr lang="en-US" sz="1080" dirty="0"/>
          </a:p>
          <a:p>
            <a:pPr algn="l">
              <a:lnSpc>
                <a:spcPct val="100000"/>
              </a:lnSpc>
              <a:spcBef>
                <a:spcPts val="0"/>
              </a:spcBef>
              <a:spcAft>
                <a:spcPts val="0"/>
              </a:spcAft>
            </a:pPr>
            <a:r>
              <a:rPr sz="1080" b="1">
                <a:solidFill>
                  <a:srgbClr val="172234"/>
                </a:solidFill>
                <a:latin typeface="Arial" panose="020B0604020202020204"/>
              </a:rPr>
              <a:t>add / search / issue</a:t>
            </a:r>
            <a:endParaRPr sz="1080" b="1">
              <a:solidFill>
                <a:srgbClr val="172234"/>
              </a:solidFill>
              <a:latin typeface="Arial" panose="020B0604020202020204"/>
            </a:endParaRPr>
          </a:p>
        </p:txBody>
      </p:sp>
      <p:sp>
        <p:nvSpPr>
          <p:cNvPr id="16" name="Text 13"/>
          <p:cNvSpPr/>
          <p:nvPr/>
        </p:nvSpPr>
        <p:spPr>
          <a:xfrm>
            <a:off x="4782312" y="1856232"/>
            <a:ext cx="594360" cy="164592"/>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840" i="1">
                <a:solidFill>
                  <a:srgbClr val="687487"/>
                </a:solidFill>
                <a:latin typeface="Arial" panose="020B0604020202020204"/>
              </a:rPr>
              <a:t>load / save</a:t>
            </a:r>
            <a:endParaRPr lang="en-US" sz="840" dirty="0"/>
          </a:p>
        </p:txBody>
      </p:sp>
      <p:sp>
        <p:nvSpPr>
          <p:cNvPr id="17" name="Shape 14"/>
          <p:cNvSpPr/>
          <p:nvPr/>
        </p:nvSpPr>
        <p:spPr>
          <a:xfrm>
            <a:off x="5431536" y="1627632"/>
            <a:ext cx="1755648" cy="658368"/>
          </a:xfrm>
          <a:prstGeom prst="roundRect">
            <a:avLst>
              <a:gd name="adj" fmla="val 11111"/>
            </a:avLst>
          </a:prstGeom>
          <a:solidFill>
            <a:srgbClr val="EAF6EF"/>
          </a:solidFill>
          <a:ln w="12700">
            <a:solidFill>
              <a:srgbClr val="B9DCC6"/>
            </a:solidFill>
            <a:prstDash val="solid"/>
          </a:ln>
        </p:spPr>
      </p:sp>
      <p:sp>
        <p:nvSpPr>
          <p:cNvPr id="18" name="Text 15"/>
          <p:cNvSpPr/>
          <p:nvPr/>
        </p:nvSpPr>
        <p:spPr>
          <a:xfrm>
            <a:off x="5495544" y="1682496"/>
            <a:ext cx="1627632" cy="548640"/>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080" b="1">
                <a:solidFill>
                  <a:srgbClr val="172234"/>
                </a:solidFill>
                <a:latin typeface="Arial" panose="020B0604020202020204"/>
              </a:rPr>
              <a:t>File methods</a:t>
            </a:r>
            <a:endParaRPr lang="en-US" sz="1080" dirty="0"/>
          </a:p>
          <a:p>
            <a:pPr algn="l">
              <a:lnSpc>
                <a:spcPct val="100000"/>
              </a:lnSpc>
              <a:spcBef>
                <a:spcPts val="0"/>
              </a:spcBef>
              <a:spcAft>
                <a:spcPts val="0"/>
              </a:spcAft>
            </a:pPr>
            <a:r>
              <a:rPr sz="1080" b="1">
                <a:solidFill>
                  <a:srgbClr val="172234"/>
                </a:solidFill>
                <a:latin typeface="Arial" panose="020B0604020202020204"/>
              </a:rPr>
              <a:t>read / write text</a:t>
            </a:r>
            <a:endParaRPr sz="1080" b="1">
              <a:solidFill>
                <a:srgbClr val="172234"/>
              </a:solidFill>
              <a:latin typeface="Arial" panose="020B0604020202020204"/>
            </a:endParaRPr>
          </a:p>
        </p:txBody>
      </p:sp>
      <p:sp>
        <p:nvSpPr>
          <p:cNvPr id="19" name="Text 16"/>
          <p:cNvSpPr/>
          <p:nvPr/>
        </p:nvSpPr>
        <p:spPr>
          <a:xfrm>
            <a:off x="7379208" y="1792224"/>
            <a:ext cx="4005072" cy="31089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020" b="1">
                <a:solidFill>
                  <a:srgbClr val="172234"/>
                </a:solidFill>
                <a:latin typeface="Arial" panose="020B0604020202020204"/>
              </a:rPr>
              <a:t>Files actually used: donors.txt • inventory.txt</a:t>
            </a:r>
            <a:endParaRPr lang="en-US" sz="1020" dirty="0"/>
          </a:p>
        </p:txBody>
      </p:sp>
      <p:sp>
        <p:nvSpPr>
          <p:cNvPr id="20" name="Shape 17"/>
          <p:cNvSpPr/>
          <p:nvPr/>
        </p:nvSpPr>
        <p:spPr>
          <a:xfrm>
            <a:off x="3703320" y="2331720"/>
            <a:ext cx="0" cy="320040"/>
          </a:xfrm>
          <a:prstGeom prst="line">
            <a:avLst/>
          </a:prstGeom>
          <a:noFill/>
          <a:ln w="15240">
            <a:solidFill>
              <a:srgbClr val="B8D0EE"/>
            </a:solidFill>
            <a:prstDash val="solid"/>
            <a:tailEnd type="triangle"/>
          </a:ln>
        </p:spPr>
      </p:sp>
      <p:sp>
        <p:nvSpPr>
          <p:cNvPr id="21" name="Text 18"/>
          <p:cNvSpPr/>
          <p:nvPr/>
        </p:nvSpPr>
        <p:spPr>
          <a:xfrm>
            <a:off x="566928" y="2724912"/>
            <a:ext cx="2743200"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000" b="1">
                <a:solidFill>
                  <a:srgbClr val="214D7B"/>
                </a:solidFill>
                <a:latin typeface="Arial" panose="020B0604020202020204"/>
              </a:rPr>
              <a:t>ARRAYS &amp; INPUT CHECKS</a:t>
            </a:r>
            <a:endParaRPr lang="en-US" sz="1000" dirty="0"/>
          </a:p>
        </p:txBody>
      </p:sp>
      <p:sp>
        <p:nvSpPr>
          <p:cNvPr id="22" name="Shape 19"/>
          <p:cNvSpPr/>
          <p:nvPr/>
        </p:nvSpPr>
        <p:spPr>
          <a:xfrm>
            <a:off x="576072" y="3063240"/>
            <a:ext cx="1947672" cy="1024128"/>
          </a:xfrm>
          <a:prstGeom prst="roundRect">
            <a:avLst>
              <a:gd name="adj" fmla="val 7143"/>
            </a:avLst>
          </a:prstGeom>
          <a:solidFill>
            <a:srgbClr val="FCEDEF"/>
          </a:solidFill>
          <a:ln w="12700">
            <a:solidFill>
              <a:srgbClr val="E8B8BE"/>
            </a:solidFill>
            <a:prstDash val="solid"/>
          </a:ln>
        </p:spPr>
      </p:sp>
      <p:sp>
        <p:nvSpPr>
          <p:cNvPr id="23" name="Text 20"/>
          <p:cNvSpPr/>
          <p:nvPr/>
        </p:nvSpPr>
        <p:spPr>
          <a:xfrm>
            <a:off x="713232" y="3163824"/>
            <a:ext cx="1664208"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150" b="1">
                <a:solidFill>
                  <a:srgbClr val="B71920"/>
                </a:solidFill>
                <a:latin typeface="Arial" panose="020B0604020202020204"/>
              </a:rPr>
              <a:t>Donor arrays</a:t>
            </a:r>
            <a:endParaRPr lang="en-US" sz="1150" dirty="0"/>
          </a:p>
        </p:txBody>
      </p:sp>
      <p:sp>
        <p:nvSpPr>
          <p:cNvPr id="24" name="Text 21"/>
          <p:cNvSpPr/>
          <p:nvPr/>
        </p:nvSpPr>
        <p:spPr>
          <a:xfrm>
            <a:off x="704088" y="3456432"/>
            <a:ext cx="1691640" cy="438912"/>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40">
                <a:solidFill>
                  <a:srgbClr val="202938"/>
                </a:solidFill>
                <a:latin typeface="Arial" panose="020B0604020202020204"/>
              </a:rPr>
              <a:t>IDs • names • ages • groups • phones</a:t>
            </a:r>
            <a:endParaRPr lang="en-US" sz="940" dirty="0"/>
          </a:p>
        </p:txBody>
      </p:sp>
      <p:sp>
        <p:nvSpPr>
          <p:cNvPr id="25" name="Text 22"/>
          <p:cNvSpPr/>
          <p:nvPr/>
        </p:nvSpPr>
        <p:spPr>
          <a:xfrm>
            <a:off x="1143000" y="4096512"/>
            <a:ext cx="822960" cy="21945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850">
                <a:solidFill>
                  <a:srgbClr val="687487"/>
                </a:solidFill>
                <a:latin typeface="Arial" panose="020B0604020202020204"/>
              </a:rPr>
              <a:t>indexed by count</a:t>
            </a:r>
            <a:endParaRPr lang="en-US" sz="850" dirty="0"/>
          </a:p>
        </p:txBody>
      </p:sp>
      <p:sp>
        <p:nvSpPr>
          <p:cNvPr id="26" name="Shape 23"/>
          <p:cNvSpPr/>
          <p:nvPr/>
        </p:nvSpPr>
        <p:spPr>
          <a:xfrm>
            <a:off x="576072" y="4352544"/>
            <a:ext cx="1947672" cy="822960"/>
          </a:xfrm>
          <a:prstGeom prst="roundRect">
            <a:avLst>
              <a:gd name="adj" fmla="val 8889"/>
            </a:avLst>
          </a:prstGeom>
          <a:solidFill>
            <a:srgbClr val="FCEDEF"/>
          </a:solidFill>
          <a:ln w="12700">
            <a:solidFill>
              <a:srgbClr val="E8B8BE"/>
            </a:solidFill>
            <a:prstDash val="solid"/>
          </a:ln>
        </p:spPr>
      </p:sp>
      <p:sp>
        <p:nvSpPr>
          <p:cNvPr id="27" name="Text 24"/>
          <p:cNvSpPr/>
          <p:nvPr/>
        </p:nvSpPr>
        <p:spPr>
          <a:xfrm>
            <a:off x="722376" y="4462272"/>
            <a:ext cx="1645920"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150" b="1">
                <a:solidFill>
                  <a:srgbClr val="B71920"/>
                </a:solidFill>
                <a:latin typeface="Arial" panose="020B0604020202020204"/>
              </a:rPr>
              <a:t>Blood stock</a:t>
            </a:r>
            <a:endParaRPr lang="en-US" sz="1150" dirty="0"/>
          </a:p>
        </p:txBody>
      </p:sp>
      <p:sp>
        <p:nvSpPr>
          <p:cNvPr id="28" name="Text 25"/>
          <p:cNvSpPr/>
          <p:nvPr/>
        </p:nvSpPr>
        <p:spPr>
          <a:xfrm>
            <a:off x="694944" y="4727448"/>
            <a:ext cx="1709928" cy="31089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10">
                <a:solidFill>
                  <a:srgbClr val="202938"/>
                </a:solidFill>
                <a:latin typeface="Arial" panose="020B0604020202020204"/>
              </a:rPr>
              <a:t>groups[] • stock[]</a:t>
            </a:r>
            <a:endParaRPr lang="en-US" sz="910" dirty="0"/>
          </a:p>
        </p:txBody>
      </p:sp>
      <p:sp>
        <p:nvSpPr>
          <p:cNvPr id="29" name="Shape 26"/>
          <p:cNvSpPr/>
          <p:nvPr/>
        </p:nvSpPr>
        <p:spPr>
          <a:xfrm>
            <a:off x="2715768" y="3063240"/>
            <a:ext cx="2103120" cy="1024128"/>
          </a:xfrm>
          <a:prstGeom prst="roundRect">
            <a:avLst>
              <a:gd name="adj" fmla="val 7143"/>
            </a:avLst>
          </a:prstGeom>
          <a:solidFill>
            <a:srgbClr val="EAF2FB"/>
          </a:solidFill>
          <a:ln w="12700">
            <a:solidFill>
              <a:srgbClr val="B8D0EE"/>
            </a:solidFill>
            <a:prstDash val="solid"/>
          </a:ln>
        </p:spPr>
      </p:sp>
      <p:sp>
        <p:nvSpPr>
          <p:cNvPr id="30" name="Text 27"/>
          <p:cNvSpPr/>
          <p:nvPr/>
        </p:nvSpPr>
        <p:spPr>
          <a:xfrm>
            <a:off x="2852928" y="3163824"/>
            <a:ext cx="1828800"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130" b="1">
                <a:solidFill>
                  <a:srgbClr val="214D7B"/>
                </a:solidFill>
                <a:latin typeface="Arial" panose="020B0604020202020204"/>
              </a:rPr>
              <a:t>Compatibility</a:t>
            </a:r>
            <a:endParaRPr lang="en-US" sz="1130" dirty="0"/>
          </a:p>
        </p:txBody>
      </p:sp>
      <p:sp>
        <p:nvSpPr>
          <p:cNvPr id="31" name="Text 28"/>
          <p:cNvSpPr/>
          <p:nvPr/>
        </p:nvSpPr>
        <p:spPr>
          <a:xfrm>
            <a:off x="2834640" y="3456432"/>
            <a:ext cx="1865376" cy="4297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890">
                <a:solidFill>
                  <a:srgbClr val="202938"/>
                </a:solidFill>
                <a:latin typeface="Arial" panose="020B0604020202020204"/>
              </a:rPr>
              <a:t>boolean compatible[8][8]</a:t>
            </a:r>
            <a:endParaRPr lang="en-US" sz="890" dirty="0"/>
          </a:p>
        </p:txBody>
      </p:sp>
      <p:sp>
        <p:nvSpPr>
          <p:cNvPr id="32" name="Shape 29"/>
          <p:cNvSpPr/>
          <p:nvPr/>
        </p:nvSpPr>
        <p:spPr>
          <a:xfrm>
            <a:off x="5010912" y="3063240"/>
            <a:ext cx="1901952" cy="1024128"/>
          </a:xfrm>
          <a:prstGeom prst="roundRect">
            <a:avLst>
              <a:gd name="adj" fmla="val 7143"/>
            </a:avLst>
          </a:prstGeom>
          <a:solidFill>
            <a:srgbClr val="EAF6EF"/>
          </a:solidFill>
          <a:ln w="12700">
            <a:solidFill>
              <a:srgbClr val="B9DCC6"/>
            </a:solidFill>
            <a:prstDash val="solid"/>
          </a:ln>
        </p:spPr>
      </p:sp>
      <p:sp>
        <p:nvSpPr>
          <p:cNvPr id="33" name="Text 30"/>
          <p:cNvSpPr/>
          <p:nvPr/>
        </p:nvSpPr>
        <p:spPr>
          <a:xfrm>
            <a:off x="5138928" y="3163824"/>
            <a:ext cx="1645920"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100" b="1">
                <a:solidFill>
                  <a:srgbClr val="28734B"/>
                </a:solidFill>
                <a:latin typeface="Arial" panose="020B0604020202020204"/>
              </a:rPr>
              <a:t>Input validation</a:t>
            </a:r>
            <a:endParaRPr lang="en-US" sz="1100" dirty="0"/>
          </a:p>
        </p:txBody>
      </p:sp>
      <p:sp>
        <p:nvSpPr>
          <p:cNvPr id="34" name="Text 31"/>
          <p:cNvSpPr/>
          <p:nvPr/>
        </p:nvSpPr>
        <p:spPr>
          <a:xfrm>
            <a:off x="5148072" y="3456432"/>
            <a:ext cx="1627632" cy="393192"/>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30">
                <a:solidFill>
                  <a:srgbClr val="202938"/>
                </a:solidFill>
                <a:latin typeface="Arial" panose="020B0604020202020204"/>
              </a:rPr>
              <a:t>Duplicate ID • age • group • phone • units</a:t>
            </a:r>
            <a:endParaRPr lang="en-US" sz="930" dirty="0"/>
          </a:p>
        </p:txBody>
      </p:sp>
      <p:sp>
        <p:nvSpPr>
          <p:cNvPr id="35" name="Shape 32"/>
          <p:cNvSpPr/>
          <p:nvPr/>
        </p:nvSpPr>
        <p:spPr>
          <a:xfrm>
            <a:off x="7104888" y="3063240"/>
            <a:ext cx="1901952" cy="1024128"/>
          </a:xfrm>
          <a:prstGeom prst="roundRect">
            <a:avLst>
              <a:gd name="adj" fmla="val 7143"/>
            </a:avLst>
          </a:prstGeom>
          <a:solidFill>
            <a:srgbClr val="EAF6EF"/>
          </a:solidFill>
          <a:ln w="12700">
            <a:solidFill>
              <a:srgbClr val="B9DCC6"/>
            </a:solidFill>
            <a:prstDash val="solid"/>
          </a:ln>
        </p:spPr>
      </p:sp>
      <p:sp>
        <p:nvSpPr>
          <p:cNvPr id="36" name="Text 33"/>
          <p:cNvSpPr/>
          <p:nvPr/>
        </p:nvSpPr>
        <p:spPr>
          <a:xfrm>
            <a:off x="7232904" y="3163824"/>
            <a:ext cx="1645920"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100" b="1">
                <a:solidFill>
                  <a:srgbClr val="28734B"/>
                </a:solidFill>
                <a:latin typeface="Arial" panose="020B0604020202020204"/>
              </a:rPr>
              <a:t>File exceptions</a:t>
            </a:r>
            <a:endParaRPr lang="en-US" sz="1100" dirty="0"/>
          </a:p>
        </p:txBody>
      </p:sp>
      <p:sp>
        <p:nvSpPr>
          <p:cNvPr id="37" name="Text 34"/>
          <p:cNvSpPr/>
          <p:nvPr/>
        </p:nvSpPr>
        <p:spPr>
          <a:xfrm>
            <a:off x="7223760" y="3456432"/>
            <a:ext cx="1664208" cy="393192"/>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30">
                <a:solidFill>
                  <a:srgbClr val="202938"/>
                </a:solidFill>
                <a:latin typeface="Arial" panose="020B0604020202020204"/>
              </a:rPr>
              <a:t>FileNotFoundException • NumberFormatException</a:t>
            </a:r>
            <a:endParaRPr lang="en-US" sz="930" dirty="0"/>
          </a:p>
        </p:txBody>
      </p:sp>
      <p:sp>
        <p:nvSpPr>
          <p:cNvPr id="38" name="Shape 35"/>
          <p:cNvSpPr/>
          <p:nvPr/>
        </p:nvSpPr>
        <p:spPr>
          <a:xfrm>
            <a:off x="9198864" y="3063240"/>
            <a:ext cx="2350008" cy="1024128"/>
          </a:xfrm>
          <a:prstGeom prst="roundRect">
            <a:avLst>
              <a:gd name="adj" fmla="val 7143"/>
            </a:avLst>
          </a:prstGeom>
          <a:solidFill>
            <a:srgbClr val="F7F9FC"/>
          </a:solidFill>
          <a:ln w="12700">
            <a:solidFill>
              <a:srgbClr val="E1E6ED"/>
            </a:solidFill>
            <a:prstDash val="solid"/>
          </a:ln>
        </p:spPr>
      </p:sp>
      <p:sp>
        <p:nvSpPr>
          <p:cNvPr id="39" name="Text 36"/>
          <p:cNvSpPr/>
          <p:nvPr/>
        </p:nvSpPr>
        <p:spPr>
          <a:xfrm>
            <a:off x="9317736" y="3163824"/>
            <a:ext cx="2093976"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040" b="1">
                <a:solidFill>
                  <a:srgbClr val="172234"/>
                </a:solidFill>
                <a:latin typeface="Arial" panose="020B0604020202020204"/>
              </a:rPr>
              <a:t>FILE LOADING</a:t>
            </a:r>
            <a:endParaRPr lang="en-US" sz="1040" dirty="0"/>
          </a:p>
        </p:txBody>
      </p:sp>
      <p:sp>
        <p:nvSpPr>
          <p:cNvPr id="40" name="Text 37"/>
          <p:cNvSpPr/>
          <p:nvPr/>
        </p:nvSpPr>
        <p:spPr>
          <a:xfrm>
            <a:off x="9308592" y="3456432"/>
            <a:ext cx="2103120" cy="438912"/>
          </a:xfrm>
          <a:prstGeom prst="rect">
            <a:avLst/>
          </a:prstGeom>
          <a:noFill/>
        </p:spPr>
        <p:txBody>
          <a:bodyPr wrap="square" lIns="0" tIns="0" rIns="0" bIns="0" rtlCol="0" anchor="ctr">
            <a:normAutofit/>
          </a:bodyPr>
          <a:lstStyle/>
          <a:p>
            <a:pPr marL="0" indent="0" algn="ctr">
              <a:lnSpc>
                <a:spcPct val="100000"/>
              </a:lnSpc>
              <a:spcBef>
                <a:spcPts val="0"/>
              </a:spcBef>
              <a:spcAft>
                <a:spcPts val="0"/>
              </a:spcAft>
              <a:buNone/>
            </a:pPr>
            <a:r>
              <a:rPr sz="910">
                <a:solidFill>
                  <a:srgbClr val="202938"/>
                </a:solidFill>
                <a:latin typeface="Arial" panose="020B0604020202020204"/>
              </a:rPr>
              <a:t>Missing files are tolerated; invalid numeric records are ignored.</a:t>
            </a:r>
            <a:endParaRPr lang="en-US" sz="910" dirty="0"/>
          </a:p>
        </p:txBody>
      </p:sp>
      <p:sp>
        <p:nvSpPr>
          <p:cNvPr id="41" name="Shape 38"/>
          <p:cNvSpPr/>
          <p:nvPr/>
        </p:nvSpPr>
        <p:spPr>
          <a:xfrm>
            <a:off x="576072" y="5239512"/>
            <a:ext cx="5166360" cy="1024128"/>
          </a:xfrm>
          <a:prstGeom prst="roundRect">
            <a:avLst>
              <a:gd name="adj" fmla="val 7143"/>
            </a:avLst>
          </a:prstGeom>
          <a:solidFill>
            <a:srgbClr val="172234"/>
          </a:solidFill>
          <a:ln w="12700">
            <a:solidFill>
              <a:srgbClr val="172234"/>
            </a:solidFill>
            <a:prstDash val="solid"/>
          </a:ln>
        </p:spPr>
      </p:sp>
      <p:sp>
        <p:nvSpPr>
          <p:cNvPr id="42" name="Text 39"/>
          <p:cNvSpPr/>
          <p:nvPr/>
        </p:nvSpPr>
        <p:spPr>
          <a:xfrm>
            <a:off x="740664" y="5340096"/>
            <a:ext cx="4837176" cy="201168"/>
          </a:xfrm>
          <a:prstGeom prst="rect">
            <a:avLst/>
          </a:prstGeom>
          <a:noFill/>
        </p:spPr>
        <p:txBody>
          <a:bodyPr wrap="square" lIns="0" tIns="0" rIns="0" bIns="0" rtlCol="0" anchor="ctr">
            <a:normAutofit/>
          </a:bodyPr>
          <a:lstStyle/>
          <a:p>
            <a:pPr marL="0" indent="0">
              <a:lnSpc>
                <a:spcPct val="100000"/>
              </a:lnSpc>
              <a:spcBef>
                <a:spcPts val="0"/>
              </a:spcBef>
              <a:spcAft>
                <a:spcPts val="0"/>
              </a:spcAft>
              <a:buNone/>
            </a:pPr>
            <a:r>
              <a:rPr sz="900" b="1">
                <a:solidFill>
                  <a:srgbClr val="F2B8BD"/>
                </a:solidFill>
                <a:latin typeface="Arial" panose="020B0604020202020204"/>
              </a:rPr>
              <a:t>VALIDATION EXAMPLE — BLOODBANK.JAVA</a:t>
            </a:r>
            <a:endParaRPr lang="en-US" sz="900" dirty="0"/>
          </a:p>
        </p:txBody>
      </p:sp>
      <p:sp>
        <p:nvSpPr>
          <p:cNvPr id="43" name="Shape 40"/>
          <p:cNvSpPr/>
          <p:nvPr/>
        </p:nvSpPr>
        <p:spPr>
          <a:xfrm>
            <a:off x="713232" y="5596128"/>
            <a:ext cx="4892040" cy="0"/>
          </a:xfrm>
          <a:prstGeom prst="line">
            <a:avLst/>
          </a:prstGeom>
          <a:noFill/>
          <a:ln w="8890">
            <a:solidFill>
              <a:srgbClr val="42506A"/>
            </a:solidFill>
            <a:prstDash val="solid"/>
          </a:ln>
        </p:spPr>
      </p:sp>
      <p:sp>
        <p:nvSpPr>
          <p:cNvPr id="44" name="Text 41"/>
          <p:cNvSpPr/>
          <p:nvPr/>
        </p:nvSpPr>
        <p:spPr>
          <a:xfrm>
            <a:off x="731520" y="5696712"/>
            <a:ext cx="4855464" cy="475488"/>
          </a:xfrm>
          <a:prstGeom prst="rect">
            <a:avLst/>
          </a:prstGeom>
          <a:noFill/>
        </p:spPr>
        <p:txBody>
          <a:bodyPr wrap="square" lIns="127" tIns="127" rIns="127" bIns="127" rtlCol="0" anchor="t"/>
          <a:lstStyle/>
          <a:p>
            <a:pPr marL="0" indent="0" algn="l">
              <a:lnSpc>
                <a:spcPct val="100000"/>
              </a:lnSpc>
              <a:spcBef>
                <a:spcPts val="0"/>
              </a:spcBef>
              <a:spcAft>
                <a:spcPts val="0"/>
              </a:spcAft>
              <a:buNone/>
            </a:pPr>
            <a:r>
              <a:rPr sz="870">
                <a:solidFill>
                  <a:srgbClr val="EAF0F8"/>
                </a:solidFill>
                <a:latin typeface="Liberation Mono"/>
              </a:rPr>
              <a:t>if (age &lt; 18 || age &gt; 65) {</a:t>
            </a:r>
            <a:endParaRPr lang="en-US" sz="960" dirty="0"/>
          </a:p>
          <a:p>
            <a:pPr>
              <a:lnSpc>
                <a:spcPct val="100000"/>
              </a:lnSpc>
              <a:spcBef>
                <a:spcPts val="0"/>
              </a:spcBef>
              <a:spcAft>
                <a:spcPts val="0"/>
              </a:spcAft>
            </a:pPr>
            <a:r>
              <a:rPr sz="870">
                <a:solidFill>
                  <a:srgbClr val="EAF0F8"/>
                </a:solidFill>
                <a:latin typeface="Liberation Mono"/>
              </a:rPr>
              <a:t>    System.out.println("For this demo, age must be between 18 and 65.");</a:t>
            </a:r>
            <a:endParaRPr sz="870">
              <a:solidFill>
                <a:srgbClr val="EAF0F8"/>
              </a:solidFill>
              <a:latin typeface="Liberation Mono"/>
            </a:endParaRPr>
          </a:p>
          <a:p>
            <a:pPr>
              <a:lnSpc>
                <a:spcPct val="100000"/>
              </a:lnSpc>
              <a:spcBef>
                <a:spcPts val="0"/>
              </a:spcBef>
              <a:spcAft>
                <a:spcPts val="0"/>
              </a:spcAft>
            </a:pPr>
            <a:r>
              <a:rPr sz="870">
                <a:solidFill>
                  <a:srgbClr val="EAF0F8"/>
                </a:solidFill>
                <a:latin typeface="Liberation Mono"/>
              </a:rPr>
              <a:t>    return;</a:t>
            </a:r>
            <a:endParaRPr sz="870">
              <a:solidFill>
                <a:srgbClr val="EAF0F8"/>
              </a:solidFill>
              <a:latin typeface="Liberation Mono"/>
            </a:endParaRPr>
          </a:p>
          <a:p>
            <a:pPr>
              <a:lnSpc>
                <a:spcPct val="100000"/>
              </a:lnSpc>
              <a:spcBef>
                <a:spcPts val="0"/>
              </a:spcBef>
              <a:spcAft>
                <a:spcPts val="0"/>
              </a:spcAft>
            </a:pPr>
            <a:r>
              <a:rPr sz="870">
                <a:solidFill>
                  <a:srgbClr val="EAF0F8"/>
                </a:solidFill>
                <a:latin typeface="Liberation Mono"/>
              </a:rPr>
              <a:t>}</a:t>
            </a:r>
            <a:endParaRPr sz="870">
              <a:solidFill>
                <a:srgbClr val="EAF0F8"/>
              </a:solidFill>
              <a:latin typeface="Liberation Mono"/>
            </a:endParaRPr>
          </a:p>
        </p:txBody>
      </p:sp>
      <p:sp>
        <p:nvSpPr>
          <p:cNvPr id="45" name="Shape 42"/>
          <p:cNvSpPr/>
          <p:nvPr/>
        </p:nvSpPr>
        <p:spPr>
          <a:xfrm>
            <a:off x="5971032" y="5239512"/>
            <a:ext cx="5577840" cy="1024128"/>
          </a:xfrm>
          <a:prstGeom prst="roundRect">
            <a:avLst>
              <a:gd name="adj" fmla="val 7143"/>
            </a:avLst>
          </a:prstGeom>
          <a:solidFill>
            <a:srgbClr val="FFF6E2"/>
          </a:solidFill>
          <a:ln w="12700">
            <a:solidFill>
              <a:srgbClr val="E9D29A"/>
            </a:solidFill>
            <a:prstDash val="solid"/>
          </a:ln>
        </p:spPr>
      </p:sp>
      <p:sp>
        <p:nvSpPr>
          <p:cNvPr id="46" name="Text 43"/>
          <p:cNvSpPr/>
          <p:nvPr/>
        </p:nvSpPr>
        <p:spPr>
          <a:xfrm>
            <a:off x="6080760" y="5294376"/>
            <a:ext cx="5358384" cy="914400"/>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60">
                <a:solidFill>
                  <a:srgbClr val="7C5A11"/>
                </a:solidFill>
                <a:latin typeface="Arial" panose="020B0604020202020204"/>
              </a:rPr>
              <a:t>The program uses one class with static arrays and methods. Invalid inputs are rejected; missing files are tolerated on first run, and invalid numeric file values are ignored.</a:t>
            </a:r>
            <a:endParaRPr lang="en-US" sz="96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1"/>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2200" b="1">
                <a:solidFill>
                  <a:srgbClr val="172234"/>
                </a:solidFill>
                <a:latin typeface="Arial" panose="020B0604020202020204"/>
              </a:rPr>
              <a:t>CO5 — Strings, Searching &amp; File I/O</a:t>
            </a:r>
            <a:endParaRPr lang="en-US" sz="2200" dirty="0"/>
          </a:p>
        </p:txBody>
      </p:sp>
      <p:sp>
        <p:nvSpPr>
          <p:cNvPr id="4" name="Text 1"/>
          <p:cNvSpPr/>
          <p:nvPr/>
        </p:nvSpPr>
        <p:spPr>
          <a:xfrm>
            <a:off x="886968" y="640080"/>
            <a:ext cx="10789920"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030">
                <a:solidFill>
                  <a:srgbClr val="687487"/>
                </a:solidFill>
                <a:latin typeface="Arial" panose="020B0604020202020204"/>
              </a:rPr>
              <a:t>Parse simple text records, search arrays and preserve donor and stock data in local files</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p:spPr>
        <p:txBody>
          <a:bodyPr wrap="square" lIns="0" tIns="0" rIns="0" bIns="0" rtlCol="0" anchor="ctr">
            <a:normAutofit/>
          </a:bodyPr>
          <a:lstStyle/>
          <a:p>
            <a:pPr marL="0" indent="0">
              <a:buNone/>
            </a:pPr>
            <a:r>
              <a:rPr lang="en-US" sz="810" dirty="0">
                <a:solidFill>
                  <a:srgbClr val="8A929E"/>
                </a:solidFill>
                <a:latin typeface="Arial" panose="020B0604020202020204" pitchFamily="34" charset="0"/>
                <a:ea typeface="Arial" panose="020B0604020202020204" pitchFamily="34" charset="-122"/>
                <a:cs typeface="Arial" panose="020B0604020202020204" pitchFamily="34" charset="-120"/>
              </a:rPr>
              <a:t>11/10/2026</a:t>
            </a:r>
            <a:endParaRPr lang="en-US" sz="810" dirty="0"/>
          </a:p>
        </p:txBody>
      </p:sp>
      <p:sp>
        <p:nvSpPr>
          <p:cNvPr id="8" name="Text 5"/>
          <p:cNvSpPr/>
          <p:nvPr/>
        </p:nvSpPr>
        <p:spPr>
          <a:xfrm>
            <a:off x="3840480" y="6501384"/>
            <a:ext cx="4526280" cy="146304"/>
          </a:xfrm>
          <a:prstGeom prst="rect">
            <a:avLst/>
          </a:prstGeom>
          <a:noFill/>
        </p:spPr>
        <p:txBody>
          <a:bodyPr wrap="square" lIns="0" tIns="0" rIns="0" bIns="0" rtlCol="0" anchor="ctr">
            <a:normAutofit/>
          </a:bodyPr>
          <a:lstStyle/>
          <a:p>
            <a:pPr marL="0" indent="0" algn="ctr">
              <a:buNone/>
            </a:pPr>
            <a:r>
              <a:rPr lang="en-US" sz="760" dirty="0">
                <a:solidFill>
                  <a:srgbClr val="A0A7B2"/>
                </a:solidFill>
                <a:latin typeface="Arial" panose="020B0604020202020204" pitchFamily="34" charset="0"/>
                <a:ea typeface="Arial" panose="020B0604020202020204" pitchFamily="34" charset="-122"/>
                <a:cs typeface="Arial" panose="020B0604020202020204"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p:spPr>
        <p:txBody>
          <a:bodyPr wrap="square" lIns="0" tIns="0" rIns="0" bIns="0" rtlCol="0" anchor="ctr">
            <a:normAutofit/>
          </a:bodyPr>
          <a:lstStyle/>
          <a:p>
            <a:pPr marL="0" indent="0" algn="r">
              <a:buNone/>
            </a:pPr>
            <a:r>
              <a:rPr lang="en-US" sz="810" dirty="0">
                <a:solidFill>
                  <a:srgbClr val="8A929E"/>
                </a:solidFill>
                <a:latin typeface="Arial" panose="020B0604020202020204" pitchFamily="34" charset="0"/>
                <a:ea typeface="Arial" panose="020B0604020202020204" pitchFamily="34" charset="-122"/>
                <a:cs typeface="Arial" panose="020B0604020202020204" pitchFamily="34" charset="-120"/>
              </a:rPr>
              <a:t>8</a:t>
            </a:r>
            <a:endParaRPr lang="en-US" sz="810" dirty="0"/>
          </a:p>
        </p:txBody>
      </p:sp>
      <p:sp>
        <p:nvSpPr>
          <p:cNvPr id="10" name="Shape 7"/>
          <p:cNvSpPr/>
          <p:nvPr/>
        </p:nvSpPr>
        <p:spPr>
          <a:xfrm>
            <a:off x="566928" y="1307592"/>
            <a:ext cx="5596128" cy="3218688"/>
          </a:xfrm>
          <a:prstGeom prst="roundRect">
            <a:avLst>
              <a:gd name="adj" fmla="val 2273"/>
            </a:avLst>
          </a:prstGeom>
          <a:solidFill>
            <a:srgbClr val="172234"/>
          </a:solidFill>
          <a:ln w="12700">
            <a:solidFill>
              <a:srgbClr val="172234"/>
            </a:solidFill>
            <a:prstDash val="solid"/>
          </a:ln>
        </p:spPr>
      </p:sp>
      <p:sp>
        <p:nvSpPr>
          <p:cNvPr id="11" name="Text 8"/>
          <p:cNvSpPr/>
          <p:nvPr/>
        </p:nvSpPr>
        <p:spPr>
          <a:xfrm>
            <a:off x="731520" y="1408176"/>
            <a:ext cx="5266944"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00" b="1">
                <a:solidFill>
                  <a:srgbClr val="F2B8BD"/>
                </a:solidFill>
                <a:latin typeface="Arial" panose="020B0604020202020204"/>
              </a:rPr>
              <a:t>SAVED DONOR RECORDS — BLOODBANK.JAVA</a:t>
            </a:r>
            <a:endParaRPr lang="en-US" sz="900" dirty="0"/>
          </a:p>
        </p:txBody>
      </p:sp>
      <p:sp>
        <p:nvSpPr>
          <p:cNvPr id="12" name="Shape 9"/>
          <p:cNvSpPr/>
          <p:nvPr/>
        </p:nvSpPr>
        <p:spPr>
          <a:xfrm>
            <a:off x="704088" y="1664208"/>
            <a:ext cx="5321808" cy="0"/>
          </a:xfrm>
          <a:prstGeom prst="line">
            <a:avLst/>
          </a:prstGeom>
          <a:noFill/>
          <a:ln w="8890">
            <a:solidFill>
              <a:srgbClr val="42506A"/>
            </a:solidFill>
            <a:prstDash val="solid"/>
          </a:ln>
        </p:spPr>
      </p:sp>
      <p:sp>
        <p:nvSpPr>
          <p:cNvPr id="13" name="Text 10"/>
          <p:cNvSpPr/>
          <p:nvPr/>
        </p:nvSpPr>
        <p:spPr>
          <a:xfrm>
            <a:off x="722376" y="1764792"/>
            <a:ext cx="5285232" cy="2670048"/>
          </a:xfrm>
          <a:prstGeom prst="rect">
            <a:avLst/>
          </a:prstGeom>
          <a:noFill/>
        </p:spPr>
        <p:txBody>
          <a:bodyPr wrap="square" lIns="127" tIns="127" rIns="127" bIns="127" rtlCol="0" anchor="t"/>
          <a:lstStyle/>
          <a:p>
            <a:pPr marL="0" indent="0" algn="l">
              <a:lnSpc>
                <a:spcPct val="100000"/>
              </a:lnSpc>
              <a:spcBef>
                <a:spcPts val="0"/>
              </a:spcBef>
              <a:spcAft>
                <a:spcPts val="0"/>
              </a:spcAft>
              <a:buNone/>
            </a:pPr>
            <a:r>
              <a:rPr sz="1040">
                <a:solidFill>
                  <a:srgbClr val="EAF0F8"/>
                </a:solidFill>
                <a:latin typeface="Liberation Mono"/>
              </a:rPr>
              <a:t>static void saveDonors() {</a:t>
            </a:r>
            <a:endParaRPr lang="en-US" sz="1000" dirty="0"/>
          </a:p>
          <a:p>
            <a:pPr>
              <a:lnSpc>
                <a:spcPct val="100000"/>
              </a:lnSpc>
              <a:spcBef>
                <a:spcPts val="0"/>
              </a:spcBef>
              <a:spcAft>
                <a:spcPts val="0"/>
              </a:spcAft>
            </a:pPr>
            <a:r>
              <a:rPr sz="1040">
                <a:solidFill>
                  <a:srgbClr val="EAF0F8"/>
                </a:solidFill>
                <a:latin typeface="Liberation Mono"/>
              </a:rPr>
              <a:t>    try {</a:t>
            </a:r>
            <a:endParaRPr sz="1040">
              <a:solidFill>
                <a:srgbClr val="EAF0F8"/>
              </a:solidFill>
              <a:latin typeface="Liberation Mono"/>
            </a:endParaRPr>
          </a:p>
          <a:p>
            <a:pPr>
              <a:lnSpc>
                <a:spcPct val="100000"/>
              </a:lnSpc>
              <a:spcBef>
                <a:spcPts val="0"/>
              </a:spcBef>
              <a:spcAft>
                <a:spcPts val="0"/>
              </a:spcAft>
            </a:pPr>
            <a:r>
              <a:rPr sz="1040">
                <a:solidFill>
                  <a:srgbClr val="EAF0F8"/>
                </a:solidFill>
                <a:latin typeface="Liberation Mono"/>
              </a:rPr>
              <a:t>        PrintWriter out = new PrintWriter("donors.txt");</a:t>
            </a:r>
            <a:endParaRPr sz="1040">
              <a:solidFill>
                <a:srgbClr val="EAF0F8"/>
              </a:solidFill>
              <a:latin typeface="Liberation Mono"/>
            </a:endParaRPr>
          </a:p>
          <a:p>
            <a:pPr>
              <a:lnSpc>
                <a:spcPct val="100000"/>
              </a:lnSpc>
              <a:spcBef>
                <a:spcPts val="0"/>
              </a:spcBef>
              <a:spcAft>
                <a:spcPts val="0"/>
              </a:spcAft>
            </a:pPr>
            <a:r>
              <a:rPr sz="1040">
                <a:solidFill>
                  <a:srgbClr val="EAF0F8"/>
                </a:solidFill>
                <a:latin typeface="Liberation Mono"/>
              </a:rPr>
              <a:t>        for (int i = 0; i &lt; donorCount; i++) {</a:t>
            </a:r>
            <a:endParaRPr sz="1040">
              <a:solidFill>
                <a:srgbClr val="EAF0F8"/>
              </a:solidFill>
              <a:latin typeface="Liberation Mono"/>
            </a:endParaRPr>
          </a:p>
          <a:p>
            <a:pPr>
              <a:lnSpc>
                <a:spcPct val="100000"/>
              </a:lnSpc>
              <a:spcBef>
                <a:spcPts val="0"/>
              </a:spcBef>
              <a:spcAft>
                <a:spcPts val="0"/>
              </a:spcAft>
            </a:pPr>
            <a:r>
              <a:rPr sz="1040">
                <a:solidFill>
                  <a:srgbClr val="EAF0F8"/>
                </a:solidFill>
                <a:latin typeface="Liberation Mono"/>
              </a:rPr>
              <a:t>            out.println(donorId[i] + "|" + donorName[i]</a:t>
            </a:r>
            <a:endParaRPr sz="1040">
              <a:solidFill>
                <a:srgbClr val="EAF0F8"/>
              </a:solidFill>
              <a:latin typeface="Liberation Mono"/>
            </a:endParaRPr>
          </a:p>
          <a:p>
            <a:pPr>
              <a:lnSpc>
                <a:spcPct val="100000"/>
              </a:lnSpc>
              <a:spcBef>
                <a:spcPts val="0"/>
              </a:spcBef>
              <a:spcAft>
                <a:spcPts val="0"/>
              </a:spcAft>
            </a:pPr>
            <a:r>
              <a:rPr sz="1040">
                <a:solidFill>
                  <a:srgbClr val="EAF0F8"/>
                </a:solidFill>
                <a:latin typeface="Liberation Mono"/>
              </a:rPr>
              <a:t>                    + "|" + donorAge[i] + "|" + donorGroup[i]</a:t>
            </a:r>
            <a:endParaRPr sz="1040">
              <a:solidFill>
                <a:srgbClr val="EAF0F8"/>
              </a:solidFill>
              <a:latin typeface="Liberation Mono"/>
            </a:endParaRPr>
          </a:p>
          <a:p>
            <a:pPr>
              <a:lnSpc>
                <a:spcPct val="100000"/>
              </a:lnSpc>
              <a:spcBef>
                <a:spcPts val="0"/>
              </a:spcBef>
              <a:spcAft>
                <a:spcPts val="0"/>
              </a:spcAft>
            </a:pPr>
            <a:r>
              <a:rPr sz="1040">
                <a:solidFill>
                  <a:srgbClr val="EAF0F8"/>
                </a:solidFill>
                <a:latin typeface="Liberation Mono"/>
              </a:rPr>
              <a:t>                    + "|" + donorPhone[i]);</a:t>
            </a:r>
            <a:endParaRPr sz="1040">
              <a:solidFill>
                <a:srgbClr val="EAF0F8"/>
              </a:solidFill>
              <a:latin typeface="Liberation Mono"/>
            </a:endParaRPr>
          </a:p>
          <a:p>
            <a:pPr>
              <a:lnSpc>
                <a:spcPct val="100000"/>
              </a:lnSpc>
              <a:spcBef>
                <a:spcPts val="0"/>
              </a:spcBef>
              <a:spcAft>
                <a:spcPts val="0"/>
              </a:spcAft>
            </a:pPr>
            <a:r>
              <a:rPr sz="1040">
                <a:solidFill>
                  <a:srgbClr val="EAF0F8"/>
                </a:solidFill>
                <a:latin typeface="Liberation Mono"/>
              </a:rPr>
              <a:t>        }</a:t>
            </a:r>
            <a:endParaRPr sz="1040">
              <a:solidFill>
                <a:srgbClr val="EAF0F8"/>
              </a:solidFill>
              <a:latin typeface="Liberation Mono"/>
            </a:endParaRPr>
          </a:p>
          <a:p>
            <a:pPr>
              <a:lnSpc>
                <a:spcPct val="100000"/>
              </a:lnSpc>
              <a:spcBef>
                <a:spcPts val="0"/>
              </a:spcBef>
              <a:spcAft>
                <a:spcPts val="0"/>
              </a:spcAft>
            </a:pPr>
            <a:r>
              <a:rPr sz="1040">
                <a:solidFill>
                  <a:srgbClr val="EAF0F8"/>
                </a:solidFill>
                <a:latin typeface="Liberation Mono"/>
              </a:rPr>
              <a:t>        out.close();</a:t>
            </a:r>
            <a:endParaRPr sz="1040">
              <a:solidFill>
                <a:srgbClr val="EAF0F8"/>
              </a:solidFill>
              <a:latin typeface="Liberation Mono"/>
            </a:endParaRPr>
          </a:p>
          <a:p>
            <a:pPr>
              <a:lnSpc>
                <a:spcPct val="100000"/>
              </a:lnSpc>
              <a:spcBef>
                <a:spcPts val="0"/>
              </a:spcBef>
              <a:spcAft>
                <a:spcPts val="0"/>
              </a:spcAft>
            </a:pPr>
            <a:r>
              <a:rPr sz="1040">
                <a:solidFill>
                  <a:srgbClr val="EAF0F8"/>
                </a:solidFill>
                <a:latin typeface="Liberation Mono"/>
              </a:rPr>
              <a:t>    } catch (FileNotFoundException e) {</a:t>
            </a:r>
            <a:endParaRPr sz="1040">
              <a:solidFill>
                <a:srgbClr val="EAF0F8"/>
              </a:solidFill>
              <a:latin typeface="Liberation Mono"/>
            </a:endParaRPr>
          </a:p>
          <a:p>
            <a:pPr>
              <a:lnSpc>
                <a:spcPct val="100000"/>
              </a:lnSpc>
              <a:spcBef>
                <a:spcPts val="0"/>
              </a:spcBef>
              <a:spcAft>
                <a:spcPts val="0"/>
              </a:spcAft>
            </a:pPr>
            <a:r>
              <a:rPr sz="1040">
                <a:solidFill>
                  <a:srgbClr val="EAF0F8"/>
                </a:solidFill>
                <a:latin typeface="Liberation Mono"/>
              </a:rPr>
              <a:t>        System.out.println("Could not save donor file.");</a:t>
            </a:r>
            <a:endParaRPr sz="1040">
              <a:solidFill>
                <a:srgbClr val="EAF0F8"/>
              </a:solidFill>
              <a:latin typeface="Liberation Mono"/>
            </a:endParaRPr>
          </a:p>
          <a:p>
            <a:pPr>
              <a:lnSpc>
                <a:spcPct val="100000"/>
              </a:lnSpc>
              <a:spcBef>
                <a:spcPts val="0"/>
              </a:spcBef>
              <a:spcAft>
                <a:spcPts val="0"/>
              </a:spcAft>
            </a:pPr>
            <a:r>
              <a:rPr sz="1040">
                <a:solidFill>
                  <a:srgbClr val="EAF0F8"/>
                </a:solidFill>
                <a:latin typeface="Liberation Mono"/>
              </a:rPr>
              <a:t>    }</a:t>
            </a:r>
            <a:endParaRPr sz="1040">
              <a:solidFill>
                <a:srgbClr val="EAF0F8"/>
              </a:solidFill>
              <a:latin typeface="Liberation Mono"/>
            </a:endParaRPr>
          </a:p>
          <a:p>
            <a:pPr>
              <a:lnSpc>
                <a:spcPct val="100000"/>
              </a:lnSpc>
              <a:spcBef>
                <a:spcPts val="0"/>
              </a:spcBef>
              <a:spcAft>
                <a:spcPts val="0"/>
              </a:spcAft>
            </a:pPr>
            <a:r>
              <a:rPr sz="1040">
                <a:solidFill>
                  <a:srgbClr val="EAF0F8"/>
                </a:solidFill>
                <a:latin typeface="Liberation Mono"/>
              </a:rPr>
              <a:t>}</a:t>
            </a:r>
            <a:endParaRPr sz="1040">
              <a:solidFill>
                <a:srgbClr val="EAF0F8"/>
              </a:solidFill>
              <a:latin typeface="Liberation Mono"/>
            </a:endParaRPr>
          </a:p>
        </p:txBody>
      </p:sp>
      <p:sp>
        <p:nvSpPr>
          <p:cNvPr id="14" name="Shape 11"/>
          <p:cNvSpPr/>
          <p:nvPr/>
        </p:nvSpPr>
        <p:spPr>
          <a:xfrm>
            <a:off x="6382512" y="1307592"/>
            <a:ext cx="2514600" cy="1389888"/>
          </a:xfrm>
          <a:prstGeom prst="roundRect">
            <a:avLst>
              <a:gd name="adj" fmla="val 5263"/>
            </a:avLst>
          </a:prstGeom>
          <a:solidFill>
            <a:srgbClr val="FCEDEF"/>
          </a:solidFill>
          <a:ln w="12700">
            <a:solidFill>
              <a:srgbClr val="E8B8BE"/>
            </a:solidFill>
            <a:prstDash val="solid"/>
          </a:ln>
        </p:spPr>
      </p:sp>
      <p:sp>
        <p:nvSpPr>
          <p:cNvPr id="15" name="Shape 12"/>
          <p:cNvSpPr/>
          <p:nvPr/>
        </p:nvSpPr>
        <p:spPr>
          <a:xfrm>
            <a:off x="6382512" y="1399032"/>
            <a:ext cx="50292" cy="1207008"/>
          </a:xfrm>
          <a:prstGeom prst="rect">
            <a:avLst/>
          </a:prstGeom>
          <a:solidFill>
            <a:srgbClr val="B71920"/>
          </a:solidFill>
          <a:ln w="12700">
            <a:solidFill>
              <a:srgbClr val="B71920">
                <a:alpha val="0"/>
              </a:srgbClr>
            </a:solidFill>
            <a:prstDash val="solid"/>
          </a:ln>
        </p:spPr>
      </p:sp>
      <p:sp>
        <p:nvSpPr>
          <p:cNvPr id="16" name="Text 13"/>
          <p:cNvSpPr/>
          <p:nvPr/>
        </p:nvSpPr>
        <p:spPr>
          <a:xfrm>
            <a:off x="6528816" y="1417320"/>
            <a:ext cx="2221992" cy="26517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130" b="1">
                <a:solidFill>
                  <a:srgbClr val="B71920"/>
                </a:solidFill>
                <a:latin typeface="Arial" panose="020B0604020202020204"/>
              </a:rPr>
              <a:t>STRING CLEANUP</a:t>
            </a:r>
            <a:endParaRPr lang="en-US" sz="1130" dirty="0"/>
          </a:p>
        </p:txBody>
      </p:sp>
      <p:sp>
        <p:nvSpPr>
          <p:cNvPr id="17" name="Text 14"/>
          <p:cNvSpPr/>
          <p:nvPr/>
        </p:nvSpPr>
        <p:spPr>
          <a:xfrm>
            <a:off x="6528816" y="1737360"/>
            <a:ext cx="2221992" cy="868680"/>
          </a:xfrm>
          <a:prstGeom prst="rect">
            <a:avLst/>
          </a:prstGeom>
          <a:noFill/>
        </p:spPr>
        <p:txBody>
          <a:bodyPr wrap="square" lIns="0" tIns="0" rIns="0" bIns="0" rtlCol="0" anchor="t">
            <a:normAutofit/>
          </a:bodyPr>
          <a:lstStyle/>
          <a:p>
            <a:pPr marL="0" indent="0" algn="l">
              <a:lnSpc>
                <a:spcPct val="100000"/>
              </a:lnSpc>
              <a:spcBef>
                <a:spcPts val="0"/>
              </a:spcBef>
              <a:spcAft>
                <a:spcPts val="0"/>
              </a:spcAft>
              <a:buNone/>
            </a:pPr>
            <a:r>
              <a:rPr sz="970">
                <a:solidFill>
                  <a:srgbClr val="202938"/>
                </a:solidFill>
                <a:latin typeface="Arial" panose="020B0604020202020204"/>
              </a:rPr>
              <a:t>toUpperCase() standardizes blood-group input; equalsIgnoreCase() checks donor IDs without case sensitivity.</a:t>
            </a:r>
            <a:endParaRPr lang="en-US" sz="970" dirty="0"/>
          </a:p>
        </p:txBody>
      </p:sp>
      <p:sp>
        <p:nvSpPr>
          <p:cNvPr id="18" name="Shape 15"/>
          <p:cNvSpPr/>
          <p:nvPr/>
        </p:nvSpPr>
        <p:spPr>
          <a:xfrm>
            <a:off x="9089136" y="1307592"/>
            <a:ext cx="2505456" cy="1389888"/>
          </a:xfrm>
          <a:prstGeom prst="roundRect">
            <a:avLst>
              <a:gd name="adj" fmla="val 5263"/>
            </a:avLst>
          </a:prstGeom>
          <a:solidFill>
            <a:srgbClr val="EAF2FB"/>
          </a:solidFill>
          <a:ln w="12700">
            <a:solidFill>
              <a:srgbClr val="B8D0EE"/>
            </a:solidFill>
            <a:prstDash val="solid"/>
          </a:ln>
        </p:spPr>
      </p:sp>
      <p:sp>
        <p:nvSpPr>
          <p:cNvPr id="19" name="Shape 16"/>
          <p:cNvSpPr/>
          <p:nvPr/>
        </p:nvSpPr>
        <p:spPr>
          <a:xfrm>
            <a:off x="9089136" y="1399032"/>
            <a:ext cx="50292" cy="1207008"/>
          </a:xfrm>
          <a:prstGeom prst="rect">
            <a:avLst/>
          </a:prstGeom>
          <a:solidFill>
            <a:srgbClr val="214D7B"/>
          </a:solidFill>
          <a:ln w="12700">
            <a:solidFill>
              <a:srgbClr val="214D7B">
                <a:alpha val="0"/>
              </a:srgbClr>
            </a:solidFill>
            <a:prstDash val="solid"/>
          </a:ln>
        </p:spPr>
      </p:sp>
      <p:sp>
        <p:nvSpPr>
          <p:cNvPr id="20" name="Text 17"/>
          <p:cNvSpPr/>
          <p:nvPr/>
        </p:nvSpPr>
        <p:spPr>
          <a:xfrm>
            <a:off x="9235440" y="1417320"/>
            <a:ext cx="2212848" cy="26517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130" b="1">
                <a:solidFill>
                  <a:srgbClr val="214D7B"/>
                </a:solidFill>
                <a:latin typeface="Arial" panose="020B0604020202020204"/>
              </a:rPr>
              <a:t>PARSE / BUILD</a:t>
            </a:r>
            <a:endParaRPr lang="en-US" sz="1130" dirty="0"/>
          </a:p>
        </p:txBody>
      </p:sp>
      <p:sp>
        <p:nvSpPr>
          <p:cNvPr id="21" name="Text 18"/>
          <p:cNvSpPr/>
          <p:nvPr/>
        </p:nvSpPr>
        <p:spPr>
          <a:xfrm>
            <a:off x="9235440" y="1737360"/>
            <a:ext cx="2212848" cy="868680"/>
          </a:xfrm>
          <a:prstGeom prst="rect">
            <a:avLst/>
          </a:prstGeom>
          <a:noFill/>
        </p:spPr>
        <p:txBody>
          <a:bodyPr wrap="square" lIns="0" tIns="0" rIns="0" bIns="0" rtlCol="0" anchor="t">
            <a:normAutofit/>
          </a:bodyPr>
          <a:lstStyle/>
          <a:p>
            <a:pPr marL="0" indent="0" algn="l">
              <a:lnSpc>
                <a:spcPct val="100000"/>
              </a:lnSpc>
              <a:spcBef>
                <a:spcPts val="0"/>
              </a:spcBef>
              <a:spcAft>
                <a:spcPts val="0"/>
              </a:spcAft>
              <a:buNone/>
            </a:pPr>
            <a:r>
              <a:rPr sz="960">
                <a:solidFill>
                  <a:srgbClr val="202938"/>
                </a:solidFill>
                <a:latin typeface="Arial" panose="020B0604020202020204"/>
              </a:rPr>
              <a:t>split("\\|") separates saved fields; Integer.parseInt() converts age and stock text into numbers.</a:t>
            </a:r>
            <a:endParaRPr lang="en-US" sz="960" dirty="0"/>
          </a:p>
        </p:txBody>
      </p:sp>
      <p:sp>
        <p:nvSpPr>
          <p:cNvPr id="22" name="Shape 19"/>
          <p:cNvSpPr/>
          <p:nvPr/>
        </p:nvSpPr>
        <p:spPr>
          <a:xfrm>
            <a:off x="6382512" y="2907792"/>
            <a:ext cx="2514600" cy="1389888"/>
          </a:xfrm>
          <a:prstGeom prst="roundRect">
            <a:avLst>
              <a:gd name="adj" fmla="val 5263"/>
            </a:avLst>
          </a:prstGeom>
          <a:solidFill>
            <a:srgbClr val="EAF6EF"/>
          </a:solidFill>
          <a:ln w="12700">
            <a:solidFill>
              <a:srgbClr val="B9DCC6"/>
            </a:solidFill>
            <a:prstDash val="solid"/>
          </a:ln>
        </p:spPr>
      </p:sp>
      <p:sp>
        <p:nvSpPr>
          <p:cNvPr id="23" name="Shape 20"/>
          <p:cNvSpPr/>
          <p:nvPr/>
        </p:nvSpPr>
        <p:spPr>
          <a:xfrm>
            <a:off x="6382512" y="2999232"/>
            <a:ext cx="50292" cy="1207008"/>
          </a:xfrm>
          <a:prstGeom prst="rect">
            <a:avLst/>
          </a:prstGeom>
          <a:solidFill>
            <a:srgbClr val="28734B"/>
          </a:solidFill>
          <a:ln w="12700">
            <a:solidFill>
              <a:srgbClr val="28734B">
                <a:alpha val="0"/>
              </a:srgbClr>
            </a:solidFill>
            <a:prstDash val="solid"/>
          </a:ln>
        </p:spPr>
      </p:sp>
      <p:sp>
        <p:nvSpPr>
          <p:cNvPr id="24" name="Text 21"/>
          <p:cNvSpPr/>
          <p:nvPr/>
        </p:nvSpPr>
        <p:spPr>
          <a:xfrm>
            <a:off x="6528816" y="3017520"/>
            <a:ext cx="2221992" cy="26517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130" b="1">
                <a:solidFill>
                  <a:srgbClr val="28734B"/>
                </a:solidFill>
                <a:latin typeface="Arial" panose="020B0604020202020204"/>
              </a:rPr>
              <a:t>ARRAY SEARCH</a:t>
            </a:r>
            <a:endParaRPr lang="en-US" sz="1130" dirty="0"/>
          </a:p>
        </p:txBody>
      </p:sp>
      <p:sp>
        <p:nvSpPr>
          <p:cNvPr id="25" name="Text 22"/>
          <p:cNvSpPr/>
          <p:nvPr/>
        </p:nvSpPr>
        <p:spPr>
          <a:xfrm>
            <a:off x="6528816" y="3337560"/>
            <a:ext cx="2221992" cy="868680"/>
          </a:xfrm>
          <a:prstGeom prst="rect">
            <a:avLst/>
          </a:prstGeom>
          <a:noFill/>
        </p:spPr>
        <p:txBody>
          <a:bodyPr wrap="square" lIns="0" tIns="0" rIns="0" bIns="0" rtlCol="0" anchor="t">
            <a:normAutofit/>
          </a:bodyPr>
          <a:lstStyle/>
          <a:p>
            <a:pPr marL="0" indent="0" algn="l">
              <a:lnSpc>
                <a:spcPct val="100000"/>
              </a:lnSpc>
              <a:spcBef>
                <a:spcPts val="0"/>
              </a:spcBef>
              <a:spcAft>
                <a:spcPts val="0"/>
              </a:spcAft>
              <a:buNone/>
            </a:pPr>
            <a:r>
              <a:rPr sz="980">
                <a:solidFill>
                  <a:srgbClr val="202938"/>
                </a:solidFill>
                <a:latin typeface="Arial" panose="020B0604020202020204"/>
              </a:rPr>
              <a:t>for loops scan donor arrays by blood group; findGroup() searches the eight supported labels.</a:t>
            </a:r>
            <a:endParaRPr lang="en-US" sz="980" dirty="0"/>
          </a:p>
        </p:txBody>
      </p:sp>
      <p:sp>
        <p:nvSpPr>
          <p:cNvPr id="26" name="Shape 23"/>
          <p:cNvSpPr/>
          <p:nvPr/>
        </p:nvSpPr>
        <p:spPr>
          <a:xfrm>
            <a:off x="9089136" y="2907792"/>
            <a:ext cx="2505456" cy="1389888"/>
          </a:xfrm>
          <a:prstGeom prst="roundRect">
            <a:avLst>
              <a:gd name="adj" fmla="val 5263"/>
            </a:avLst>
          </a:prstGeom>
          <a:solidFill>
            <a:srgbClr val="FFF6E2"/>
          </a:solidFill>
          <a:ln w="12700">
            <a:solidFill>
              <a:srgbClr val="E9D29A"/>
            </a:solidFill>
            <a:prstDash val="solid"/>
          </a:ln>
        </p:spPr>
      </p:sp>
      <p:sp>
        <p:nvSpPr>
          <p:cNvPr id="27" name="Shape 24"/>
          <p:cNvSpPr/>
          <p:nvPr/>
        </p:nvSpPr>
        <p:spPr>
          <a:xfrm>
            <a:off x="9089136" y="2999232"/>
            <a:ext cx="50292" cy="1207008"/>
          </a:xfrm>
          <a:prstGeom prst="rect">
            <a:avLst/>
          </a:prstGeom>
          <a:solidFill>
            <a:srgbClr val="7C5A11"/>
          </a:solidFill>
          <a:ln w="12700">
            <a:solidFill>
              <a:srgbClr val="7C5A11">
                <a:alpha val="0"/>
              </a:srgbClr>
            </a:solidFill>
            <a:prstDash val="solid"/>
          </a:ln>
        </p:spPr>
      </p:sp>
      <p:sp>
        <p:nvSpPr>
          <p:cNvPr id="28" name="Text 25"/>
          <p:cNvSpPr/>
          <p:nvPr/>
        </p:nvSpPr>
        <p:spPr>
          <a:xfrm>
            <a:off x="9235440" y="3017520"/>
            <a:ext cx="2212848" cy="26517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130" b="1">
                <a:solidFill>
                  <a:srgbClr val="7C5A11"/>
                </a:solidFill>
                <a:latin typeface="Arial" panose="020B0604020202020204"/>
              </a:rPr>
              <a:t>FILE ACCESS</a:t>
            </a:r>
            <a:endParaRPr lang="en-US" sz="1130" dirty="0"/>
          </a:p>
        </p:txBody>
      </p:sp>
      <p:sp>
        <p:nvSpPr>
          <p:cNvPr id="29" name="Text 26"/>
          <p:cNvSpPr/>
          <p:nvPr/>
        </p:nvSpPr>
        <p:spPr>
          <a:xfrm>
            <a:off x="9235440" y="3337560"/>
            <a:ext cx="2212848" cy="868680"/>
          </a:xfrm>
          <a:prstGeom prst="rect">
            <a:avLst/>
          </a:prstGeom>
          <a:noFill/>
        </p:spPr>
        <p:txBody>
          <a:bodyPr wrap="square" lIns="0" tIns="0" rIns="0" bIns="0" rtlCol="0" anchor="t">
            <a:normAutofit/>
          </a:bodyPr>
          <a:lstStyle/>
          <a:p>
            <a:pPr marL="0" indent="0" algn="l">
              <a:lnSpc>
                <a:spcPct val="100000"/>
              </a:lnSpc>
              <a:spcBef>
                <a:spcPts val="0"/>
              </a:spcBef>
              <a:spcAft>
                <a:spcPts val="0"/>
              </a:spcAft>
              <a:buNone/>
            </a:pPr>
            <a:r>
              <a:rPr sz="980">
                <a:solidFill>
                  <a:srgbClr val="202938"/>
                </a:solidFill>
                <a:latin typeface="Arial" panose="020B0604020202020204"/>
              </a:rPr>
              <a:t>Scanner reads File data; PrintWriter writes text. FileNotFoundException is caught, and streams are closed explicitly.</a:t>
            </a:r>
            <a:endParaRPr lang="en-US" sz="980" dirty="0"/>
          </a:p>
        </p:txBody>
      </p:sp>
      <p:sp>
        <p:nvSpPr>
          <p:cNvPr id="30" name="Text 27"/>
          <p:cNvSpPr/>
          <p:nvPr/>
        </p:nvSpPr>
        <p:spPr>
          <a:xfrm>
            <a:off x="585216" y="4965192"/>
            <a:ext cx="1828800"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000" b="1">
                <a:solidFill>
                  <a:srgbClr val="D91F26"/>
                </a:solidFill>
                <a:latin typeface="Arial" panose="020B0604020202020204"/>
              </a:rPr>
              <a:t>LOCAL TEXT FILES</a:t>
            </a:r>
            <a:endParaRPr lang="en-US" sz="1000" dirty="0"/>
          </a:p>
        </p:txBody>
      </p:sp>
      <p:sp>
        <p:nvSpPr>
          <p:cNvPr id="31" name="Shape 28"/>
          <p:cNvSpPr/>
          <p:nvPr/>
        </p:nvSpPr>
        <p:spPr>
          <a:xfrm>
            <a:off x="594360" y="5285232"/>
            <a:ext cx="2578608" cy="603504"/>
          </a:xfrm>
          <a:prstGeom prst="roundRect">
            <a:avLst>
              <a:gd name="adj" fmla="val 12121"/>
            </a:avLst>
          </a:prstGeom>
          <a:solidFill>
            <a:srgbClr val="F7F9FC"/>
          </a:solidFill>
          <a:ln w="12700">
            <a:solidFill>
              <a:srgbClr val="E1E6ED"/>
            </a:solidFill>
            <a:prstDash val="solid"/>
          </a:ln>
        </p:spPr>
      </p:sp>
      <p:sp>
        <p:nvSpPr>
          <p:cNvPr id="32" name="Text 29"/>
          <p:cNvSpPr/>
          <p:nvPr/>
        </p:nvSpPr>
        <p:spPr>
          <a:xfrm>
            <a:off x="685800" y="5449824"/>
            <a:ext cx="2395728"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120" b="1">
                <a:solidFill>
                  <a:srgbClr val="172234"/>
                </a:solidFill>
                <a:latin typeface="Liberation Mono"/>
              </a:rPr>
              <a:t>donors.txt</a:t>
            </a:r>
            <a:endParaRPr lang="en-US" sz="1120" dirty="0"/>
          </a:p>
        </p:txBody>
      </p:sp>
      <p:sp>
        <p:nvSpPr>
          <p:cNvPr id="33" name="Shape 30"/>
          <p:cNvSpPr/>
          <p:nvPr/>
        </p:nvSpPr>
        <p:spPr>
          <a:xfrm>
            <a:off x="3383280" y="5285232"/>
            <a:ext cx="2578608" cy="603504"/>
          </a:xfrm>
          <a:prstGeom prst="roundRect">
            <a:avLst>
              <a:gd name="adj" fmla="val 12121"/>
            </a:avLst>
          </a:prstGeom>
          <a:solidFill>
            <a:srgbClr val="EAF2FB"/>
          </a:solidFill>
          <a:ln w="12700">
            <a:solidFill>
              <a:srgbClr val="B8D0EE"/>
            </a:solidFill>
            <a:prstDash val="solid"/>
          </a:ln>
        </p:spPr>
      </p:sp>
      <p:sp>
        <p:nvSpPr>
          <p:cNvPr id="34" name="Text 31"/>
          <p:cNvSpPr/>
          <p:nvPr/>
        </p:nvSpPr>
        <p:spPr>
          <a:xfrm>
            <a:off x="3474720" y="5449824"/>
            <a:ext cx="2395728"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120" b="1">
                <a:solidFill>
                  <a:srgbClr val="172234"/>
                </a:solidFill>
                <a:latin typeface="Liberation Mono"/>
              </a:rPr>
              <a:t>inventory.txt</a:t>
            </a:r>
            <a:endParaRPr lang="en-US" sz="1120" dirty="0"/>
          </a:p>
        </p:txBody>
      </p:sp>
      <p:sp>
        <p:nvSpPr>
          <p:cNvPr id="35" name="Shape 32"/>
          <p:cNvSpPr/>
          <p:nvPr/>
        </p:nvSpPr>
        <p:spPr>
          <a:xfrm>
            <a:off x="6172200" y="5285232"/>
            <a:ext cx="2578608" cy="603504"/>
          </a:xfrm>
          <a:prstGeom prst="roundRect">
            <a:avLst>
              <a:gd name="adj" fmla="val 12121"/>
            </a:avLst>
          </a:prstGeom>
          <a:solidFill>
            <a:srgbClr val="F7F9FC"/>
          </a:solidFill>
          <a:ln w="12700">
            <a:solidFill>
              <a:srgbClr val="E1E6ED"/>
            </a:solidFill>
            <a:prstDash val="solid"/>
          </a:ln>
        </p:spPr>
      </p:sp>
      <p:sp>
        <p:nvSpPr>
          <p:cNvPr id="36" name="Text 33"/>
          <p:cNvSpPr/>
          <p:nvPr/>
        </p:nvSpPr>
        <p:spPr>
          <a:xfrm>
            <a:off x="6263640" y="5449824"/>
            <a:ext cx="2395728"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120" b="1">
                <a:solidFill>
                  <a:srgbClr val="172234"/>
                </a:solidFill>
                <a:latin typeface="Liberation Mono"/>
              </a:rPr>
              <a:t>no donation file</a:t>
            </a:r>
            <a:endParaRPr lang="en-US" sz="1120" dirty="0"/>
          </a:p>
        </p:txBody>
      </p:sp>
      <p:sp>
        <p:nvSpPr>
          <p:cNvPr id="37" name="Shape 34"/>
          <p:cNvSpPr/>
          <p:nvPr/>
        </p:nvSpPr>
        <p:spPr>
          <a:xfrm>
            <a:off x="8961120" y="5285232"/>
            <a:ext cx="2578608" cy="603504"/>
          </a:xfrm>
          <a:prstGeom prst="roundRect">
            <a:avLst>
              <a:gd name="adj" fmla="val 12121"/>
            </a:avLst>
          </a:prstGeom>
          <a:solidFill>
            <a:srgbClr val="EAF2FB"/>
          </a:solidFill>
          <a:ln w="12700">
            <a:solidFill>
              <a:srgbClr val="B8D0EE"/>
            </a:solidFill>
            <a:prstDash val="solid"/>
          </a:ln>
        </p:spPr>
      </p:sp>
      <p:sp>
        <p:nvSpPr>
          <p:cNvPr id="38" name="Text 35"/>
          <p:cNvSpPr/>
          <p:nvPr/>
        </p:nvSpPr>
        <p:spPr>
          <a:xfrm>
            <a:off x="9052560" y="5449824"/>
            <a:ext cx="2395728"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120" b="1">
                <a:solidFill>
                  <a:srgbClr val="172234"/>
                </a:solidFill>
                <a:latin typeface="Liberation Mono"/>
              </a:rPr>
              <a:t>no issue file</a:t>
            </a:r>
            <a:endParaRPr lang="en-US" sz="1120" dirty="0"/>
          </a:p>
        </p:txBody>
      </p:sp>
      <p:sp>
        <p:nvSpPr>
          <p:cNvPr id="39" name="Text 36"/>
          <p:cNvSpPr/>
          <p:nvPr/>
        </p:nvSpPr>
        <p:spPr>
          <a:xfrm>
            <a:off x="612648" y="6016752"/>
            <a:ext cx="10789920" cy="182880"/>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60" i="1">
                <a:solidFill>
                  <a:srgbClr val="687487"/>
                </a:solidFill>
                <a:latin typeface="Arial" panose="020B0604020202020204"/>
              </a:rPr>
              <a:t>Missing files are tolerated on first run; malformed rows or invalid numeric values are skipped while loading.</a:t>
            </a:r>
            <a:endParaRPr lang="en-US" sz="9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1"/>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2200" b="1">
                <a:solidFill>
                  <a:srgbClr val="172234"/>
                </a:solidFill>
                <a:latin typeface="Arial" panose="020B0604020202020204"/>
              </a:rPr>
              <a:t>CO6 — Array-Based Record Processing</a:t>
            </a:r>
            <a:endParaRPr lang="en-US" sz="2200" dirty="0"/>
          </a:p>
        </p:txBody>
      </p:sp>
      <p:sp>
        <p:nvSpPr>
          <p:cNvPr id="4" name="Text 1"/>
          <p:cNvSpPr/>
          <p:nvPr/>
        </p:nvSpPr>
        <p:spPr>
          <a:xfrm>
            <a:off x="886968" y="640080"/>
            <a:ext cx="10789920"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030">
                <a:solidFill>
                  <a:srgbClr val="687487"/>
                </a:solidFill>
                <a:latin typeface="Arial" panose="020B0604020202020204"/>
              </a:rPr>
              <a:t>This version processes donor and stock data with fixed-size arrays, loops and local file storage</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p:spPr>
        <p:txBody>
          <a:bodyPr wrap="square" lIns="0" tIns="0" rIns="0" bIns="0" rtlCol="0" anchor="ctr">
            <a:normAutofit/>
          </a:bodyPr>
          <a:lstStyle/>
          <a:p>
            <a:pPr marL="0" indent="0">
              <a:buNone/>
            </a:pPr>
            <a:r>
              <a:rPr lang="en-US" sz="810" dirty="0">
                <a:solidFill>
                  <a:srgbClr val="8A929E"/>
                </a:solidFill>
                <a:latin typeface="Arial" panose="020B0604020202020204" pitchFamily="34" charset="0"/>
                <a:ea typeface="Arial" panose="020B0604020202020204" pitchFamily="34" charset="-122"/>
                <a:cs typeface="Arial" panose="020B0604020202020204" pitchFamily="34" charset="-120"/>
              </a:rPr>
              <a:t>11/10/2026</a:t>
            </a:r>
            <a:endParaRPr lang="en-US" sz="810" dirty="0"/>
          </a:p>
        </p:txBody>
      </p:sp>
      <p:sp>
        <p:nvSpPr>
          <p:cNvPr id="8" name="Text 5"/>
          <p:cNvSpPr/>
          <p:nvPr/>
        </p:nvSpPr>
        <p:spPr>
          <a:xfrm>
            <a:off x="3840480" y="6501384"/>
            <a:ext cx="4526280" cy="146304"/>
          </a:xfrm>
          <a:prstGeom prst="rect">
            <a:avLst/>
          </a:prstGeom>
          <a:noFill/>
        </p:spPr>
        <p:txBody>
          <a:bodyPr wrap="square" lIns="0" tIns="0" rIns="0" bIns="0" rtlCol="0" anchor="ctr">
            <a:normAutofit/>
          </a:bodyPr>
          <a:lstStyle/>
          <a:p>
            <a:pPr marL="0" indent="0" algn="ctr">
              <a:buNone/>
            </a:pPr>
            <a:r>
              <a:rPr lang="en-US" sz="760" dirty="0">
                <a:solidFill>
                  <a:srgbClr val="A0A7B2"/>
                </a:solidFill>
                <a:latin typeface="Arial" panose="020B0604020202020204" pitchFamily="34" charset="0"/>
                <a:ea typeface="Arial" panose="020B0604020202020204" pitchFamily="34" charset="-122"/>
                <a:cs typeface="Arial" panose="020B0604020202020204"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p:spPr>
        <p:txBody>
          <a:bodyPr wrap="square" lIns="0" tIns="0" rIns="0" bIns="0" rtlCol="0" anchor="ctr">
            <a:normAutofit/>
          </a:bodyPr>
          <a:lstStyle/>
          <a:p>
            <a:pPr marL="0" indent="0" algn="r">
              <a:buNone/>
            </a:pPr>
            <a:r>
              <a:rPr lang="en-US" sz="810" dirty="0">
                <a:solidFill>
                  <a:srgbClr val="8A929E"/>
                </a:solidFill>
                <a:latin typeface="Arial" panose="020B0604020202020204" pitchFamily="34" charset="0"/>
                <a:ea typeface="Arial" panose="020B0604020202020204" pitchFamily="34" charset="-122"/>
                <a:cs typeface="Arial" panose="020B0604020202020204" pitchFamily="34" charset="-120"/>
              </a:rPr>
              <a:t>9</a:t>
            </a:r>
            <a:endParaRPr lang="en-US" sz="810" dirty="0"/>
          </a:p>
        </p:txBody>
      </p:sp>
      <p:sp>
        <p:nvSpPr>
          <p:cNvPr id="10" name="Shape 7"/>
          <p:cNvSpPr/>
          <p:nvPr/>
        </p:nvSpPr>
        <p:spPr>
          <a:xfrm>
            <a:off x="566928" y="1335024"/>
            <a:ext cx="2249424" cy="941832"/>
          </a:xfrm>
          <a:prstGeom prst="roundRect">
            <a:avLst>
              <a:gd name="adj" fmla="val 7767"/>
            </a:avLst>
          </a:prstGeom>
          <a:solidFill>
            <a:srgbClr val="FCEDEF"/>
          </a:solidFill>
          <a:ln w="12700">
            <a:solidFill>
              <a:srgbClr val="E8B8BE"/>
            </a:solidFill>
            <a:prstDash val="solid"/>
          </a:ln>
        </p:spPr>
      </p:sp>
      <p:sp>
        <p:nvSpPr>
          <p:cNvPr id="11" name="Text 8"/>
          <p:cNvSpPr/>
          <p:nvPr/>
        </p:nvSpPr>
        <p:spPr>
          <a:xfrm>
            <a:off x="685800" y="1453896"/>
            <a:ext cx="2011680" cy="210312"/>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200" b="1">
                <a:solidFill>
                  <a:srgbClr val="B71920"/>
                </a:solidFill>
                <a:latin typeface="Arial" panose="020B0604020202020204"/>
              </a:rPr>
              <a:t>Donor arrays</a:t>
            </a:r>
            <a:endParaRPr lang="en-US" sz="1200" dirty="0"/>
          </a:p>
        </p:txBody>
      </p:sp>
      <p:sp>
        <p:nvSpPr>
          <p:cNvPr id="12" name="Text 9"/>
          <p:cNvSpPr/>
          <p:nvPr/>
        </p:nvSpPr>
        <p:spPr>
          <a:xfrm>
            <a:off x="694944" y="1746504"/>
            <a:ext cx="1993392" cy="35661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60">
                <a:solidFill>
                  <a:srgbClr val="202938"/>
                </a:solidFill>
                <a:latin typeface="Arial" panose="020B0604020202020204"/>
              </a:rPr>
              <a:t>ID, name, age, group and phone stored by index</a:t>
            </a:r>
            <a:endParaRPr lang="en-US" sz="960" dirty="0"/>
          </a:p>
        </p:txBody>
      </p:sp>
      <p:sp>
        <p:nvSpPr>
          <p:cNvPr id="13" name="Shape 10"/>
          <p:cNvSpPr/>
          <p:nvPr/>
        </p:nvSpPr>
        <p:spPr>
          <a:xfrm>
            <a:off x="2971800" y="1335024"/>
            <a:ext cx="2249424" cy="941832"/>
          </a:xfrm>
          <a:prstGeom prst="roundRect">
            <a:avLst>
              <a:gd name="adj" fmla="val 7767"/>
            </a:avLst>
          </a:prstGeom>
          <a:solidFill>
            <a:srgbClr val="EAF2FB"/>
          </a:solidFill>
          <a:ln w="12700">
            <a:solidFill>
              <a:srgbClr val="B8D0EE"/>
            </a:solidFill>
            <a:prstDash val="solid"/>
          </a:ln>
        </p:spPr>
      </p:sp>
      <p:sp>
        <p:nvSpPr>
          <p:cNvPr id="14" name="Text 11"/>
          <p:cNvSpPr/>
          <p:nvPr/>
        </p:nvSpPr>
        <p:spPr>
          <a:xfrm>
            <a:off x="3090672" y="1453896"/>
            <a:ext cx="2011680" cy="210312"/>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200" b="1">
                <a:solidFill>
                  <a:srgbClr val="214D7B"/>
                </a:solidFill>
                <a:latin typeface="Arial" panose="020B0604020202020204"/>
              </a:rPr>
              <a:t>groups[]</a:t>
            </a:r>
            <a:endParaRPr lang="en-US" sz="1200" dirty="0"/>
          </a:p>
        </p:txBody>
      </p:sp>
      <p:sp>
        <p:nvSpPr>
          <p:cNvPr id="15" name="Text 12"/>
          <p:cNvSpPr/>
          <p:nvPr/>
        </p:nvSpPr>
        <p:spPr>
          <a:xfrm>
            <a:off x="3099816" y="1746504"/>
            <a:ext cx="1993392" cy="35661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60">
                <a:solidFill>
                  <a:srgbClr val="202938"/>
                </a:solidFill>
                <a:latin typeface="Arial" panose="020B0604020202020204"/>
              </a:rPr>
              <a:t>Eight supported blood-group labels</a:t>
            </a:r>
            <a:endParaRPr lang="en-US" sz="960" dirty="0"/>
          </a:p>
        </p:txBody>
      </p:sp>
      <p:sp>
        <p:nvSpPr>
          <p:cNvPr id="16" name="Shape 13"/>
          <p:cNvSpPr/>
          <p:nvPr/>
        </p:nvSpPr>
        <p:spPr>
          <a:xfrm>
            <a:off x="566928" y="2468880"/>
            <a:ext cx="2249424" cy="941832"/>
          </a:xfrm>
          <a:prstGeom prst="roundRect">
            <a:avLst>
              <a:gd name="adj" fmla="val 7767"/>
            </a:avLst>
          </a:prstGeom>
          <a:solidFill>
            <a:srgbClr val="EAF6EF"/>
          </a:solidFill>
          <a:ln w="12700">
            <a:solidFill>
              <a:srgbClr val="B9DCC6"/>
            </a:solidFill>
            <a:prstDash val="solid"/>
          </a:ln>
        </p:spPr>
      </p:sp>
      <p:sp>
        <p:nvSpPr>
          <p:cNvPr id="17" name="Text 14"/>
          <p:cNvSpPr/>
          <p:nvPr/>
        </p:nvSpPr>
        <p:spPr>
          <a:xfrm>
            <a:off x="685800" y="2587752"/>
            <a:ext cx="2011680" cy="210312"/>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200" b="1">
                <a:solidFill>
                  <a:srgbClr val="28734B"/>
                </a:solidFill>
                <a:latin typeface="Arial" panose="020B0604020202020204"/>
              </a:rPr>
              <a:t>stock[]</a:t>
            </a:r>
            <a:endParaRPr lang="en-US" sz="1200" dirty="0"/>
          </a:p>
        </p:txBody>
      </p:sp>
      <p:sp>
        <p:nvSpPr>
          <p:cNvPr id="18" name="Text 15"/>
          <p:cNvSpPr/>
          <p:nvPr/>
        </p:nvSpPr>
        <p:spPr>
          <a:xfrm>
            <a:off x="694944" y="2880360"/>
            <a:ext cx="1993392" cy="35661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60">
                <a:solidFill>
                  <a:srgbClr val="202938"/>
                </a:solidFill>
                <a:latin typeface="Arial" panose="020B0604020202020204"/>
              </a:rPr>
              <a:t>Available unit totals indexed by blood group</a:t>
            </a:r>
            <a:endParaRPr lang="en-US" sz="960" dirty="0"/>
          </a:p>
        </p:txBody>
      </p:sp>
      <p:sp>
        <p:nvSpPr>
          <p:cNvPr id="19" name="Shape 16"/>
          <p:cNvSpPr/>
          <p:nvPr/>
        </p:nvSpPr>
        <p:spPr>
          <a:xfrm>
            <a:off x="2971800" y="2468880"/>
            <a:ext cx="2249424" cy="941832"/>
          </a:xfrm>
          <a:prstGeom prst="roundRect">
            <a:avLst>
              <a:gd name="adj" fmla="val 7767"/>
            </a:avLst>
          </a:prstGeom>
          <a:solidFill>
            <a:srgbClr val="FFF6E2"/>
          </a:solidFill>
          <a:ln w="12700">
            <a:solidFill>
              <a:srgbClr val="E9D29A"/>
            </a:solidFill>
            <a:prstDash val="solid"/>
          </a:ln>
        </p:spPr>
      </p:sp>
      <p:sp>
        <p:nvSpPr>
          <p:cNvPr id="20" name="Text 17"/>
          <p:cNvSpPr/>
          <p:nvPr/>
        </p:nvSpPr>
        <p:spPr>
          <a:xfrm>
            <a:off x="3090672" y="2587752"/>
            <a:ext cx="2011680" cy="210312"/>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200" b="1">
                <a:solidFill>
                  <a:srgbClr val="7C5A11"/>
                </a:solidFill>
                <a:latin typeface="Arial" panose="020B0604020202020204"/>
              </a:rPr>
              <a:t>File storage</a:t>
            </a:r>
            <a:endParaRPr lang="en-US" sz="1200" dirty="0"/>
          </a:p>
        </p:txBody>
      </p:sp>
      <p:sp>
        <p:nvSpPr>
          <p:cNvPr id="21" name="Text 18"/>
          <p:cNvSpPr/>
          <p:nvPr/>
        </p:nvSpPr>
        <p:spPr>
          <a:xfrm>
            <a:off x="3099816" y="2880360"/>
            <a:ext cx="1993392" cy="356616"/>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60">
                <a:solidFill>
                  <a:srgbClr val="202938"/>
                </a:solidFill>
                <a:latin typeface="Arial" panose="020B0604020202020204"/>
              </a:rPr>
              <a:t>donors.txt and inventory.txt preserve records</a:t>
            </a:r>
            <a:endParaRPr lang="en-US" sz="960" dirty="0"/>
          </a:p>
        </p:txBody>
      </p:sp>
      <p:sp>
        <p:nvSpPr>
          <p:cNvPr id="22" name="Shape 19"/>
          <p:cNvSpPr/>
          <p:nvPr/>
        </p:nvSpPr>
        <p:spPr>
          <a:xfrm>
            <a:off x="5477256" y="1335024"/>
            <a:ext cx="6126480" cy="2633472"/>
          </a:xfrm>
          <a:prstGeom prst="roundRect">
            <a:avLst>
              <a:gd name="adj" fmla="val 2778"/>
            </a:avLst>
          </a:prstGeom>
          <a:solidFill>
            <a:srgbClr val="172234"/>
          </a:solidFill>
          <a:ln w="12700">
            <a:solidFill>
              <a:srgbClr val="172234"/>
            </a:solidFill>
            <a:prstDash val="solid"/>
          </a:ln>
        </p:spPr>
      </p:sp>
      <p:sp>
        <p:nvSpPr>
          <p:cNvPr id="23" name="Text 20"/>
          <p:cNvSpPr/>
          <p:nvPr/>
        </p:nvSpPr>
        <p:spPr>
          <a:xfrm>
            <a:off x="5641848" y="1435608"/>
            <a:ext cx="5797296"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900" b="1">
                <a:solidFill>
                  <a:srgbClr val="F2B8BD"/>
                </a:solidFill>
                <a:latin typeface="Arial" panose="020B0604020202020204"/>
              </a:rPr>
              <a:t>ACTUAL ARRAY SEARCH — BLOODBANK.JAVA</a:t>
            </a:r>
            <a:endParaRPr lang="en-US" sz="900" dirty="0"/>
          </a:p>
        </p:txBody>
      </p:sp>
      <p:sp>
        <p:nvSpPr>
          <p:cNvPr id="24" name="Shape 21"/>
          <p:cNvSpPr/>
          <p:nvPr/>
        </p:nvSpPr>
        <p:spPr>
          <a:xfrm>
            <a:off x="5614416" y="1691640"/>
            <a:ext cx="5852160" cy="0"/>
          </a:xfrm>
          <a:prstGeom prst="line">
            <a:avLst/>
          </a:prstGeom>
          <a:noFill/>
          <a:ln w="8890">
            <a:solidFill>
              <a:srgbClr val="42506A"/>
            </a:solidFill>
            <a:prstDash val="solid"/>
          </a:ln>
        </p:spPr>
      </p:sp>
      <p:sp>
        <p:nvSpPr>
          <p:cNvPr id="25" name="Text 22"/>
          <p:cNvSpPr/>
          <p:nvPr/>
        </p:nvSpPr>
        <p:spPr>
          <a:xfrm>
            <a:off x="5632704" y="1792224"/>
            <a:ext cx="5815584" cy="2084832"/>
          </a:xfrm>
          <a:prstGeom prst="rect">
            <a:avLst/>
          </a:prstGeom>
          <a:noFill/>
        </p:spPr>
        <p:txBody>
          <a:bodyPr wrap="square" lIns="127" tIns="127" rIns="127" bIns="127" rtlCol="0" anchor="t"/>
          <a:lstStyle/>
          <a:p>
            <a:pPr marL="0" indent="0" algn="l">
              <a:lnSpc>
                <a:spcPct val="100000"/>
              </a:lnSpc>
              <a:spcBef>
                <a:spcPts val="0"/>
              </a:spcBef>
              <a:spcAft>
                <a:spcPts val="0"/>
              </a:spcAft>
              <a:buNone/>
            </a:pPr>
            <a:r>
              <a:rPr sz="1020">
                <a:solidFill>
                  <a:srgbClr val="EAF0F8"/>
                </a:solidFill>
                <a:latin typeface="Liberation Mono"/>
              </a:rPr>
              <a:t>boolean found = false;</a:t>
            </a:r>
            <a:endParaRPr lang="en-US" sz="980" dirty="0"/>
          </a:p>
          <a:p>
            <a:pPr>
              <a:lnSpc>
                <a:spcPct val="100000"/>
              </a:lnSpc>
              <a:spcBef>
                <a:spcPts val="0"/>
              </a:spcBef>
              <a:spcAft>
                <a:spcPts val="0"/>
              </a:spcAft>
            </a:pPr>
            <a:r>
              <a:rPr sz="1020">
                <a:solidFill>
                  <a:srgbClr val="EAF0F8"/>
                </a:solidFill>
                <a:latin typeface="Liberation Mono"/>
              </a:rPr>
              <a:t>for (int i = 0; i &lt; donorCount; i++) {</a:t>
            </a:r>
            <a:endParaRPr sz="1020">
              <a:solidFill>
                <a:srgbClr val="EAF0F8"/>
              </a:solidFill>
              <a:latin typeface="Liberation Mono"/>
            </a:endParaRPr>
          </a:p>
          <a:p>
            <a:pPr>
              <a:lnSpc>
                <a:spcPct val="100000"/>
              </a:lnSpc>
              <a:spcBef>
                <a:spcPts val="0"/>
              </a:spcBef>
              <a:spcAft>
                <a:spcPts val="0"/>
              </a:spcAft>
            </a:pPr>
            <a:r>
              <a:rPr sz="1020">
                <a:solidFill>
                  <a:srgbClr val="EAF0F8"/>
                </a:solidFill>
                <a:latin typeface="Liberation Mono"/>
              </a:rPr>
              <a:t>    if (donorGroup[i].equals(wanted)) {</a:t>
            </a:r>
            <a:endParaRPr sz="1020">
              <a:solidFill>
                <a:srgbClr val="EAF0F8"/>
              </a:solidFill>
              <a:latin typeface="Liberation Mono"/>
            </a:endParaRPr>
          </a:p>
          <a:p>
            <a:pPr>
              <a:lnSpc>
                <a:spcPct val="100000"/>
              </a:lnSpc>
              <a:spcBef>
                <a:spcPts val="0"/>
              </a:spcBef>
              <a:spcAft>
                <a:spcPts val="0"/>
              </a:spcAft>
            </a:pPr>
            <a:r>
              <a:rPr sz="1020">
                <a:solidFill>
                  <a:srgbClr val="EAF0F8"/>
                </a:solidFill>
                <a:latin typeface="Liberation Mono"/>
              </a:rPr>
              <a:t>        System.out.println(donorId[i] + " - " + donorName[i]</a:t>
            </a:r>
            <a:endParaRPr sz="1020">
              <a:solidFill>
                <a:srgbClr val="EAF0F8"/>
              </a:solidFill>
              <a:latin typeface="Liberation Mono"/>
            </a:endParaRPr>
          </a:p>
          <a:p>
            <a:pPr>
              <a:lnSpc>
                <a:spcPct val="100000"/>
              </a:lnSpc>
              <a:spcBef>
                <a:spcPts val="0"/>
              </a:spcBef>
              <a:spcAft>
                <a:spcPts val="0"/>
              </a:spcAft>
            </a:pPr>
            <a:r>
              <a:rPr sz="1020">
                <a:solidFill>
                  <a:srgbClr val="EAF0F8"/>
                </a:solidFill>
                <a:latin typeface="Liberation Mono"/>
              </a:rPr>
              <a:t>                + " - " + donorGroup[i] + " - " + donorPhone[i]);</a:t>
            </a:r>
            <a:endParaRPr sz="1020">
              <a:solidFill>
                <a:srgbClr val="EAF0F8"/>
              </a:solidFill>
              <a:latin typeface="Liberation Mono"/>
            </a:endParaRPr>
          </a:p>
          <a:p>
            <a:pPr>
              <a:lnSpc>
                <a:spcPct val="100000"/>
              </a:lnSpc>
              <a:spcBef>
                <a:spcPts val="0"/>
              </a:spcBef>
              <a:spcAft>
                <a:spcPts val="0"/>
              </a:spcAft>
            </a:pPr>
            <a:r>
              <a:rPr sz="1020">
                <a:solidFill>
                  <a:srgbClr val="EAF0F8"/>
                </a:solidFill>
                <a:latin typeface="Liberation Mono"/>
              </a:rPr>
              <a:t>        found = true;</a:t>
            </a:r>
            <a:endParaRPr sz="1020">
              <a:solidFill>
                <a:srgbClr val="EAF0F8"/>
              </a:solidFill>
              <a:latin typeface="Liberation Mono"/>
            </a:endParaRPr>
          </a:p>
          <a:p>
            <a:pPr>
              <a:lnSpc>
                <a:spcPct val="100000"/>
              </a:lnSpc>
              <a:spcBef>
                <a:spcPts val="0"/>
              </a:spcBef>
              <a:spcAft>
                <a:spcPts val="0"/>
              </a:spcAft>
            </a:pPr>
            <a:r>
              <a:rPr sz="1020">
                <a:solidFill>
                  <a:srgbClr val="EAF0F8"/>
                </a:solidFill>
                <a:latin typeface="Liberation Mono"/>
              </a:rPr>
              <a:t>    }</a:t>
            </a:r>
            <a:endParaRPr sz="1020">
              <a:solidFill>
                <a:srgbClr val="EAF0F8"/>
              </a:solidFill>
              <a:latin typeface="Liberation Mono"/>
            </a:endParaRPr>
          </a:p>
          <a:p>
            <a:pPr>
              <a:lnSpc>
                <a:spcPct val="100000"/>
              </a:lnSpc>
              <a:spcBef>
                <a:spcPts val="0"/>
              </a:spcBef>
              <a:spcAft>
                <a:spcPts val="0"/>
              </a:spcAft>
            </a:pPr>
            <a:r>
              <a:rPr sz="1020">
                <a:solidFill>
                  <a:srgbClr val="EAF0F8"/>
                </a:solidFill>
                <a:latin typeface="Liberation Mono"/>
              </a:rPr>
              <a:t>}</a:t>
            </a:r>
            <a:endParaRPr sz="1020">
              <a:solidFill>
                <a:srgbClr val="EAF0F8"/>
              </a:solidFill>
              <a:latin typeface="Liberation Mono"/>
            </a:endParaRPr>
          </a:p>
          <a:p>
            <a:pPr>
              <a:lnSpc>
                <a:spcPct val="100000"/>
              </a:lnSpc>
              <a:spcBef>
                <a:spcPts val="0"/>
              </a:spcBef>
              <a:spcAft>
                <a:spcPts val="0"/>
              </a:spcAft>
            </a:pPr>
            <a:r>
              <a:rPr sz="1020">
                <a:solidFill>
                  <a:srgbClr val="EAF0F8"/>
                </a:solidFill>
                <a:latin typeface="Liberation Mono"/>
              </a:rPr>
              <a:t>if (!found) {</a:t>
            </a:r>
            <a:endParaRPr sz="1020">
              <a:solidFill>
                <a:srgbClr val="EAF0F8"/>
              </a:solidFill>
              <a:latin typeface="Liberation Mono"/>
            </a:endParaRPr>
          </a:p>
          <a:p>
            <a:pPr>
              <a:lnSpc>
                <a:spcPct val="100000"/>
              </a:lnSpc>
              <a:spcBef>
                <a:spcPts val="0"/>
              </a:spcBef>
              <a:spcAft>
                <a:spcPts val="0"/>
              </a:spcAft>
            </a:pPr>
            <a:r>
              <a:rPr sz="1020">
                <a:solidFill>
                  <a:srgbClr val="EAF0F8"/>
                </a:solidFill>
                <a:latin typeface="Liberation Mono"/>
              </a:rPr>
              <a:t>    System.out.println("No donor found for " + wanted);</a:t>
            </a:r>
            <a:endParaRPr sz="1020">
              <a:solidFill>
                <a:srgbClr val="EAF0F8"/>
              </a:solidFill>
              <a:latin typeface="Liberation Mono"/>
            </a:endParaRPr>
          </a:p>
          <a:p>
            <a:pPr>
              <a:lnSpc>
                <a:spcPct val="100000"/>
              </a:lnSpc>
              <a:spcBef>
                <a:spcPts val="0"/>
              </a:spcBef>
              <a:spcAft>
                <a:spcPts val="0"/>
              </a:spcAft>
            </a:pPr>
            <a:r>
              <a:rPr sz="1020">
                <a:solidFill>
                  <a:srgbClr val="EAF0F8"/>
                </a:solidFill>
                <a:latin typeface="Liberation Mono"/>
              </a:rPr>
              <a:t>}</a:t>
            </a:r>
            <a:endParaRPr sz="1020">
              <a:solidFill>
                <a:srgbClr val="EAF0F8"/>
              </a:solidFill>
              <a:latin typeface="Liberation Mono"/>
            </a:endParaRPr>
          </a:p>
        </p:txBody>
      </p:sp>
      <p:sp>
        <p:nvSpPr>
          <p:cNvPr id="26" name="Text 23"/>
          <p:cNvSpPr/>
          <p:nvPr/>
        </p:nvSpPr>
        <p:spPr>
          <a:xfrm>
            <a:off x="594360" y="4014216"/>
            <a:ext cx="1828800" cy="201168"/>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000" b="1">
                <a:solidFill>
                  <a:srgbClr val="D91F26"/>
                </a:solidFill>
                <a:latin typeface="Arial" panose="020B0604020202020204"/>
              </a:rPr>
              <a:t>SEARCH STEPS</a:t>
            </a:r>
            <a:endParaRPr lang="en-US" sz="1000" dirty="0"/>
          </a:p>
        </p:txBody>
      </p:sp>
      <p:sp>
        <p:nvSpPr>
          <p:cNvPr id="27" name="Shape 24"/>
          <p:cNvSpPr/>
          <p:nvPr/>
        </p:nvSpPr>
        <p:spPr>
          <a:xfrm>
            <a:off x="603504" y="4315968"/>
            <a:ext cx="2011680" cy="658368"/>
          </a:xfrm>
          <a:prstGeom prst="roundRect">
            <a:avLst>
              <a:gd name="adj" fmla="val 11111"/>
            </a:avLst>
          </a:prstGeom>
          <a:solidFill>
            <a:srgbClr val="FCEDEF"/>
          </a:solidFill>
          <a:ln w="12700">
            <a:solidFill>
              <a:srgbClr val="E8B8BE"/>
            </a:solidFill>
            <a:prstDash val="solid"/>
          </a:ln>
        </p:spPr>
      </p:sp>
      <p:sp>
        <p:nvSpPr>
          <p:cNvPr id="28" name="Text 25"/>
          <p:cNvSpPr/>
          <p:nvPr/>
        </p:nvSpPr>
        <p:spPr>
          <a:xfrm>
            <a:off x="667512" y="4370832"/>
            <a:ext cx="1883664" cy="548640"/>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080" b="1">
                <a:solidFill>
                  <a:srgbClr val="172234"/>
                </a:solidFill>
                <a:latin typeface="Arial" panose="020B0604020202020204"/>
              </a:rPr>
              <a:t>Array</a:t>
            </a:r>
            <a:endParaRPr lang="en-US" sz="1080" dirty="0"/>
          </a:p>
        </p:txBody>
      </p:sp>
      <p:sp>
        <p:nvSpPr>
          <p:cNvPr id="29" name="Text 26"/>
          <p:cNvSpPr/>
          <p:nvPr/>
        </p:nvSpPr>
        <p:spPr>
          <a:xfrm>
            <a:off x="2633472" y="4517136"/>
            <a:ext cx="256032" cy="219456"/>
          </a:xfrm>
          <a:prstGeom prst="rect">
            <a:avLst/>
          </a:prstGeom>
          <a:noFill/>
        </p:spPr>
        <p:txBody>
          <a:bodyPr wrap="square" lIns="0" tIns="0" rIns="0" bIns="0" rtlCol="0" anchor="ctr">
            <a:normAutofit/>
          </a:bodyPr>
          <a:lstStyle/>
          <a:p>
            <a:pPr marL="0" indent="0" algn="ctr">
              <a:buNone/>
            </a:pPr>
            <a:r>
              <a:rPr lang="en-US" sz="1700" b="1" dirty="0">
                <a:solidFill>
                  <a:srgbClr val="687487"/>
                </a:solidFill>
                <a:latin typeface="Arial" panose="020B0604020202020204" pitchFamily="34" charset="0"/>
                <a:ea typeface="Arial" panose="020B0604020202020204" pitchFamily="34" charset="-122"/>
                <a:cs typeface="Arial" panose="020B0604020202020204" pitchFamily="34" charset="-120"/>
              </a:rPr>
              <a:t>→</a:t>
            </a:r>
            <a:endParaRPr lang="en-US" sz="1700" dirty="0"/>
          </a:p>
        </p:txBody>
      </p:sp>
      <p:sp>
        <p:nvSpPr>
          <p:cNvPr id="30" name="Shape 27"/>
          <p:cNvSpPr/>
          <p:nvPr/>
        </p:nvSpPr>
        <p:spPr>
          <a:xfrm>
            <a:off x="2935224" y="4315968"/>
            <a:ext cx="2011680" cy="658368"/>
          </a:xfrm>
          <a:prstGeom prst="roundRect">
            <a:avLst>
              <a:gd name="adj" fmla="val 11111"/>
            </a:avLst>
          </a:prstGeom>
          <a:solidFill>
            <a:srgbClr val="EAF2FB"/>
          </a:solidFill>
          <a:ln w="12700">
            <a:solidFill>
              <a:srgbClr val="B8D0EE"/>
            </a:solidFill>
            <a:prstDash val="solid"/>
          </a:ln>
        </p:spPr>
      </p:sp>
      <p:sp>
        <p:nvSpPr>
          <p:cNvPr id="31" name="Text 28"/>
          <p:cNvSpPr/>
          <p:nvPr/>
        </p:nvSpPr>
        <p:spPr>
          <a:xfrm>
            <a:off x="2999232" y="4370832"/>
            <a:ext cx="1883664" cy="548640"/>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080" b="1">
                <a:solidFill>
                  <a:srgbClr val="172234"/>
                </a:solidFill>
                <a:latin typeface="Arial" panose="020B0604020202020204"/>
              </a:rPr>
              <a:t>Loop through</a:t>
            </a:r>
            <a:endParaRPr lang="en-US" sz="1080" dirty="0"/>
          </a:p>
        </p:txBody>
      </p:sp>
      <p:sp>
        <p:nvSpPr>
          <p:cNvPr id="32" name="Text 29"/>
          <p:cNvSpPr/>
          <p:nvPr/>
        </p:nvSpPr>
        <p:spPr>
          <a:xfrm>
            <a:off x="4965192" y="4517136"/>
            <a:ext cx="256032" cy="219456"/>
          </a:xfrm>
          <a:prstGeom prst="rect">
            <a:avLst/>
          </a:prstGeom>
          <a:noFill/>
        </p:spPr>
        <p:txBody>
          <a:bodyPr wrap="square" lIns="0" tIns="0" rIns="0" bIns="0" rtlCol="0" anchor="ctr">
            <a:normAutofit/>
          </a:bodyPr>
          <a:lstStyle/>
          <a:p>
            <a:pPr marL="0" indent="0" algn="ctr">
              <a:buNone/>
            </a:pPr>
            <a:r>
              <a:rPr lang="en-US" sz="1700" b="1" dirty="0">
                <a:solidFill>
                  <a:srgbClr val="687487"/>
                </a:solidFill>
                <a:latin typeface="Arial" panose="020B0604020202020204" pitchFamily="34" charset="0"/>
                <a:ea typeface="Arial" panose="020B0604020202020204" pitchFamily="34" charset="-122"/>
                <a:cs typeface="Arial" panose="020B0604020202020204" pitchFamily="34" charset="-120"/>
              </a:rPr>
              <a:t>→</a:t>
            </a:r>
            <a:endParaRPr lang="en-US" sz="1700" dirty="0"/>
          </a:p>
        </p:txBody>
      </p:sp>
      <p:sp>
        <p:nvSpPr>
          <p:cNvPr id="33" name="Shape 30"/>
          <p:cNvSpPr/>
          <p:nvPr/>
        </p:nvSpPr>
        <p:spPr>
          <a:xfrm>
            <a:off x="5266944" y="4315968"/>
            <a:ext cx="2011680" cy="658368"/>
          </a:xfrm>
          <a:prstGeom prst="roundRect">
            <a:avLst>
              <a:gd name="adj" fmla="val 11111"/>
            </a:avLst>
          </a:prstGeom>
          <a:solidFill>
            <a:srgbClr val="EAF6EF"/>
          </a:solidFill>
          <a:ln w="12700">
            <a:solidFill>
              <a:srgbClr val="B9DCC6"/>
            </a:solidFill>
            <a:prstDash val="solid"/>
          </a:ln>
        </p:spPr>
      </p:sp>
      <p:sp>
        <p:nvSpPr>
          <p:cNvPr id="34" name="Text 31"/>
          <p:cNvSpPr/>
          <p:nvPr/>
        </p:nvSpPr>
        <p:spPr>
          <a:xfrm>
            <a:off x="5330952" y="4370832"/>
            <a:ext cx="1883664" cy="548640"/>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080" b="1">
                <a:solidFill>
                  <a:srgbClr val="172234"/>
                </a:solidFill>
                <a:latin typeface="Arial" panose="020B0604020202020204"/>
              </a:rPr>
              <a:t>Compare group</a:t>
            </a:r>
            <a:endParaRPr lang="en-US" sz="1080" dirty="0"/>
          </a:p>
        </p:txBody>
      </p:sp>
      <p:sp>
        <p:nvSpPr>
          <p:cNvPr id="35" name="Text 32"/>
          <p:cNvSpPr/>
          <p:nvPr/>
        </p:nvSpPr>
        <p:spPr>
          <a:xfrm>
            <a:off x="7296912" y="4517136"/>
            <a:ext cx="256032" cy="219456"/>
          </a:xfrm>
          <a:prstGeom prst="rect">
            <a:avLst/>
          </a:prstGeom>
          <a:noFill/>
        </p:spPr>
        <p:txBody>
          <a:bodyPr wrap="square" lIns="0" tIns="0" rIns="0" bIns="0" rtlCol="0" anchor="ctr">
            <a:normAutofit/>
          </a:bodyPr>
          <a:lstStyle/>
          <a:p>
            <a:pPr marL="0" indent="0" algn="ctr">
              <a:buNone/>
            </a:pPr>
            <a:r>
              <a:rPr lang="en-US" sz="1700" b="1" dirty="0">
                <a:solidFill>
                  <a:srgbClr val="687487"/>
                </a:solidFill>
                <a:latin typeface="Arial" panose="020B0604020202020204" pitchFamily="34" charset="0"/>
                <a:ea typeface="Arial" panose="020B0604020202020204" pitchFamily="34" charset="-122"/>
                <a:cs typeface="Arial" panose="020B0604020202020204" pitchFamily="34" charset="-120"/>
              </a:rPr>
              <a:t>→</a:t>
            </a:r>
            <a:endParaRPr lang="en-US" sz="1700" dirty="0"/>
          </a:p>
        </p:txBody>
      </p:sp>
      <p:sp>
        <p:nvSpPr>
          <p:cNvPr id="36" name="Shape 33"/>
          <p:cNvSpPr/>
          <p:nvPr/>
        </p:nvSpPr>
        <p:spPr>
          <a:xfrm>
            <a:off x="7598664" y="4315968"/>
            <a:ext cx="2011680" cy="658368"/>
          </a:xfrm>
          <a:prstGeom prst="roundRect">
            <a:avLst>
              <a:gd name="adj" fmla="val 11111"/>
            </a:avLst>
          </a:prstGeom>
          <a:solidFill>
            <a:srgbClr val="EAF2FB"/>
          </a:solidFill>
          <a:ln w="12700">
            <a:solidFill>
              <a:srgbClr val="B8D0EE"/>
            </a:solidFill>
            <a:prstDash val="solid"/>
          </a:ln>
        </p:spPr>
      </p:sp>
      <p:sp>
        <p:nvSpPr>
          <p:cNvPr id="37" name="Text 34"/>
          <p:cNvSpPr/>
          <p:nvPr/>
        </p:nvSpPr>
        <p:spPr>
          <a:xfrm>
            <a:off x="7662672" y="4370832"/>
            <a:ext cx="1883664" cy="548640"/>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080" b="1">
                <a:solidFill>
                  <a:srgbClr val="172234"/>
                </a:solidFill>
                <a:latin typeface="Arial" panose="020B0604020202020204"/>
              </a:rPr>
              <a:t>Print match</a:t>
            </a:r>
            <a:endParaRPr lang="en-US" sz="1080" dirty="0"/>
          </a:p>
        </p:txBody>
      </p:sp>
      <p:sp>
        <p:nvSpPr>
          <p:cNvPr id="38" name="Text 35"/>
          <p:cNvSpPr/>
          <p:nvPr/>
        </p:nvSpPr>
        <p:spPr>
          <a:xfrm>
            <a:off x="9628632" y="4517136"/>
            <a:ext cx="256032" cy="219456"/>
          </a:xfrm>
          <a:prstGeom prst="rect">
            <a:avLst/>
          </a:prstGeom>
          <a:noFill/>
        </p:spPr>
        <p:txBody>
          <a:bodyPr wrap="square" lIns="0" tIns="0" rIns="0" bIns="0" rtlCol="0" anchor="ctr">
            <a:normAutofit/>
          </a:bodyPr>
          <a:lstStyle/>
          <a:p>
            <a:pPr marL="0" indent="0" algn="ctr">
              <a:buNone/>
            </a:pPr>
            <a:r>
              <a:rPr lang="en-US" sz="1700" b="1" dirty="0">
                <a:solidFill>
                  <a:srgbClr val="687487"/>
                </a:solidFill>
                <a:latin typeface="Arial" panose="020B0604020202020204" pitchFamily="34" charset="0"/>
                <a:ea typeface="Arial" panose="020B0604020202020204" pitchFamily="34" charset="-122"/>
                <a:cs typeface="Arial" panose="020B0604020202020204" pitchFamily="34" charset="-120"/>
              </a:rPr>
              <a:t>→</a:t>
            </a:r>
            <a:endParaRPr lang="en-US" sz="1700" dirty="0"/>
          </a:p>
        </p:txBody>
      </p:sp>
      <p:sp>
        <p:nvSpPr>
          <p:cNvPr id="39" name="Shape 36"/>
          <p:cNvSpPr/>
          <p:nvPr/>
        </p:nvSpPr>
        <p:spPr>
          <a:xfrm>
            <a:off x="9930384" y="4315968"/>
            <a:ext cx="2011680" cy="658368"/>
          </a:xfrm>
          <a:prstGeom prst="roundRect">
            <a:avLst>
              <a:gd name="adj" fmla="val 11111"/>
            </a:avLst>
          </a:prstGeom>
          <a:solidFill>
            <a:srgbClr val="EAF6EF"/>
          </a:solidFill>
          <a:ln w="12700">
            <a:solidFill>
              <a:srgbClr val="B9DCC6"/>
            </a:solidFill>
            <a:prstDash val="solid"/>
          </a:ln>
        </p:spPr>
      </p:sp>
      <p:sp>
        <p:nvSpPr>
          <p:cNvPr id="40" name="Text 37"/>
          <p:cNvSpPr/>
          <p:nvPr/>
        </p:nvSpPr>
        <p:spPr>
          <a:xfrm>
            <a:off x="9994392" y="4370832"/>
            <a:ext cx="1883664" cy="548640"/>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080" b="1">
                <a:solidFill>
                  <a:srgbClr val="172234"/>
                </a:solidFill>
                <a:latin typeface="Arial" panose="020B0604020202020204"/>
              </a:rPr>
              <a:t>Result</a:t>
            </a:r>
            <a:endParaRPr lang="en-US" sz="1080" dirty="0"/>
          </a:p>
        </p:txBody>
      </p:sp>
      <p:sp>
        <p:nvSpPr>
          <p:cNvPr id="41" name="Shape 38"/>
          <p:cNvSpPr/>
          <p:nvPr/>
        </p:nvSpPr>
        <p:spPr>
          <a:xfrm>
            <a:off x="603504" y="5193792"/>
            <a:ext cx="10991088" cy="731520"/>
          </a:xfrm>
          <a:prstGeom prst="roundRect">
            <a:avLst>
              <a:gd name="adj" fmla="val 10000"/>
            </a:avLst>
          </a:prstGeom>
          <a:solidFill>
            <a:srgbClr val="F7F9FC"/>
          </a:solidFill>
          <a:ln w="12700">
            <a:solidFill>
              <a:srgbClr val="E1E6ED"/>
            </a:solidFill>
            <a:prstDash val="solid"/>
          </a:ln>
        </p:spPr>
      </p:sp>
      <p:sp>
        <p:nvSpPr>
          <p:cNvPr id="42" name="Text 39"/>
          <p:cNvSpPr/>
          <p:nvPr/>
        </p:nvSpPr>
        <p:spPr>
          <a:xfrm>
            <a:off x="713232" y="5248656"/>
            <a:ext cx="10771632" cy="621792"/>
          </a:xfrm>
          <a:prstGeom prst="rect">
            <a:avLst/>
          </a:prstGeom>
          <a:noFill/>
        </p:spPr>
        <p:txBody>
          <a:bodyPr wrap="square" lIns="0" tIns="0" rIns="0" bIns="0" rtlCol="0" anchor="ctr">
            <a:normAutofit/>
          </a:bodyPr>
          <a:lstStyle/>
          <a:p>
            <a:pPr marL="0" indent="0" algn="l">
              <a:lnSpc>
                <a:spcPct val="100000"/>
              </a:lnSpc>
              <a:spcBef>
                <a:spcPts val="0"/>
              </a:spcBef>
              <a:spcAft>
                <a:spcPts val="0"/>
              </a:spcAft>
              <a:buNone/>
            </a:pPr>
            <a:r>
              <a:rPr sz="1000">
                <a:solidFill>
                  <a:srgbClr val="687487"/>
                </a:solidFill>
                <a:latin typeface="Arial" panose="020B0604020202020204"/>
              </a:rPr>
              <a:t>The uploaded BloodBank.java uses arrays and loops; it does not currently implement List, Set, Map, lambdas or Java Stream APIs.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1"/>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p:spPr>
        <p:txBody>
          <a:bodyPr wrap="square" lIns="0" tIns="0" rIns="0" bIns="0" rtlCol="0" anchor="ctr">
            <a:normAutofit/>
          </a:bodyPr>
          <a:lstStyle/>
          <a:p>
            <a:pPr marL="0" indent="0">
              <a:buNone/>
            </a:pPr>
            <a:r>
              <a:rPr lang="en-US" sz="2200" b="1" dirty="0">
                <a:solidFill>
                  <a:srgbClr val="172234"/>
                </a:solidFill>
                <a:latin typeface="Arial" panose="020B0604020202020204" pitchFamily="34" charset="0"/>
                <a:ea typeface="Arial" panose="020B0604020202020204" pitchFamily="34" charset="-122"/>
                <a:cs typeface="Arial" panose="020B0604020202020204" pitchFamily="34" charset="-120"/>
              </a:rPr>
              <a:t>System Architecture &amp; Main Workflow</a:t>
            </a:r>
            <a:endParaRPr lang="en-US" sz="2200" dirty="0"/>
          </a:p>
        </p:txBody>
      </p:sp>
      <p:sp>
        <p:nvSpPr>
          <p:cNvPr id="4" name="Text 1"/>
          <p:cNvSpPr/>
          <p:nvPr/>
        </p:nvSpPr>
        <p:spPr>
          <a:xfrm>
            <a:off x="886968" y="640080"/>
            <a:ext cx="10789920" cy="201168"/>
          </a:xfrm>
          <a:prstGeom prst="rect">
            <a:avLst/>
          </a:prstGeom>
          <a:noFill/>
        </p:spPr>
        <p:txBody>
          <a:bodyPr wrap="square" lIns="0" tIns="0" rIns="0" bIns="0" rtlCol="0" anchor="ctr">
            <a:normAutofit/>
          </a:bodyPr>
          <a:lstStyle/>
          <a:p>
            <a:pPr marL="0" indent="0">
              <a:buNone/>
            </a:pPr>
            <a:r>
              <a:rPr lang="en-US" sz="1030" dirty="0">
                <a:solidFill>
                  <a:srgbClr val="687487"/>
                </a:solidFill>
                <a:latin typeface="Arial" panose="020B0604020202020204" pitchFamily="34" charset="0"/>
                <a:ea typeface="Arial" panose="020B0604020202020204" pitchFamily="34" charset="-122"/>
                <a:cs typeface="Arial" panose="020B0604020202020204" pitchFamily="34" charset="-120"/>
              </a:rPr>
              <a:t>A console menu calls the domain logic; local files preserve the records</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p:spPr>
        <p:txBody>
          <a:bodyPr wrap="square" lIns="0" tIns="0" rIns="0" bIns="0" rtlCol="0" anchor="ctr">
            <a:normAutofit/>
          </a:bodyPr>
          <a:lstStyle/>
          <a:p>
            <a:pPr marL="0" indent="0">
              <a:buNone/>
            </a:pPr>
            <a:r>
              <a:rPr lang="en-US" sz="810" dirty="0">
                <a:solidFill>
                  <a:srgbClr val="8A929E"/>
                </a:solidFill>
                <a:latin typeface="Arial" panose="020B0604020202020204" pitchFamily="34" charset="0"/>
                <a:ea typeface="Arial" panose="020B0604020202020204" pitchFamily="34" charset="-122"/>
                <a:cs typeface="Arial" panose="020B0604020202020204" pitchFamily="34" charset="-120"/>
              </a:rPr>
              <a:t>11/10/2026</a:t>
            </a:r>
            <a:endParaRPr lang="en-US" sz="810" dirty="0"/>
          </a:p>
        </p:txBody>
      </p:sp>
      <p:sp>
        <p:nvSpPr>
          <p:cNvPr id="8" name="Text 5"/>
          <p:cNvSpPr/>
          <p:nvPr/>
        </p:nvSpPr>
        <p:spPr>
          <a:xfrm>
            <a:off x="3840480" y="6501384"/>
            <a:ext cx="4526280" cy="146304"/>
          </a:xfrm>
          <a:prstGeom prst="rect">
            <a:avLst/>
          </a:prstGeom>
          <a:noFill/>
        </p:spPr>
        <p:txBody>
          <a:bodyPr wrap="square" lIns="0" tIns="0" rIns="0" bIns="0" rtlCol="0" anchor="ctr">
            <a:normAutofit/>
          </a:bodyPr>
          <a:lstStyle/>
          <a:p>
            <a:pPr marL="0" indent="0" algn="ctr">
              <a:buNone/>
            </a:pPr>
            <a:r>
              <a:rPr lang="en-US" sz="760" dirty="0">
                <a:solidFill>
                  <a:srgbClr val="A0A7B2"/>
                </a:solidFill>
                <a:latin typeface="Arial" panose="020B0604020202020204" pitchFamily="34" charset="0"/>
                <a:ea typeface="Arial" panose="020B0604020202020204" pitchFamily="34" charset="-122"/>
                <a:cs typeface="Arial" panose="020B0604020202020204"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p:spPr>
        <p:txBody>
          <a:bodyPr wrap="square" lIns="0" tIns="0" rIns="0" bIns="0" rtlCol="0" anchor="ctr">
            <a:normAutofit/>
          </a:bodyPr>
          <a:lstStyle/>
          <a:p>
            <a:pPr marL="0" indent="0" algn="r">
              <a:buNone/>
            </a:pPr>
            <a:r>
              <a:rPr lang="en-US" sz="810" dirty="0">
                <a:solidFill>
                  <a:srgbClr val="8A929E"/>
                </a:solidFill>
                <a:latin typeface="Arial" panose="020B0604020202020204" pitchFamily="34" charset="0"/>
                <a:ea typeface="Arial" panose="020B0604020202020204" pitchFamily="34" charset="-122"/>
                <a:cs typeface="Arial" panose="020B0604020202020204" pitchFamily="34" charset="-120"/>
              </a:rPr>
              <a:t>10</a:t>
            </a:r>
            <a:endParaRPr lang="en-US" sz="810" dirty="0"/>
          </a:p>
        </p:txBody>
      </p:sp>
      <p:sp>
        <p:nvSpPr>
          <p:cNvPr id="10" name="Shape 7"/>
          <p:cNvSpPr/>
          <p:nvPr/>
        </p:nvSpPr>
        <p:spPr>
          <a:xfrm>
            <a:off x="713232" y="1344168"/>
            <a:ext cx="2029968" cy="722376"/>
          </a:xfrm>
          <a:prstGeom prst="roundRect">
            <a:avLst>
              <a:gd name="adj" fmla="val 10127"/>
            </a:avLst>
          </a:prstGeom>
          <a:solidFill>
            <a:srgbClr val="FCEDEF"/>
          </a:solidFill>
          <a:ln w="12700">
            <a:solidFill>
              <a:srgbClr val="E8B8BE"/>
            </a:solidFill>
            <a:prstDash val="solid"/>
          </a:ln>
        </p:spPr>
      </p:sp>
      <p:sp>
        <p:nvSpPr>
          <p:cNvPr id="11" name="Text 8"/>
          <p:cNvSpPr/>
          <p:nvPr/>
        </p:nvSpPr>
        <p:spPr>
          <a:xfrm>
            <a:off x="777240" y="1399032"/>
            <a:ext cx="1901952" cy="612648"/>
          </a:xfrm>
          <a:prstGeom prst="rect">
            <a:avLst/>
          </a:prstGeom>
          <a:noFill/>
        </p:spPr>
        <p:txBody>
          <a:bodyPr wrap="square" lIns="0" tIns="0" rIns="0" bIns="0" rtlCol="0" anchor="ctr">
            <a:normAutofit/>
          </a:bodyPr>
          <a:lstStyle/>
          <a:p>
            <a:pPr marL="0" indent="0" algn="ctr">
              <a:buNone/>
            </a:pPr>
            <a:r>
              <a:rPr lang="en-US" sz="1110" b="1" dirty="0">
                <a:solidFill>
                  <a:srgbClr val="172234"/>
                </a:solidFill>
                <a:latin typeface="Arial" panose="020B0604020202020204" pitchFamily="34" charset="0"/>
                <a:ea typeface="Arial" panose="020B0604020202020204" pitchFamily="34" charset="-122"/>
                <a:cs typeface="Arial" panose="020B0604020202020204" pitchFamily="34" charset="-120"/>
              </a:rPr>
              <a:t>Main.java</a:t>
            </a:r>
            <a:endParaRPr lang="en-US" sz="1110" dirty="0"/>
          </a:p>
          <a:p>
            <a:pPr marL="0" indent="0" algn="ctr">
              <a:buNone/>
            </a:pPr>
            <a:r>
              <a:rPr lang="en-US" sz="1110" b="1" dirty="0">
                <a:solidFill>
                  <a:srgbClr val="172234"/>
                </a:solidFill>
                <a:latin typeface="Arial" panose="020B0604020202020204" pitchFamily="34" charset="0"/>
                <a:ea typeface="Arial" panose="020B0604020202020204" pitchFamily="34" charset="-122"/>
                <a:cs typeface="Arial" panose="020B0604020202020204" pitchFamily="34" charset="-120"/>
              </a:rPr>
              <a:t>12-option menu</a:t>
            </a:r>
            <a:endParaRPr lang="en-US" sz="1110" dirty="0"/>
          </a:p>
        </p:txBody>
      </p:sp>
      <p:sp>
        <p:nvSpPr>
          <p:cNvPr id="12" name="Text 9"/>
          <p:cNvSpPr/>
          <p:nvPr/>
        </p:nvSpPr>
        <p:spPr>
          <a:xfrm>
            <a:off x="2761488" y="1572768"/>
            <a:ext cx="420624" cy="173736"/>
          </a:xfrm>
          <a:prstGeom prst="rect">
            <a:avLst/>
          </a:prstGeom>
          <a:noFill/>
        </p:spPr>
        <p:txBody>
          <a:bodyPr wrap="square" lIns="0" tIns="0" rIns="0" bIns="0" rtlCol="0" anchor="ctr">
            <a:normAutofit/>
          </a:bodyPr>
          <a:lstStyle/>
          <a:p>
            <a:pPr marL="0" indent="0" algn="ctr">
              <a:buNone/>
            </a:pPr>
            <a:r>
              <a:rPr lang="en-US" sz="880" i="1" dirty="0">
                <a:solidFill>
                  <a:srgbClr val="687487"/>
                </a:solidFill>
                <a:latin typeface="Arial" panose="020B0604020202020204" pitchFamily="34" charset="0"/>
                <a:ea typeface="Arial" panose="020B0604020202020204" pitchFamily="34" charset="-122"/>
                <a:cs typeface="Arial" panose="020B0604020202020204" pitchFamily="34" charset="-120"/>
              </a:rPr>
              <a:t>calls</a:t>
            </a:r>
            <a:endParaRPr lang="en-US" sz="880" dirty="0"/>
          </a:p>
        </p:txBody>
      </p:sp>
      <p:sp>
        <p:nvSpPr>
          <p:cNvPr id="13" name="Shape 10"/>
          <p:cNvSpPr/>
          <p:nvPr/>
        </p:nvSpPr>
        <p:spPr>
          <a:xfrm>
            <a:off x="3209544" y="1344168"/>
            <a:ext cx="2258568" cy="722376"/>
          </a:xfrm>
          <a:prstGeom prst="roundRect">
            <a:avLst>
              <a:gd name="adj" fmla="val 10127"/>
            </a:avLst>
          </a:prstGeom>
          <a:solidFill>
            <a:srgbClr val="EAF2FB"/>
          </a:solidFill>
          <a:ln w="12700">
            <a:solidFill>
              <a:srgbClr val="B8D0EE"/>
            </a:solidFill>
            <a:prstDash val="solid"/>
          </a:ln>
        </p:spPr>
      </p:sp>
      <p:sp>
        <p:nvSpPr>
          <p:cNvPr id="14" name="Text 11"/>
          <p:cNvSpPr/>
          <p:nvPr/>
        </p:nvSpPr>
        <p:spPr>
          <a:xfrm>
            <a:off x="3273552" y="1399032"/>
            <a:ext cx="2130552" cy="612648"/>
          </a:xfrm>
          <a:prstGeom prst="rect">
            <a:avLst/>
          </a:prstGeom>
          <a:noFill/>
        </p:spPr>
        <p:txBody>
          <a:bodyPr wrap="square" lIns="0" tIns="0" rIns="0" bIns="0" rtlCol="0" anchor="ctr">
            <a:normAutofit/>
          </a:bodyPr>
          <a:lstStyle/>
          <a:p>
            <a:pPr marL="0" indent="0" algn="ctr">
              <a:buNone/>
            </a:pPr>
            <a:r>
              <a:rPr lang="en-US" sz="1110" b="1" dirty="0">
                <a:solidFill>
                  <a:srgbClr val="172234"/>
                </a:solidFill>
                <a:latin typeface="Arial" panose="020B0604020202020204" pitchFamily="34" charset="0"/>
                <a:ea typeface="Arial" panose="020B0604020202020204" pitchFamily="34" charset="-122"/>
                <a:cs typeface="Arial" panose="020B0604020202020204" pitchFamily="34" charset="-120"/>
              </a:rPr>
              <a:t>BloodBank.java</a:t>
            </a:r>
            <a:endParaRPr lang="en-US" sz="1110" dirty="0"/>
          </a:p>
          <a:p>
            <a:pPr marL="0" indent="0" algn="ctr">
              <a:buNone/>
            </a:pPr>
            <a:r>
              <a:rPr lang="en-US" sz="1110" b="1" dirty="0">
                <a:solidFill>
                  <a:srgbClr val="172234"/>
                </a:solidFill>
                <a:latin typeface="Arial" panose="020B0604020202020204" pitchFamily="34" charset="0"/>
                <a:ea typeface="Arial" panose="020B0604020202020204" pitchFamily="34" charset="-122"/>
                <a:cs typeface="Arial" panose="020B0604020202020204" pitchFamily="34" charset="-120"/>
              </a:rPr>
              <a:t>validation + rules</a:t>
            </a:r>
            <a:endParaRPr lang="en-US" sz="1110" dirty="0"/>
          </a:p>
        </p:txBody>
      </p:sp>
      <p:sp>
        <p:nvSpPr>
          <p:cNvPr id="15" name="Text 12"/>
          <p:cNvSpPr/>
          <p:nvPr/>
        </p:nvSpPr>
        <p:spPr>
          <a:xfrm>
            <a:off x="5522976" y="1572768"/>
            <a:ext cx="530352" cy="173736"/>
          </a:xfrm>
          <a:prstGeom prst="rect">
            <a:avLst/>
          </a:prstGeom>
          <a:noFill/>
        </p:spPr>
        <p:txBody>
          <a:bodyPr wrap="square" lIns="0" tIns="0" rIns="0" bIns="0" rtlCol="0" anchor="ctr">
            <a:normAutofit/>
          </a:bodyPr>
          <a:lstStyle/>
          <a:p>
            <a:pPr marL="0" indent="0" algn="ctr">
              <a:buNone/>
            </a:pPr>
            <a:r>
              <a:rPr lang="en-US" sz="880" i="1" dirty="0">
                <a:solidFill>
                  <a:srgbClr val="687487"/>
                </a:solidFill>
                <a:latin typeface="Arial" panose="020B0604020202020204" pitchFamily="34" charset="0"/>
                <a:ea typeface="Arial" panose="020B0604020202020204" pitchFamily="34" charset="-122"/>
                <a:cs typeface="Arial" panose="020B0604020202020204" pitchFamily="34" charset="-120"/>
              </a:rPr>
              <a:t>manages</a:t>
            </a:r>
            <a:endParaRPr lang="en-US" sz="880" dirty="0"/>
          </a:p>
        </p:txBody>
      </p:sp>
      <p:sp>
        <p:nvSpPr>
          <p:cNvPr id="16" name="Shape 13"/>
          <p:cNvSpPr/>
          <p:nvPr/>
        </p:nvSpPr>
        <p:spPr>
          <a:xfrm>
            <a:off x="6126480" y="1344168"/>
            <a:ext cx="2121408" cy="722376"/>
          </a:xfrm>
          <a:prstGeom prst="roundRect">
            <a:avLst>
              <a:gd name="adj" fmla="val 10127"/>
            </a:avLst>
          </a:prstGeom>
          <a:solidFill>
            <a:srgbClr val="EAF6EF"/>
          </a:solidFill>
          <a:ln w="12700">
            <a:solidFill>
              <a:srgbClr val="B9DCC6"/>
            </a:solidFill>
            <a:prstDash val="solid"/>
          </a:ln>
        </p:spPr>
      </p:sp>
      <p:sp>
        <p:nvSpPr>
          <p:cNvPr id="17" name="Text 14"/>
          <p:cNvSpPr/>
          <p:nvPr/>
        </p:nvSpPr>
        <p:spPr>
          <a:xfrm>
            <a:off x="6190488" y="1399032"/>
            <a:ext cx="1993392" cy="612648"/>
          </a:xfrm>
          <a:prstGeom prst="rect">
            <a:avLst/>
          </a:prstGeom>
          <a:noFill/>
        </p:spPr>
        <p:txBody>
          <a:bodyPr wrap="square" lIns="0" tIns="0" rIns="0" bIns="0" rtlCol="0" anchor="ctr">
            <a:normAutofit/>
          </a:bodyPr>
          <a:lstStyle/>
          <a:p>
            <a:pPr marL="0" indent="0" algn="ctr">
              <a:buNone/>
            </a:pPr>
            <a:r>
              <a:rPr lang="en-US" sz="1030" b="1" dirty="0">
                <a:solidFill>
                  <a:srgbClr val="172234"/>
                </a:solidFill>
                <a:latin typeface="Arial" panose="020B0604020202020204" pitchFamily="34" charset="0"/>
                <a:ea typeface="Arial" panose="020B0604020202020204" pitchFamily="34" charset="-122"/>
                <a:cs typeface="Arial" panose="020B0604020202020204" pitchFamily="34" charset="-120"/>
              </a:rPr>
              <a:t>Domain objects</a:t>
            </a:r>
            <a:endParaRPr lang="en-US" sz="1030" dirty="0"/>
          </a:p>
          <a:p>
            <a:pPr marL="0" indent="0" algn="ctr">
              <a:buNone/>
            </a:pPr>
            <a:r>
              <a:rPr lang="en-US" sz="1030" b="1" dirty="0">
                <a:solidFill>
                  <a:srgbClr val="172234"/>
                </a:solidFill>
                <a:latin typeface="Arial" panose="020B0604020202020204" pitchFamily="34" charset="0"/>
                <a:ea typeface="Arial" panose="020B0604020202020204" pitchFamily="34" charset="-122"/>
                <a:cs typeface="Arial" panose="020B0604020202020204" pitchFamily="34" charset="-120"/>
              </a:rPr>
              <a:t>Donor / Inventory / Records</a:t>
            </a:r>
            <a:endParaRPr lang="en-US" sz="1030" dirty="0"/>
          </a:p>
        </p:txBody>
      </p:sp>
      <p:sp>
        <p:nvSpPr>
          <p:cNvPr id="18" name="Text 15"/>
          <p:cNvSpPr/>
          <p:nvPr/>
        </p:nvSpPr>
        <p:spPr>
          <a:xfrm>
            <a:off x="8330184" y="1572768"/>
            <a:ext cx="704088" cy="173736"/>
          </a:xfrm>
          <a:prstGeom prst="rect">
            <a:avLst/>
          </a:prstGeom>
          <a:noFill/>
        </p:spPr>
        <p:txBody>
          <a:bodyPr wrap="square" lIns="0" tIns="0" rIns="0" bIns="0" rtlCol="0" anchor="ctr">
            <a:normAutofit/>
          </a:bodyPr>
          <a:lstStyle/>
          <a:p>
            <a:pPr marL="0" indent="0" algn="ctr">
              <a:buNone/>
            </a:pPr>
            <a:r>
              <a:rPr lang="en-US" sz="840" i="1" dirty="0">
                <a:solidFill>
                  <a:srgbClr val="687487"/>
                </a:solidFill>
                <a:latin typeface="Arial" panose="020B0604020202020204" pitchFamily="34" charset="0"/>
                <a:ea typeface="Arial" panose="020B0604020202020204" pitchFamily="34" charset="-122"/>
                <a:cs typeface="Arial" panose="020B0604020202020204" pitchFamily="34" charset="-120"/>
              </a:rPr>
              <a:t>reads / writes</a:t>
            </a:r>
            <a:endParaRPr lang="en-US" sz="840" dirty="0"/>
          </a:p>
        </p:txBody>
      </p:sp>
      <p:sp>
        <p:nvSpPr>
          <p:cNvPr id="19" name="Shape 16"/>
          <p:cNvSpPr/>
          <p:nvPr/>
        </p:nvSpPr>
        <p:spPr>
          <a:xfrm>
            <a:off x="9116568" y="1344168"/>
            <a:ext cx="2313432" cy="722376"/>
          </a:xfrm>
          <a:prstGeom prst="roundRect">
            <a:avLst>
              <a:gd name="adj" fmla="val 10127"/>
            </a:avLst>
          </a:prstGeom>
          <a:solidFill>
            <a:srgbClr val="FFF6E2"/>
          </a:solidFill>
          <a:ln w="12700">
            <a:solidFill>
              <a:srgbClr val="E9D29A"/>
            </a:solidFill>
            <a:prstDash val="solid"/>
          </a:ln>
        </p:spPr>
      </p:sp>
      <p:sp>
        <p:nvSpPr>
          <p:cNvPr id="20" name="Text 17"/>
          <p:cNvSpPr/>
          <p:nvPr/>
        </p:nvSpPr>
        <p:spPr>
          <a:xfrm>
            <a:off x="9180576" y="1399032"/>
            <a:ext cx="2185416" cy="612648"/>
          </a:xfrm>
          <a:prstGeom prst="rect">
            <a:avLst/>
          </a:prstGeom>
          <a:noFill/>
        </p:spPr>
        <p:txBody>
          <a:bodyPr wrap="square" lIns="0" tIns="0" rIns="0" bIns="0" rtlCol="0" anchor="ctr">
            <a:normAutofit/>
          </a:bodyPr>
          <a:lstStyle/>
          <a:p>
            <a:pPr marL="0" indent="0" algn="ctr">
              <a:buNone/>
            </a:pPr>
            <a:r>
              <a:rPr lang="en-US" sz="1080" b="1" dirty="0">
                <a:solidFill>
                  <a:srgbClr val="172234"/>
                </a:solidFill>
                <a:latin typeface="Arial" panose="020B0604020202020204" pitchFamily="34" charset="0"/>
                <a:ea typeface="Arial" panose="020B0604020202020204" pitchFamily="34" charset="-122"/>
                <a:cs typeface="Arial" panose="020B0604020202020204" pitchFamily="34" charset="-120"/>
              </a:rPr>
              <a:t>FileStorage.java</a:t>
            </a:r>
            <a:endParaRPr lang="en-US" sz="1080" dirty="0"/>
          </a:p>
          <a:p>
            <a:pPr marL="0" indent="0" algn="ctr">
              <a:buNone/>
            </a:pPr>
            <a:r>
              <a:rPr lang="en-US" sz="1080" b="1" dirty="0">
                <a:solidFill>
                  <a:srgbClr val="172234"/>
                </a:solidFill>
                <a:latin typeface="Arial" panose="020B0604020202020204" pitchFamily="34" charset="0"/>
                <a:ea typeface="Arial" panose="020B0604020202020204" pitchFamily="34" charset="-122"/>
                <a:cs typeface="Arial" panose="020B0604020202020204" pitchFamily="34" charset="-120"/>
              </a:rPr>
              <a:t>UTF-8 text persistence</a:t>
            </a:r>
            <a:endParaRPr lang="en-US" sz="1080" dirty="0"/>
          </a:p>
        </p:txBody>
      </p:sp>
      <p:sp>
        <p:nvSpPr>
          <p:cNvPr id="21" name="Text 18"/>
          <p:cNvSpPr/>
          <p:nvPr/>
        </p:nvSpPr>
        <p:spPr>
          <a:xfrm>
            <a:off x="2779776" y="1672277"/>
            <a:ext cx="384048" cy="201168"/>
          </a:xfrm>
          <a:prstGeom prst="rect">
            <a:avLst/>
          </a:prstGeom>
          <a:noFill/>
        </p:spPr>
        <p:txBody>
          <a:bodyPr wrap="square" lIns="0" tIns="0" rIns="0" bIns="0" rtlCol="0" anchor="ctr">
            <a:normAutofit fontScale="92500" lnSpcReduction="20000"/>
          </a:bodyPr>
          <a:lstStyle/>
          <a:p>
            <a:pPr marL="0" indent="0" algn="ctr">
              <a:buNone/>
            </a:pPr>
            <a:r>
              <a:rPr lang="en-US" sz="1700" b="1" dirty="0">
                <a:solidFill>
                  <a:srgbClr val="687487"/>
                </a:solidFill>
                <a:latin typeface="Arial" panose="020B0604020202020204" pitchFamily="34" charset="0"/>
                <a:ea typeface="Arial" panose="020B0604020202020204" pitchFamily="34" charset="-122"/>
                <a:cs typeface="Arial" panose="020B0604020202020204" pitchFamily="34" charset="-120"/>
              </a:rPr>
              <a:t>→</a:t>
            </a:r>
            <a:endParaRPr lang="en-US" sz="1700" dirty="0"/>
          </a:p>
        </p:txBody>
      </p:sp>
      <p:sp>
        <p:nvSpPr>
          <p:cNvPr id="22" name="Text 19"/>
          <p:cNvSpPr/>
          <p:nvPr/>
        </p:nvSpPr>
        <p:spPr>
          <a:xfrm>
            <a:off x="5569772" y="1636776"/>
            <a:ext cx="393192" cy="201168"/>
          </a:xfrm>
          <a:prstGeom prst="rect">
            <a:avLst/>
          </a:prstGeom>
          <a:noFill/>
        </p:spPr>
        <p:txBody>
          <a:bodyPr wrap="square" lIns="0" tIns="0" rIns="0" bIns="0" rtlCol="0" anchor="ctr">
            <a:normAutofit fontScale="92500" lnSpcReduction="20000"/>
          </a:bodyPr>
          <a:lstStyle/>
          <a:p>
            <a:pPr marL="0" indent="0" algn="ctr">
              <a:buNone/>
            </a:pPr>
            <a:r>
              <a:rPr lang="en-US" sz="1700" b="1" dirty="0">
                <a:solidFill>
                  <a:srgbClr val="687487"/>
                </a:solidFill>
                <a:latin typeface="Arial" panose="020B0604020202020204" pitchFamily="34" charset="0"/>
                <a:ea typeface="Arial" panose="020B0604020202020204" pitchFamily="34" charset="-122"/>
                <a:cs typeface="Arial" panose="020B0604020202020204" pitchFamily="34" charset="-120"/>
              </a:rPr>
              <a:t>→</a:t>
            </a:r>
            <a:endParaRPr lang="en-US" sz="1700" dirty="0"/>
          </a:p>
        </p:txBody>
      </p:sp>
      <p:sp>
        <p:nvSpPr>
          <p:cNvPr id="23" name="Text 20"/>
          <p:cNvSpPr/>
          <p:nvPr/>
        </p:nvSpPr>
        <p:spPr>
          <a:xfrm>
            <a:off x="8407908" y="1673352"/>
            <a:ext cx="438912" cy="201168"/>
          </a:xfrm>
          <a:prstGeom prst="rect">
            <a:avLst/>
          </a:prstGeom>
          <a:noFill/>
        </p:spPr>
        <p:txBody>
          <a:bodyPr wrap="square" lIns="0" tIns="0" rIns="0" bIns="0" rtlCol="0" anchor="ctr">
            <a:normAutofit fontScale="92500" lnSpcReduction="20000"/>
          </a:bodyPr>
          <a:lstStyle/>
          <a:p>
            <a:pPr marL="0" indent="0" algn="ctr">
              <a:buNone/>
            </a:pPr>
            <a:r>
              <a:rPr lang="en-US" sz="1700" b="1" dirty="0">
                <a:solidFill>
                  <a:srgbClr val="687487"/>
                </a:solidFill>
                <a:latin typeface="Arial" panose="020B0604020202020204" pitchFamily="34" charset="0"/>
                <a:ea typeface="Arial" panose="020B0604020202020204" pitchFamily="34" charset="-122"/>
                <a:cs typeface="Arial" panose="020B0604020202020204" pitchFamily="34" charset="-120"/>
              </a:rPr>
              <a:t>→</a:t>
            </a:r>
            <a:endParaRPr lang="en-US" sz="1700" dirty="0"/>
          </a:p>
        </p:txBody>
      </p:sp>
      <p:sp>
        <p:nvSpPr>
          <p:cNvPr id="24" name="Text 21"/>
          <p:cNvSpPr/>
          <p:nvPr/>
        </p:nvSpPr>
        <p:spPr>
          <a:xfrm>
            <a:off x="649224" y="2478024"/>
            <a:ext cx="1417320" cy="192024"/>
          </a:xfrm>
          <a:prstGeom prst="rect">
            <a:avLst/>
          </a:prstGeom>
          <a:noFill/>
        </p:spPr>
        <p:txBody>
          <a:bodyPr wrap="square" lIns="0" tIns="0" rIns="0" bIns="0" rtlCol="0" anchor="ctr">
            <a:normAutofit/>
          </a:bodyPr>
          <a:lstStyle/>
          <a:p>
            <a:pPr marL="0" indent="0">
              <a:buNone/>
            </a:pPr>
            <a:r>
              <a:rPr lang="en-US" sz="950" b="1" kern="0" spc="70" dirty="0">
                <a:solidFill>
                  <a:srgbClr val="D91F26"/>
                </a:solidFill>
                <a:latin typeface="Arial" panose="020B0604020202020204" pitchFamily="34" charset="0"/>
                <a:ea typeface="Arial" panose="020B0604020202020204" pitchFamily="34" charset="-122"/>
                <a:cs typeface="Arial" panose="020B0604020202020204" pitchFamily="34" charset="-120"/>
              </a:rPr>
              <a:t>LOCAL FILES</a:t>
            </a:r>
            <a:endParaRPr lang="en-US" sz="950" dirty="0"/>
          </a:p>
        </p:txBody>
      </p:sp>
      <p:sp>
        <p:nvSpPr>
          <p:cNvPr id="25" name="Shape 22"/>
          <p:cNvSpPr/>
          <p:nvPr/>
        </p:nvSpPr>
        <p:spPr>
          <a:xfrm>
            <a:off x="2212848" y="2395728"/>
            <a:ext cx="2057400" cy="438912"/>
          </a:xfrm>
          <a:prstGeom prst="roundRect">
            <a:avLst>
              <a:gd name="adj" fmla="val 16667"/>
            </a:avLst>
          </a:prstGeom>
          <a:solidFill>
            <a:srgbClr val="F7F9FC"/>
          </a:solidFill>
          <a:ln w="12700">
            <a:solidFill>
              <a:srgbClr val="E1E6ED"/>
            </a:solidFill>
            <a:prstDash val="solid"/>
          </a:ln>
        </p:spPr>
      </p:sp>
      <p:sp>
        <p:nvSpPr>
          <p:cNvPr id="26" name="Text 23"/>
          <p:cNvSpPr/>
          <p:nvPr/>
        </p:nvSpPr>
        <p:spPr>
          <a:xfrm>
            <a:off x="2286000" y="2514600"/>
            <a:ext cx="1911096" cy="182880"/>
          </a:xfrm>
          <a:prstGeom prst="rect">
            <a:avLst/>
          </a:prstGeom>
          <a:noFill/>
        </p:spPr>
        <p:txBody>
          <a:bodyPr wrap="square" lIns="0" tIns="0" rIns="0" bIns="0" rtlCol="0" anchor="ctr">
            <a:normAutofit/>
          </a:bodyPr>
          <a:lstStyle/>
          <a:p>
            <a:pPr marL="0" indent="0" algn="ctr">
              <a:buNone/>
            </a:pPr>
            <a:r>
              <a:rPr lang="en-US" sz="1000" b="1" dirty="0">
                <a:solidFill>
                  <a:srgbClr val="172234"/>
                </a:solidFill>
                <a:latin typeface="Liberation Mono" pitchFamily="34" charset="0"/>
                <a:ea typeface="Liberation Mono" pitchFamily="34" charset="-122"/>
                <a:cs typeface="Liberation Mono" pitchFamily="34" charset="-120"/>
              </a:rPr>
              <a:t>donors.txt</a:t>
            </a:r>
            <a:endParaRPr lang="en-US" sz="1000" dirty="0"/>
          </a:p>
        </p:txBody>
      </p:sp>
      <p:sp>
        <p:nvSpPr>
          <p:cNvPr id="27" name="Shape 24"/>
          <p:cNvSpPr/>
          <p:nvPr/>
        </p:nvSpPr>
        <p:spPr>
          <a:xfrm>
            <a:off x="4517136" y="2395728"/>
            <a:ext cx="2057400" cy="438912"/>
          </a:xfrm>
          <a:prstGeom prst="roundRect">
            <a:avLst>
              <a:gd name="adj" fmla="val 16667"/>
            </a:avLst>
          </a:prstGeom>
          <a:solidFill>
            <a:srgbClr val="EAF2FB"/>
          </a:solidFill>
          <a:ln w="12700">
            <a:solidFill>
              <a:srgbClr val="B8D0EE"/>
            </a:solidFill>
            <a:prstDash val="solid"/>
          </a:ln>
        </p:spPr>
      </p:sp>
      <p:sp>
        <p:nvSpPr>
          <p:cNvPr id="28" name="Text 25"/>
          <p:cNvSpPr/>
          <p:nvPr/>
        </p:nvSpPr>
        <p:spPr>
          <a:xfrm>
            <a:off x="4590288" y="2514600"/>
            <a:ext cx="1911096" cy="182880"/>
          </a:xfrm>
          <a:prstGeom prst="rect">
            <a:avLst/>
          </a:prstGeom>
          <a:noFill/>
        </p:spPr>
        <p:txBody>
          <a:bodyPr wrap="square" lIns="0" tIns="0" rIns="0" bIns="0" rtlCol="0" anchor="ctr">
            <a:normAutofit/>
          </a:bodyPr>
          <a:lstStyle/>
          <a:p>
            <a:pPr marL="0" indent="0" algn="ctr">
              <a:buNone/>
            </a:pPr>
            <a:r>
              <a:rPr lang="en-US" sz="1000" b="1" dirty="0">
                <a:solidFill>
                  <a:srgbClr val="172234"/>
                </a:solidFill>
                <a:latin typeface="Liberation Mono" pitchFamily="34" charset="0"/>
                <a:ea typeface="Liberation Mono" pitchFamily="34" charset="-122"/>
                <a:cs typeface="Liberation Mono" pitchFamily="34" charset="-120"/>
              </a:rPr>
              <a:t>inventory.txt</a:t>
            </a:r>
            <a:endParaRPr lang="en-US" sz="1000" dirty="0"/>
          </a:p>
        </p:txBody>
      </p:sp>
      <p:sp>
        <p:nvSpPr>
          <p:cNvPr id="29" name="Shape 26"/>
          <p:cNvSpPr/>
          <p:nvPr/>
        </p:nvSpPr>
        <p:spPr>
          <a:xfrm>
            <a:off x="6821424" y="2395728"/>
            <a:ext cx="2057400" cy="438912"/>
          </a:xfrm>
          <a:prstGeom prst="roundRect">
            <a:avLst>
              <a:gd name="adj" fmla="val 16667"/>
            </a:avLst>
          </a:prstGeom>
          <a:solidFill>
            <a:srgbClr val="F7F9FC"/>
          </a:solidFill>
          <a:ln w="12700">
            <a:solidFill>
              <a:srgbClr val="E1E6ED"/>
            </a:solidFill>
            <a:prstDash val="solid"/>
          </a:ln>
        </p:spPr>
      </p:sp>
      <p:sp>
        <p:nvSpPr>
          <p:cNvPr id="30" name="Text 27"/>
          <p:cNvSpPr/>
          <p:nvPr/>
        </p:nvSpPr>
        <p:spPr>
          <a:xfrm>
            <a:off x="6894576" y="2514600"/>
            <a:ext cx="1911096" cy="182880"/>
          </a:xfrm>
          <a:prstGeom prst="rect">
            <a:avLst/>
          </a:prstGeom>
          <a:noFill/>
        </p:spPr>
        <p:txBody>
          <a:bodyPr wrap="square" lIns="0" tIns="0" rIns="0" bIns="0" rtlCol="0" anchor="ctr">
            <a:normAutofit/>
          </a:bodyPr>
          <a:lstStyle/>
          <a:p>
            <a:pPr marL="0" indent="0" algn="ctr">
              <a:buNone/>
            </a:pPr>
            <a:r>
              <a:rPr lang="en-US" sz="1000" b="1" dirty="0">
                <a:solidFill>
                  <a:srgbClr val="172234"/>
                </a:solidFill>
                <a:latin typeface="Liberation Mono" pitchFamily="34" charset="0"/>
                <a:ea typeface="Liberation Mono" pitchFamily="34" charset="-122"/>
                <a:cs typeface="Liberation Mono" pitchFamily="34" charset="-120"/>
              </a:rPr>
              <a:t>donations.txt</a:t>
            </a:r>
            <a:endParaRPr lang="en-US" sz="1000" dirty="0"/>
          </a:p>
        </p:txBody>
      </p:sp>
      <p:sp>
        <p:nvSpPr>
          <p:cNvPr id="31" name="Shape 28"/>
          <p:cNvSpPr/>
          <p:nvPr/>
        </p:nvSpPr>
        <p:spPr>
          <a:xfrm>
            <a:off x="9125712" y="2395728"/>
            <a:ext cx="2057400" cy="438912"/>
          </a:xfrm>
          <a:prstGeom prst="roundRect">
            <a:avLst>
              <a:gd name="adj" fmla="val 16667"/>
            </a:avLst>
          </a:prstGeom>
          <a:solidFill>
            <a:srgbClr val="EAF2FB"/>
          </a:solidFill>
          <a:ln w="12700">
            <a:solidFill>
              <a:srgbClr val="B8D0EE"/>
            </a:solidFill>
            <a:prstDash val="solid"/>
          </a:ln>
        </p:spPr>
      </p:sp>
      <p:sp>
        <p:nvSpPr>
          <p:cNvPr id="32" name="Text 29"/>
          <p:cNvSpPr/>
          <p:nvPr/>
        </p:nvSpPr>
        <p:spPr>
          <a:xfrm>
            <a:off x="9198864" y="2514600"/>
            <a:ext cx="1911096" cy="182880"/>
          </a:xfrm>
          <a:prstGeom prst="rect">
            <a:avLst/>
          </a:prstGeom>
          <a:noFill/>
        </p:spPr>
        <p:txBody>
          <a:bodyPr wrap="square" lIns="0" tIns="0" rIns="0" bIns="0" rtlCol="0" anchor="ctr">
            <a:normAutofit/>
          </a:bodyPr>
          <a:lstStyle/>
          <a:p>
            <a:pPr marL="0" indent="0" algn="ctr">
              <a:buNone/>
            </a:pPr>
            <a:r>
              <a:rPr lang="en-US" sz="1000" b="1" dirty="0">
                <a:solidFill>
                  <a:srgbClr val="172234"/>
                </a:solidFill>
                <a:latin typeface="Liberation Mono" pitchFamily="34" charset="0"/>
                <a:ea typeface="Liberation Mono" pitchFamily="34" charset="-122"/>
                <a:cs typeface="Liberation Mono" pitchFamily="34" charset="-120"/>
              </a:rPr>
              <a:t>issues.txt</a:t>
            </a:r>
            <a:endParaRPr lang="en-US" sz="1000" dirty="0"/>
          </a:p>
        </p:txBody>
      </p:sp>
      <p:sp>
        <p:nvSpPr>
          <p:cNvPr id="33" name="Text 30"/>
          <p:cNvSpPr/>
          <p:nvPr/>
        </p:nvSpPr>
        <p:spPr>
          <a:xfrm>
            <a:off x="640080" y="3255264"/>
            <a:ext cx="2926080" cy="201168"/>
          </a:xfrm>
          <a:prstGeom prst="rect">
            <a:avLst/>
          </a:prstGeom>
          <a:noFill/>
        </p:spPr>
        <p:txBody>
          <a:bodyPr wrap="square" lIns="0" tIns="0" rIns="0" bIns="0" rtlCol="0" anchor="ctr">
            <a:normAutofit/>
          </a:bodyPr>
          <a:lstStyle/>
          <a:p>
            <a:pPr marL="0" indent="0">
              <a:buNone/>
            </a:pPr>
            <a:r>
              <a:rPr lang="en-US" sz="1000" b="1" kern="0" spc="60" dirty="0">
                <a:solidFill>
                  <a:srgbClr val="214D7B"/>
                </a:solidFill>
                <a:latin typeface="Arial" panose="020B0604020202020204" pitchFamily="34" charset="0"/>
                <a:ea typeface="Arial" panose="020B0604020202020204" pitchFamily="34" charset="-122"/>
                <a:cs typeface="Arial" panose="020B0604020202020204" pitchFamily="34" charset="-120"/>
              </a:rPr>
              <a:t>REQUEST-TO-ISSUE WORKFLOW</a:t>
            </a:r>
            <a:endParaRPr lang="en-US" sz="1000" dirty="0"/>
          </a:p>
        </p:txBody>
      </p:sp>
      <p:sp>
        <p:nvSpPr>
          <p:cNvPr id="34" name="Shape 31"/>
          <p:cNvSpPr/>
          <p:nvPr/>
        </p:nvSpPr>
        <p:spPr>
          <a:xfrm>
            <a:off x="594360" y="3611880"/>
            <a:ext cx="2084832" cy="1060704"/>
          </a:xfrm>
          <a:prstGeom prst="roundRect">
            <a:avLst>
              <a:gd name="adj" fmla="val 6897"/>
            </a:avLst>
          </a:prstGeom>
          <a:solidFill>
            <a:srgbClr val="FCEDEF"/>
          </a:solidFill>
          <a:ln w="12700">
            <a:solidFill>
              <a:srgbClr val="E8B8BE"/>
            </a:solidFill>
            <a:prstDash val="solid"/>
          </a:ln>
        </p:spPr>
      </p:sp>
      <p:sp>
        <p:nvSpPr>
          <p:cNvPr id="35" name="Text 32"/>
          <p:cNvSpPr/>
          <p:nvPr/>
        </p:nvSpPr>
        <p:spPr>
          <a:xfrm>
            <a:off x="704088" y="3730752"/>
            <a:ext cx="1865376" cy="219456"/>
          </a:xfrm>
          <a:prstGeom prst="rect">
            <a:avLst/>
          </a:prstGeom>
          <a:noFill/>
        </p:spPr>
        <p:txBody>
          <a:bodyPr wrap="square" lIns="0" tIns="0" rIns="0" bIns="0" rtlCol="0" anchor="ctr">
            <a:normAutofit/>
          </a:bodyPr>
          <a:lstStyle/>
          <a:p>
            <a:pPr marL="0" indent="0" algn="ctr">
              <a:buNone/>
            </a:pPr>
            <a:r>
              <a:rPr lang="en-US" sz="1120" b="1" dirty="0">
                <a:solidFill>
                  <a:srgbClr val="172234"/>
                </a:solidFill>
                <a:latin typeface="Arial" panose="020B0604020202020204" pitchFamily="34" charset="0"/>
                <a:ea typeface="Arial" panose="020B0604020202020204" pitchFamily="34" charset="-122"/>
                <a:cs typeface="Arial" panose="020B0604020202020204" pitchFamily="34" charset="-120"/>
              </a:rPr>
              <a:t>1  Request</a:t>
            </a:r>
            <a:endParaRPr lang="en-US" sz="1120" dirty="0"/>
          </a:p>
        </p:txBody>
      </p:sp>
      <p:sp>
        <p:nvSpPr>
          <p:cNvPr id="36" name="Text 33"/>
          <p:cNvSpPr/>
          <p:nvPr/>
        </p:nvSpPr>
        <p:spPr>
          <a:xfrm>
            <a:off x="704088" y="4041648"/>
            <a:ext cx="1865376" cy="365760"/>
          </a:xfrm>
          <a:prstGeom prst="rect">
            <a:avLst/>
          </a:prstGeom>
          <a:noFill/>
        </p:spPr>
        <p:txBody>
          <a:bodyPr wrap="square" lIns="0" tIns="0" rIns="0" bIns="0" rtlCol="0" anchor="ctr">
            <a:normAutofit/>
          </a:bodyPr>
          <a:lstStyle/>
          <a:p>
            <a:pPr marL="0" indent="0" algn="ctr">
              <a:buNone/>
            </a:pPr>
            <a:r>
              <a:rPr lang="en-US" sz="940" dirty="0">
                <a:solidFill>
                  <a:srgbClr val="202938"/>
                </a:solidFill>
                <a:latin typeface="Arial" panose="020B0604020202020204" pitchFamily="34" charset="0"/>
                <a:ea typeface="Arial" panose="020B0604020202020204" pitchFamily="34" charset="-122"/>
                <a:cs typeface="Arial" panose="020B0604020202020204" pitchFamily="34" charset="-120"/>
              </a:rPr>
              <a:t>recipient group + units</a:t>
            </a:r>
            <a:endParaRPr lang="en-US" sz="940" dirty="0"/>
          </a:p>
        </p:txBody>
      </p:sp>
      <p:sp>
        <p:nvSpPr>
          <p:cNvPr id="37" name="Text 34"/>
          <p:cNvSpPr/>
          <p:nvPr/>
        </p:nvSpPr>
        <p:spPr>
          <a:xfrm>
            <a:off x="2697480" y="4023360"/>
            <a:ext cx="201168" cy="201168"/>
          </a:xfrm>
          <a:prstGeom prst="rect">
            <a:avLst/>
          </a:prstGeom>
          <a:noFill/>
        </p:spPr>
        <p:txBody>
          <a:bodyPr wrap="square" lIns="0" tIns="0" rIns="0" bIns="0" rtlCol="0" anchor="ctr">
            <a:normAutofit/>
          </a:bodyPr>
          <a:lstStyle/>
          <a:p>
            <a:pPr marL="0" indent="0" algn="ctr">
              <a:buNone/>
            </a:pPr>
            <a:r>
              <a:rPr lang="en-US" sz="1600" b="1" dirty="0">
                <a:solidFill>
                  <a:srgbClr val="687487"/>
                </a:solidFill>
                <a:latin typeface="Arial" panose="020B0604020202020204" pitchFamily="34" charset="0"/>
                <a:ea typeface="Arial" panose="020B0604020202020204" pitchFamily="34" charset="-122"/>
                <a:cs typeface="Arial" panose="020B0604020202020204" pitchFamily="34" charset="-120"/>
              </a:rPr>
              <a:t>→</a:t>
            </a:r>
            <a:endParaRPr lang="en-US" sz="1600" dirty="0"/>
          </a:p>
        </p:txBody>
      </p:sp>
      <p:sp>
        <p:nvSpPr>
          <p:cNvPr id="38" name="Shape 35"/>
          <p:cNvSpPr/>
          <p:nvPr/>
        </p:nvSpPr>
        <p:spPr>
          <a:xfrm>
            <a:off x="2926080" y="3611880"/>
            <a:ext cx="2084832" cy="1060704"/>
          </a:xfrm>
          <a:prstGeom prst="roundRect">
            <a:avLst>
              <a:gd name="adj" fmla="val 6897"/>
            </a:avLst>
          </a:prstGeom>
          <a:solidFill>
            <a:srgbClr val="EAF2FB"/>
          </a:solidFill>
          <a:ln w="12700">
            <a:solidFill>
              <a:srgbClr val="B8D0EE"/>
            </a:solidFill>
            <a:prstDash val="solid"/>
          </a:ln>
        </p:spPr>
      </p:sp>
      <p:sp>
        <p:nvSpPr>
          <p:cNvPr id="39" name="Text 36"/>
          <p:cNvSpPr/>
          <p:nvPr/>
        </p:nvSpPr>
        <p:spPr>
          <a:xfrm>
            <a:off x="3035808" y="3730752"/>
            <a:ext cx="1865376" cy="219456"/>
          </a:xfrm>
          <a:prstGeom prst="rect">
            <a:avLst/>
          </a:prstGeom>
          <a:noFill/>
        </p:spPr>
        <p:txBody>
          <a:bodyPr wrap="square" lIns="0" tIns="0" rIns="0" bIns="0" rtlCol="0" anchor="ctr">
            <a:normAutofit/>
          </a:bodyPr>
          <a:lstStyle/>
          <a:p>
            <a:pPr marL="0" indent="0" algn="ctr">
              <a:buNone/>
            </a:pPr>
            <a:r>
              <a:rPr lang="en-US" sz="1120" b="1" dirty="0">
                <a:solidFill>
                  <a:srgbClr val="172234"/>
                </a:solidFill>
                <a:latin typeface="Arial" panose="020B0604020202020204" pitchFamily="34" charset="0"/>
                <a:ea typeface="Arial" panose="020B0604020202020204" pitchFamily="34" charset="-122"/>
                <a:cs typeface="Arial" panose="020B0604020202020204" pitchFamily="34" charset="-120"/>
              </a:rPr>
              <a:t>2  Filter</a:t>
            </a:r>
            <a:endParaRPr lang="en-US" sz="1120" dirty="0"/>
          </a:p>
        </p:txBody>
      </p:sp>
      <p:sp>
        <p:nvSpPr>
          <p:cNvPr id="40" name="Text 37"/>
          <p:cNvSpPr/>
          <p:nvPr/>
        </p:nvSpPr>
        <p:spPr>
          <a:xfrm>
            <a:off x="3035808" y="4041648"/>
            <a:ext cx="1865376" cy="365760"/>
          </a:xfrm>
          <a:prstGeom prst="rect">
            <a:avLst/>
          </a:prstGeom>
          <a:noFill/>
        </p:spPr>
        <p:txBody>
          <a:bodyPr wrap="square" lIns="0" tIns="0" rIns="0" bIns="0" rtlCol="0" anchor="ctr">
            <a:normAutofit/>
          </a:bodyPr>
          <a:lstStyle/>
          <a:p>
            <a:pPr marL="0" indent="0" algn="ctr">
              <a:buNone/>
            </a:pPr>
            <a:r>
              <a:rPr lang="en-US" sz="940" dirty="0">
                <a:solidFill>
                  <a:srgbClr val="202938"/>
                </a:solidFill>
                <a:latin typeface="Arial" panose="020B0604020202020204" pitchFamily="34" charset="0"/>
                <a:ea typeface="Arial" panose="020B0604020202020204" pitchFamily="34" charset="-122"/>
                <a:cs typeface="Arial" panose="020B0604020202020204" pitchFamily="34" charset="-120"/>
              </a:rPr>
              <a:t>compatible + non-expired</a:t>
            </a:r>
            <a:endParaRPr lang="en-US" sz="940" dirty="0"/>
          </a:p>
        </p:txBody>
      </p:sp>
      <p:sp>
        <p:nvSpPr>
          <p:cNvPr id="41" name="Text 38"/>
          <p:cNvSpPr/>
          <p:nvPr/>
        </p:nvSpPr>
        <p:spPr>
          <a:xfrm>
            <a:off x="5029200" y="4023360"/>
            <a:ext cx="201168" cy="201168"/>
          </a:xfrm>
          <a:prstGeom prst="rect">
            <a:avLst/>
          </a:prstGeom>
          <a:noFill/>
        </p:spPr>
        <p:txBody>
          <a:bodyPr wrap="square" lIns="0" tIns="0" rIns="0" bIns="0" rtlCol="0" anchor="ctr">
            <a:normAutofit/>
          </a:bodyPr>
          <a:lstStyle/>
          <a:p>
            <a:pPr marL="0" indent="0" algn="ctr">
              <a:buNone/>
            </a:pPr>
            <a:r>
              <a:rPr lang="en-US" sz="1600" b="1" dirty="0">
                <a:solidFill>
                  <a:srgbClr val="687487"/>
                </a:solidFill>
                <a:latin typeface="Arial" panose="020B0604020202020204" pitchFamily="34" charset="0"/>
                <a:ea typeface="Arial" panose="020B0604020202020204" pitchFamily="34" charset="-122"/>
                <a:cs typeface="Arial" panose="020B0604020202020204" pitchFamily="34" charset="-120"/>
              </a:rPr>
              <a:t>→</a:t>
            </a:r>
            <a:endParaRPr lang="en-US" sz="1600" dirty="0"/>
          </a:p>
        </p:txBody>
      </p:sp>
      <p:sp>
        <p:nvSpPr>
          <p:cNvPr id="42" name="Shape 39"/>
          <p:cNvSpPr/>
          <p:nvPr/>
        </p:nvSpPr>
        <p:spPr>
          <a:xfrm>
            <a:off x="5257800" y="3611880"/>
            <a:ext cx="2084832" cy="1060704"/>
          </a:xfrm>
          <a:prstGeom prst="roundRect">
            <a:avLst>
              <a:gd name="adj" fmla="val 6897"/>
            </a:avLst>
          </a:prstGeom>
          <a:solidFill>
            <a:srgbClr val="EAF6EF"/>
          </a:solidFill>
          <a:ln w="12700">
            <a:solidFill>
              <a:srgbClr val="B9DCC6"/>
            </a:solidFill>
            <a:prstDash val="solid"/>
          </a:ln>
        </p:spPr>
      </p:sp>
      <p:sp>
        <p:nvSpPr>
          <p:cNvPr id="43" name="Text 40"/>
          <p:cNvSpPr/>
          <p:nvPr/>
        </p:nvSpPr>
        <p:spPr>
          <a:xfrm>
            <a:off x="5367528" y="3730752"/>
            <a:ext cx="1865376" cy="219456"/>
          </a:xfrm>
          <a:prstGeom prst="rect">
            <a:avLst/>
          </a:prstGeom>
          <a:noFill/>
        </p:spPr>
        <p:txBody>
          <a:bodyPr wrap="square" lIns="0" tIns="0" rIns="0" bIns="0" rtlCol="0" anchor="ctr">
            <a:normAutofit/>
          </a:bodyPr>
          <a:lstStyle/>
          <a:p>
            <a:pPr marL="0" indent="0" algn="ctr">
              <a:buNone/>
            </a:pPr>
            <a:r>
              <a:rPr lang="en-US" sz="1120" b="1" dirty="0">
                <a:solidFill>
                  <a:srgbClr val="172234"/>
                </a:solidFill>
                <a:latin typeface="Arial" panose="020B0604020202020204" pitchFamily="34" charset="0"/>
                <a:ea typeface="Arial" panose="020B0604020202020204" pitchFamily="34" charset="-122"/>
                <a:cs typeface="Arial" panose="020B0604020202020204" pitchFamily="34" charset="-120"/>
              </a:rPr>
              <a:t>3  Sort</a:t>
            </a:r>
            <a:endParaRPr lang="en-US" sz="1120" dirty="0"/>
          </a:p>
        </p:txBody>
      </p:sp>
      <p:sp>
        <p:nvSpPr>
          <p:cNvPr id="44" name="Text 41"/>
          <p:cNvSpPr/>
          <p:nvPr/>
        </p:nvSpPr>
        <p:spPr>
          <a:xfrm>
            <a:off x="5367528" y="4041648"/>
            <a:ext cx="1865376" cy="365760"/>
          </a:xfrm>
          <a:prstGeom prst="rect">
            <a:avLst/>
          </a:prstGeom>
          <a:noFill/>
        </p:spPr>
        <p:txBody>
          <a:bodyPr wrap="square" lIns="0" tIns="0" rIns="0" bIns="0" rtlCol="0" anchor="ctr">
            <a:normAutofit/>
          </a:bodyPr>
          <a:lstStyle/>
          <a:p>
            <a:pPr marL="0" indent="0" algn="ctr">
              <a:buNone/>
            </a:pPr>
            <a:r>
              <a:rPr lang="en-US" sz="940" dirty="0">
                <a:solidFill>
                  <a:srgbClr val="202938"/>
                </a:solidFill>
                <a:latin typeface="Arial" panose="020B0604020202020204" pitchFamily="34" charset="0"/>
                <a:ea typeface="Arial" panose="020B0604020202020204" pitchFamily="34" charset="-122"/>
                <a:cs typeface="Arial" panose="020B0604020202020204" pitchFamily="34" charset="-120"/>
              </a:rPr>
              <a:t>nearest expiry first</a:t>
            </a:r>
            <a:endParaRPr lang="en-US" sz="940" dirty="0"/>
          </a:p>
        </p:txBody>
      </p:sp>
      <p:sp>
        <p:nvSpPr>
          <p:cNvPr id="45" name="Text 42"/>
          <p:cNvSpPr/>
          <p:nvPr/>
        </p:nvSpPr>
        <p:spPr>
          <a:xfrm>
            <a:off x="7360920" y="4023360"/>
            <a:ext cx="201168" cy="201168"/>
          </a:xfrm>
          <a:prstGeom prst="rect">
            <a:avLst/>
          </a:prstGeom>
          <a:noFill/>
        </p:spPr>
        <p:txBody>
          <a:bodyPr wrap="square" lIns="0" tIns="0" rIns="0" bIns="0" rtlCol="0" anchor="ctr">
            <a:normAutofit/>
          </a:bodyPr>
          <a:lstStyle/>
          <a:p>
            <a:pPr marL="0" indent="0" algn="ctr">
              <a:buNone/>
            </a:pPr>
            <a:r>
              <a:rPr lang="en-US" sz="1600" b="1" dirty="0">
                <a:solidFill>
                  <a:srgbClr val="687487"/>
                </a:solidFill>
                <a:latin typeface="Arial" panose="020B0604020202020204" pitchFamily="34" charset="0"/>
                <a:ea typeface="Arial" panose="020B0604020202020204" pitchFamily="34" charset="-122"/>
                <a:cs typeface="Arial" panose="020B0604020202020204" pitchFamily="34" charset="-120"/>
              </a:rPr>
              <a:t>→</a:t>
            </a:r>
            <a:endParaRPr lang="en-US" sz="1600" dirty="0"/>
          </a:p>
        </p:txBody>
      </p:sp>
      <p:sp>
        <p:nvSpPr>
          <p:cNvPr id="46" name="Shape 43"/>
          <p:cNvSpPr/>
          <p:nvPr/>
        </p:nvSpPr>
        <p:spPr>
          <a:xfrm>
            <a:off x="7589520" y="3611880"/>
            <a:ext cx="2084832" cy="1060704"/>
          </a:xfrm>
          <a:prstGeom prst="roundRect">
            <a:avLst>
              <a:gd name="adj" fmla="val 6897"/>
            </a:avLst>
          </a:prstGeom>
          <a:solidFill>
            <a:srgbClr val="FFF6E2"/>
          </a:solidFill>
          <a:ln w="12700">
            <a:solidFill>
              <a:srgbClr val="E9D29A"/>
            </a:solidFill>
            <a:prstDash val="solid"/>
          </a:ln>
        </p:spPr>
      </p:sp>
      <p:sp>
        <p:nvSpPr>
          <p:cNvPr id="47" name="Text 44"/>
          <p:cNvSpPr/>
          <p:nvPr/>
        </p:nvSpPr>
        <p:spPr>
          <a:xfrm>
            <a:off x="7699248" y="3730752"/>
            <a:ext cx="1865376" cy="219456"/>
          </a:xfrm>
          <a:prstGeom prst="rect">
            <a:avLst/>
          </a:prstGeom>
          <a:noFill/>
        </p:spPr>
        <p:txBody>
          <a:bodyPr wrap="square" lIns="0" tIns="0" rIns="0" bIns="0" rtlCol="0" anchor="ctr">
            <a:normAutofit/>
          </a:bodyPr>
          <a:lstStyle/>
          <a:p>
            <a:pPr marL="0" indent="0" algn="ctr">
              <a:buNone/>
            </a:pPr>
            <a:r>
              <a:rPr lang="en-US" sz="1120" b="1" dirty="0">
                <a:solidFill>
                  <a:srgbClr val="172234"/>
                </a:solidFill>
                <a:latin typeface="Arial" panose="020B0604020202020204" pitchFamily="34" charset="0"/>
                <a:ea typeface="Arial" panose="020B0604020202020204" pitchFamily="34" charset="-122"/>
                <a:cs typeface="Arial" panose="020B0604020202020204" pitchFamily="34" charset="-120"/>
              </a:rPr>
              <a:t>4  Check</a:t>
            </a:r>
            <a:endParaRPr lang="en-US" sz="1120" dirty="0"/>
          </a:p>
        </p:txBody>
      </p:sp>
      <p:sp>
        <p:nvSpPr>
          <p:cNvPr id="48" name="Text 45"/>
          <p:cNvSpPr/>
          <p:nvPr/>
        </p:nvSpPr>
        <p:spPr>
          <a:xfrm>
            <a:off x="7699248" y="4041648"/>
            <a:ext cx="1865376" cy="365760"/>
          </a:xfrm>
          <a:prstGeom prst="rect">
            <a:avLst/>
          </a:prstGeom>
          <a:noFill/>
        </p:spPr>
        <p:txBody>
          <a:bodyPr wrap="square" lIns="0" tIns="0" rIns="0" bIns="0" rtlCol="0" anchor="ctr">
            <a:normAutofit/>
          </a:bodyPr>
          <a:lstStyle/>
          <a:p>
            <a:pPr marL="0" indent="0" algn="ctr">
              <a:buNone/>
            </a:pPr>
            <a:r>
              <a:rPr lang="en-US" sz="940" dirty="0">
                <a:solidFill>
                  <a:srgbClr val="202938"/>
                </a:solidFill>
                <a:latin typeface="Arial" panose="020B0604020202020204" pitchFamily="34" charset="0"/>
                <a:ea typeface="Arial" panose="020B0604020202020204" pitchFamily="34" charset="-122"/>
                <a:cs typeface="Arial" panose="020B0604020202020204" pitchFamily="34" charset="-120"/>
              </a:rPr>
              <a:t>enough units in total?</a:t>
            </a:r>
            <a:endParaRPr lang="en-US" sz="940" dirty="0"/>
          </a:p>
        </p:txBody>
      </p:sp>
      <p:sp>
        <p:nvSpPr>
          <p:cNvPr id="49" name="Text 46"/>
          <p:cNvSpPr/>
          <p:nvPr/>
        </p:nvSpPr>
        <p:spPr>
          <a:xfrm>
            <a:off x="9692640" y="4023360"/>
            <a:ext cx="201168" cy="201168"/>
          </a:xfrm>
          <a:prstGeom prst="rect">
            <a:avLst/>
          </a:prstGeom>
          <a:noFill/>
        </p:spPr>
        <p:txBody>
          <a:bodyPr wrap="square" lIns="0" tIns="0" rIns="0" bIns="0" rtlCol="0" anchor="ctr">
            <a:normAutofit/>
          </a:bodyPr>
          <a:lstStyle/>
          <a:p>
            <a:pPr marL="0" indent="0" algn="ctr">
              <a:buNone/>
            </a:pPr>
            <a:r>
              <a:rPr lang="en-US" sz="1600" b="1" dirty="0">
                <a:solidFill>
                  <a:srgbClr val="687487"/>
                </a:solidFill>
                <a:latin typeface="Arial" panose="020B0604020202020204" pitchFamily="34" charset="0"/>
                <a:ea typeface="Arial" panose="020B0604020202020204" pitchFamily="34" charset="-122"/>
                <a:cs typeface="Arial" panose="020B0604020202020204" pitchFamily="34" charset="-120"/>
              </a:rPr>
              <a:t>→</a:t>
            </a:r>
            <a:endParaRPr lang="en-US" sz="1600" dirty="0"/>
          </a:p>
        </p:txBody>
      </p:sp>
      <p:sp>
        <p:nvSpPr>
          <p:cNvPr id="50" name="Shape 47"/>
          <p:cNvSpPr/>
          <p:nvPr/>
        </p:nvSpPr>
        <p:spPr>
          <a:xfrm>
            <a:off x="9921240" y="3611880"/>
            <a:ext cx="2084832" cy="1060704"/>
          </a:xfrm>
          <a:prstGeom prst="roundRect">
            <a:avLst>
              <a:gd name="adj" fmla="val 6897"/>
            </a:avLst>
          </a:prstGeom>
          <a:solidFill>
            <a:srgbClr val="EAF6EF"/>
          </a:solidFill>
          <a:ln w="12700">
            <a:solidFill>
              <a:srgbClr val="B9DCC6"/>
            </a:solidFill>
            <a:prstDash val="solid"/>
          </a:ln>
        </p:spPr>
      </p:sp>
      <p:sp>
        <p:nvSpPr>
          <p:cNvPr id="51" name="Text 48"/>
          <p:cNvSpPr/>
          <p:nvPr/>
        </p:nvSpPr>
        <p:spPr>
          <a:xfrm>
            <a:off x="10030968" y="3730752"/>
            <a:ext cx="1865376" cy="219456"/>
          </a:xfrm>
          <a:prstGeom prst="rect">
            <a:avLst/>
          </a:prstGeom>
          <a:noFill/>
        </p:spPr>
        <p:txBody>
          <a:bodyPr wrap="square" lIns="0" tIns="0" rIns="0" bIns="0" rtlCol="0" anchor="ctr">
            <a:normAutofit/>
          </a:bodyPr>
          <a:lstStyle/>
          <a:p>
            <a:pPr marL="0" indent="0" algn="ctr">
              <a:buNone/>
            </a:pPr>
            <a:r>
              <a:rPr lang="en-US" sz="1120" b="1" dirty="0">
                <a:solidFill>
                  <a:srgbClr val="172234"/>
                </a:solidFill>
                <a:latin typeface="Arial" panose="020B0604020202020204" pitchFamily="34" charset="0"/>
                <a:ea typeface="Arial" panose="020B0604020202020204" pitchFamily="34" charset="-122"/>
                <a:cs typeface="Arial" panose="020B0604020202020204" pitchFamily="34" charset="-120"/>
              </a:rPr>
              <a:t>5  Commit</a:t>
            </a:r>
            <a:endParaRPr lang="en-US" sz="1120" dirty="0"/>
          </a:p>
        </p:txBody>
      </p:sp>
      <p:sp>
        <p:nvSpPr>
          <p:cNvPr id="52" name="Text 49"/>
          <p:cNvSpPr/>
          <p:nvPr/>
        </p:nvSpPr>
        <p:spPr>
          <a:xfrm>
            <a:off x="10030968" y="4041648"/>
            <a:ext cx="1865376" cy="365760"/>
          </a:xfrm>
          <a:prstGeom prst="rect">
            <a:avLst/>
          </a:prstGeom>
          <a:noFill/>
        </p:spPr>
        <p:txBody>
          <a:bodyPr wrap="square" lIns="0" tIns="0" rIns="0" bIns="0" rtlCol="0" anchor="ctr">
            <a:normAutofit/>
          </a:bodyPr>
          <a:lstStyle/>
          <a:p>
            <a:pPr marL="0" indent="0" algn="ctr">
              <a:buNone/>
            </a:pPr>
            <a:r>
              <a:rPr lang="en-US" sz="940" dirty="0">
                <a:solidFill>
                  <a:srgbClr val="202938"/>
                </a:solidFill>
                <a:latin typeface="Arial" panose="020B0604020202020204" pitchFamily="34" charset="0"/>
                <a:ea typeface="Arial" panose="020B0604020202020204" pitchFamily="34" charset="-122"/>
                <a:cs typeface="Arial" panose="020B0604020202020204" pitchFamily="34" charset="-120"/>
              </a:rPr>
              <a:t>deduct + record issue</a:t>
            </a:r>
            <a:endParaRPr lang="en-US" sz="940" dirty="0"/>
          </a:p>
        </p:txBody>
      </p:sp>
      <p:sp>
        <p:nvSpPr>
          <p:cNvPr id="53" name="Shape 50"/>
          <p:cNvSpPr/>
          <p:nvPr/>
        </p:nvSpPr>
        <p:spPr>
          <a:xfrm>
            <a:off x="621792" y="5102352"/>
            <a:ext cx="10991088" cy="676656"/>
          </a:xfrm>
          <a:prstGeom prst="roundRect">
            <a:avLst>
              <a:gd name="adj" fmla="val 10811"/>
            </a:avLst>
          </a:prstGeom>
          <a:solidFill>
            <a:srgbClr val="F7F9FC"/>
          </a:solidFill>
          <a:ln w="12700">
            <a:solidFill>
              <a:srgbClr val="E1E6ED"/>
            </a:solidFill>
            <a:prstDash val="solid"/>
          </a:ln>
        </p:spPr>
      </p:sp>
      <p:sp>
        <p:nvSpPr>
          <p:cNvPr id="54" name="Text 51"/>
          <p:cNvSpPr/>
          <p:nvPr/>
        </p:nvSpPr>
        <p:spPr>
          <a:xfrm>
            <a:off x="731520" y="5157216"/>
            <a:ext cx="10771632" cy="566928"/>
          </a:xfrm>
          <a:prstGeom prst="rect">
            <a:avLst/>
          </a:prstGeom>
          <a:noFill/>
        </p:spPr>
        <p:txBody>
          <a:bodyPr wrap="square" lIns="0" tIns="0" rIns="0" bIns="0" rtlCol="0" anchor="ctr">
            <a:normAutofit/>
          </a:bodyPr>
          <a:lstStyle/>
          <a:p>
            <a:pPr marL="0" indent="0">
              <a:buNone/>
            </a:pPr>
            <a:r>
              <a:rPr lang="en-US" sz="1020" dirty="0">
                <a:solidFill>
                  <a:srgbClr val="687487"/>
                </a:solidFill>
                <a:latin typeface="Arial" panose="020B0604020202020204" pitchFamily="34" charset="0"/>
                <a:ea typeface="Arial" panose="020B0604020202020204" pitchFamily="34" charset="-122"/>
                <a:cs typeface="Arial" panose="020B0604020202020204" pitchFamily="34" charset="-120"/>
              </a:rPr>
              <a:t>Safety design in code: total stock is checked before any batch units are deducted; a failed request returns without changing stock.</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1"/>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p:spPr>
        <p:txBody>
          <a:bodyPr wrap="square" lIns="0" tIns="0" rIns="0" bIns="0" rtlCol="0" anchor="ctr">
            <a:normAutofit/>
          </a:bodyPr>
          <a:lstStyle/>
          <a:p>
            <a:pPr marL="0" indent="0">
              <a:buNone/>
            </a:pPr>
            <a:r>
              <a:rPr lang="en-US" sz="2200" b="1" dirty="0">
                <a:solidFill>
                  <a:srgbClr val="172234"/>
                </a:solidFill>
                <a:latin typeface="Arial" panose="020B0604020202020204" pitchFamily="34" charset="0"/>
                <a:ea typeface="Arial" panose="020B0604020202020204" pitchFamily="34" charset="-122"/>
                <a:cs typeface="Arial" panose="020B0604020202020204" pitchFamily="34" charset="-120"/>
              </a:rPr>
              <a:t>Blood Matching &amp; Inventory Rules</a:t>
            </a:r>
            <a:endParaRPr lang="en-US" sz="2200" dirty="0"/>
          </a:p>
        </p:txBody>
      </p:sp>
      <p:sp>
        <p:nvSpPr>
          <p:cNvPr id="4" name="Text 1"/>
          <p:cNvSpPr/>
          <p:nvPr/>
        </p:nvSpPr>
        <p:spPr>
          <a:xfrm>
            <a:off x="886968" y="640080"/>
            <a:ext cx="10789920" cy="201168"/>
          </a:xfrm>
          <a:prstGeom prst="rect">
            <a:avLst/>
          </a:prstGeom>
          <a:noFill/>
        </p:spPr>
        <p:txBody>
          <a:bodyPr wrap="square" lIns="0" tIns="0" rIns="0" bIns="0" rtlCol="0" anchor="ctr">
            <a:normAutofit/>
          </a:bodyPr>
          <a:lstStyle/>
          <a:p>
            <a:pPr marL="0" indent="0">
              <a:buNone/>
            </a:pPr>
            <a:r>
              <a:rPr lang="en-US" sz="1030" dirty="0">
                <a:solidFill>
                  <a:srgbClr val="687487"/>
                </a:solidFill>
                <a:latin typeface="Arial" panose="020B0604020202020204" pitchFamily="34" charset="0"/>
                <a:ea typeface="Arial" panose="020B0604020202020204" pitchFamily="34" charset="-122"/>
                <a:cs typeface="Arial" panose="020B0604020202020204" pitchFamily="34" charset="-120"/>
              </a:rPr>
              <a:t>The current program applies simplified red-cell compatibility and stock-control logic</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p:spPr>
        <p:txBody>
          <a:bodyPr wrap="square" lIns="0" tIns="0" rIns="0" bIns="0" rtlCol="0" anchor="ctr">
            <a:normAutofit/>
          </a:bodyPr>
          <a:lstStyle/>
          <a:p>
            <a:pPr marL="0" indent="0">
              <a:buNone/>
            </a:pPr>
            <a:r>
              <a:rPr lang="en-US" sz="810" dirty="0">
                <a:solidFill>
                  <a:srgbClr val="8A929E"/>
                </a:solidFill>
                <a:latin typeface="Arial" panose="020B0604020202020204" pitchFamily="34" charset="0"/>
                <a:ea typeface="Arial" panose="020B0604020202020204" pitchFamily="34" charset="-122"/>
                <a:cs typeface="Arial" panose="020B0604020202020204" pitchFamily="34" charset="-120"/>
              </a:rPr>
              <a:t>11/10/2026</a:t>
            </a:r>
            <a:endParaRPr lang="en-US" sz="810" dirty="0"/>
          </a:p>
        </p:txBody>
      </p:sp>
      <p:sp>
        <p:nvSpPr>
          <p:cNvPr id="8" name="Text 5"/>
          <p:cNvSpPr/>
          <p:nvPr/>
        </p:nvSpPr>
        <p:spPr>
          <a:xfrm>
            <a:off x="3840480" y="6501384"/>
            <a:ext cx="4526280" cy="146304"/>
          </a:xfrm>
          <a:prstGeom prst="rect">
            <a:avLst/>
          </a:prstGeom>
          <a:noFill/>
        </p:spPr>
        <p:txBody>
          <a:bodyPr wrap="square" lIns="0" tIns="0" rIns="0" bIns="0" rtlCol="0" anchor="ctr">
            <a:normAutofit/>
          </a:bodyPr>
          <a:lstStyle/>
          <a:p>
            <a:pPr marL="0" indent="0" algn="ctr">
              <a:buNone/>
            </a:pPr>
            <a:r>
              <a:rPr lang="en-US" sz="760" dirty="0">
                <a:solidFill>
                  <a:srgbClr val="A0A7B2"/>
                </a:solidFill>
                <a:latin typeface="Arial" panose="020B0604020202020204" pitchFamily="34" charset="0"/>
                <a:ea typeface="Arial" panose="020B0604020202020204" pitchFamily="34" charset="-122"/>
                <a:cs typeface="Arial" panose="020B0604020202020204"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p:spPr>
        <p:txBody>
          <a:bodyPr wrap="square" lIns="0" tIns="0" rIns="0" bIns="0" rtlCol="0" anchor="ctr">
            <a:normAutofit/>
          </a:bodyPr>
          <a:lstStyle/>
          <a:p>
            <a:pPr marL="0" indent="0" algn="r">
              <a:buNone/>
            </a:pPr>
            <a:r>
              <a:rPr lang="en-US" sz="810" dirty="0">
                <a:solidFill>
                  <a:srgbClr val="8A929E"/>
                </a:solidFill>
                <a:latin typeface="Arial" panose="020B0604020202020204" pitchFamily="34" charset="0"/>
                <a:ea typeface="Arial" panose="020B0604020202020204" pitchFamily="34" charset="-122"/>
                <a:cs typeface="Arial" panose="020B0604020202020204" pitchFamily="34" charset="-120"/>
              </a:rPr>
              <a:t>11</a:t>
            </a:r>
            <a:endParaRPr lang="en-US" sz="810" dirty="0"/>
          </a:p>
        </p:txBody>
      </p:sp>
      <p:sp>
        <p:nvSpPr>
          <p:cNvPr id="10" name="Text 7"/>
          <p:cNvSpPr/>
          <p:nvPr/>
        </p:nvSpPr>
        <p:spPr>
          <a:xfrm>
            <a:off x="585216" y="1307592"/>
            <a:ext cx="2286000" cy="201168"/>
          </a:xfrm>
          <a:prstGeom prst="rect">
            <a:avLst/>
          </a:prstGeom>
          <a:noFill/>
        </p:spPr>
        <p:txBody>
          <a:bodyPr wrap="square" lIns="0" tIns="0" rIns="0" bIns="0" rtlCol="0" anchor="ctr">
            <a:normAutofit/>
          </a:bodyPr>
          <a:lstStyle/>
          <a:p>
            <a:pPr marL="0" indent="0">
              <a:buNone/>
            </a:pPr>
            <a:r>
              <a:rPr lang="en-US" sz="1000" b="1" kern="0" spc="70" dirty="0">
                <a:solidFill>
                  <a:srgbClr val="D91F26"/>
                </a:solidFill>
                <a:latin typeface="Arial" panose="020B0604020202020204" pitchFamily="34" charset="0"/>
                <a:ea typeface="Arial" panose="020B0604020202020204" pitchFamily="34" charset="-122"/>
                <a:cs typeface="Arial" panose="020B0604020202020204" pitchFamily="34" charset="-120"/>
              </a:rPr>
              <a:t>SUPPORTED BLOOD GROUPS</a:t>
            </a:r>
            <a:endParaRPr lang="en-US" sz="1000" dirty="0"/>
          </a:p>
        </p:txBody>
      </p:sp>
      <p:sp>
        <p:nvSpPr>
          <p:cNvPr id="11" name="Shape 8"/>
          <p:cNvSpPr/>
          <p:nvPr/>
        </p:nvSpPr>
        <p:spPr>
          <a:xfrm>
            <a:off x="612648" y="1664208"/>
            <a:ext cx="1161288" cy="466344"/>
          </a:xfrm>
          <a:prstGeom prst="roundRect">
            <a:avLst>
              <a:gd name="adj" fmla="val 15686"/>
            </a:avLst>
          </a:prstGeom>
          <a:solidFill>
            <a:srgbClr val="FCEDEF"/>
          </a:solidFill>
          <a:ln w="12700">
            <a:solidFill>
              <a:srgbClr val="E8B8BE"/>
            </a:solidFill>
            <a:prstDash val="solid"/>
          </a:ln>
        </p:spPr>
      </p:sp>
      <p:sp>
        <p:nvSpPr>
          <p:cNvPr id="12" name="Text 9"/>
          <p:cNvSpPr/>
          <p:nvPr/>
        </p:nvSpPr>
        <p:spPr>
          <a:xfrm>
            <a:off x="704088" y="1764792"/>
            <a:ext cx="978408" cy="237744"/>
          </a:xfrm>
          <a:prstGeom prst="rect">
            <a:avLst/>
          </a:prstGeom>
          <a:noFill/>
        </p:spPr>
        <p:txBody>
          <a:bodyPr wrap="square" lIns="0" tIns="0" rIns="0" bIns="0" rtlCol="0" anchor="ctr">
            <a:normAutofit/>
          </a:bodyPr>
          <a:lstStyle/>
          <a:p>
            <a:pPr marL="0" indent="0" algn="ctr">
              <a:buNone/>
            </a:pPr>
            <a:r>
              <a:rPr lang="en-US" sz="1400" b="1" dirty="0">
                <a:solidFill>
                  <a:srgbClr val="B71920"/>
                </a:solidFill>
                <a:latin typeface="Arial" panose="020B0604020202020204" pitchFamily="34" charset="0"/>
                <a:ea typeface="Arial" panose="020B0604020202020204" pitchFamily="34" charset="-122"/>
                <a:cs typeface="Arial" panose="020B0604020202020204" pitchFamily="34" charset="-120"/>
              </a:rPr>
              <a:t>A+</a:t>
            </a:r>
            <a:endParaRPr lang="en-US" sz="1400" dirty="0"/>
          </a:p>
        </p:txBody>
      </p:sp>
      <p:sp>
        <p:nvSpPr>
          <p:cNvPr id="13" name="Shape 10"/>
          <p:cNvSpPr/>
          <p:nvPr/>
        </p:nvSpPr>
        <p:spPr>
          <a:xfrm>
            <a:off x="1938528" y="1664208"/>
            <a:ext cx="1161288" cy="466344"/>
          </a:xfrm>
          <a:prstGeom prst="roundRect">
            <a:avLst>
              <a:gd name="adj" fmla="val 15686"/>
            </a:avLst>
          </a:prstGeom>
          <a:solidFill>
            <a:srgbClr val="EAF2FB"/>
          </a:solidFill>
          <a:ln w="12700">
            <a:solidFill>
              <a:srgbClr val="B8D0EE"/>
            </a:solidFill>
            <a:prstDash val="solid"/>
          </a:ln>
        </p:spPr>
      </p:sp>
      <p:sp>
        <p:nvSpPr>
          <p:cNvPr id="14" name="Text 11"/>
          <p:cNvSpPr/>
          <p:nvPr/>
        </p:nvSpPr>
        <p:spPr>
          <a:xfrm>
            <a:off x="2029968" y="1764792"/>
            <a:ext cx="978408" cy="237744"/>
          </a:xfrm>
          <a:prstGeom prst="rect">
            <a:avLst/>
          </a:prstGeom>
          <a:noFill/>
        </p:spPr>
        <p:txBody>
          <a:bodyPr wrap="square" lIns="0" tIns="0" rIns="0" bIns="0" rtlCol="0" anchor="ctr">
            <a:normAutofit/>
          </a:bodyPr>
          <a:lstStyle/>
          <a:p>
            <a:pPr marL="0" indent="0" algn="ctr">
              <a:buNone/>
            </a:pPr>
            <a:r>
              <a:rPr lang="en-US" sz="1400" b="1" dirty="0">
                <a:solidFill>
                  <a:srgbClr val="214D7B"/>
                </a:solidFill>
                <a:latin typeface="Arial" panose="020B0604020202020204" pitchFamily="34" charset="0"/>
                <a:ea typeface="Arial" panose="020B0604020202020204" pitchFamily="34" charset="-122"/>
                <a:cs typeface="Arial" panose="020B0604020202020204" pitchFamily="34" charset="-120"/>
              </a:rPr>
              <a:t>A−</a:t>
            </a:r>
            <a:endParaRPr lang="en-US" sz="1400" dirty="0"/>
          </a:p>
        </p:txBody>
      </p:sp>
      <p:sp>
        <p:nvSpPr>
          <p:cNvPr id="15" name="Shape 12"/>
          <p:cNvSpPr/>
          <p:nvPr/>
        </p:nvSpPr>
        <p:spPr>
          <a:xfrm>
            <a:off x="3264408" y="1664208"/>
            <a:ext cx="1161288" cy="466344"/>
          </a:xfrm>
          <a:prstGeom prst="roundRect">
            <a:avLst>
              <a:gd name="adj" fmla="val 15686"/>
            </a:avLst>
          </a:prstGeom>
          <a:solidFill>
            <a:srgbClr val="EAF6EF"/>
          </a:solidFill>
          <a:ln w="12700">
            <a:solidFill>
              <a:srgbClr val="B9DCC6"/>
            </a:solidFill>
            <a:prstDash val="solid"/>
          </a:ln>
        </p:spPr>
      </p:sp>
      <p:sp>
        <p:nvSpPr>
          <p:cNvPr id="16" name="Text 13"/>
          <p:cNvSpPr/>
          <p:nvPr/>
        </p:nvSpPr>
        <p:spPr>
          <a:xfrm>
            <a:off x="3355848" y="1764792"/>
            <a:ext cx="978408" cy="237744"/>
          </a:xfrm>
          <a:prstGeom prst="rect">
            <a:avLst/>
          </a:prstGeom>
          <a:noFill/>
        </p:spPr>
        <p:txBody>
          <a:bodyPr wrap="square" lIns="0" tIns="0" rIns="0" bIns="0" rtlCol="0" anchor="ctr">
            <a:normAutofit/>
          </a:bodyPr>
          <a:lstStyle/>
          <a:p>
            <a:pPr marL="0" indent="0" algn="ctr">
              <a:buNone/>
            </a:pPr>
            <a:r>
              <a:rPr lang="en-US" sz="1400" b="1" dirty="0">
                <a:solidFill>
                  <a:srgbClr val="28734B"/>
                </a:solidFill>
                <a:latin typeface="Arial" panose="020B0604020202020204" pitchFamily="34" charset="0"/>
                <a:ea typeface="Arial" panose="020B0604020202020204" pitchFamily="34" charset="-122"/>
                <a:cs typeface="Arial" panose="020B0604020202020204" pitchFamily="34" charset="-120"/>
              </a:rPr>
              <a:t>B+</a:t>
            </a:r>
            <a:endParaRPr lang="en-US" sz="1400" dirty="0"/>
          </a:p>
        </p:txBody>
      </p:sp>
      <p:sp>
        <p:nvSpPr>
          <p:cNvPr id="17" name="Shape 14"/>
          <p:cNvSpPr/>
          <p:nvPr/>
        </p:nvSpPr>
        <p:spPr>
          <a:xfrm>
            <a:off x="4590288" y="1664208"/>
            <a:ext cx="1161288" cy="466344"/>
          </a:xfrm>
          <a:prstGeom prst="roundRect">
            <a:avLst>
              <a:gd name="adj" fmla="val 15686"/>
            </a:avLst>
          </a:prstGeom>
          <a:solidFill>
            <a:srgbClr val="FFF6E2"/>
          </a:solidFill>
          <a:ln w="12700">
            <a:solidFill>
              <a:srgbClr val="E9D29A"/>
            </a:solidFill>
            <a:prstDash val="solid"/>
          </a:ln>
        </p:spPr>
      </p:sp>
      <p:sp>
        <p:nvSpPr>
          <p:cNvPr id="18" name="Text 15"/>
          <p:cNvSpPr/>
          <p:nvPr/>
        </p:nvSpPr>
        <p:spPr>
          <a:xfrm>
            <a:off x="4681728" y="1764792"/>
            <a:ext cx="978408" cy="237744"/>
          </a:xfrm>
          <a:prstGeom prst="rect">
            <a:avLst/>
          </a:prstGeom>
          <a:noFill/>
        </p:spPr>
        <p:txBody>
          <a:bodyPr wrap="square" lIns="0" tIns="0" rIns="0" bIns="0" rtlCol="0" anchor="ctr">
            <a:normAutofit/>
          </a:bodyPr>
          <a:lstStyle/>
          <a:p>
            <a:pPr marL="0" indent="0" algn="ctr">
              <a:buNone/>
            </a:pPr>
            <a:r>
              <a:rPr lang="en-US" sz="1400" b="1" dirty="0">
                <a:solidFill>
                  <a:srgbClr val="7C5A11"/>
                </a:solidFill>
                <a:latin typeface="Arial" panose="020B0604020202020204" pitchFamily="34" charset="0"/>
                <a:ea typeface="Arial" panose="020B0604020202020204" pitchFamily="34" charset="-122"/>
                <a:cs typeface="Arial" panose="020B0604020202020204" pitchFamily="34" charset="-120"/>
              </a:rPr>
              <a:t>B−</a:t>
            </a:r>
            <a:endParaRPr lang="en-US" sz="1400" dirty="0"/>
          </a:p>
        </p:txBody>
      </p:sp>
      <p:sp>
        <p:nvSpPr>
          <p:cNvPr id="19" name="Shape 16"/>
          <p:cNvSpPr/>
          <p:nvPr/>
        </p:nvSpPr>
        <p:spPr>
          <a:xfrm>
            <a:off x="612648" y="2322576"/>
            <a:ext cx="1161288" cy="466344"/>
          </a:xfrm>
          <a:prstGeom prst="roundRect">
            <a:avLst>
              <a:gd name="adj" fmla="val 15686"/>
            </a:avLst>
          </a:prstGeom>
          <a:solidFill>
            <a:srgbClr val="FCEDEF"/>
          </a:solidFill>
          <a:ln w="12700">
            <a:solidFill>
              <a:srgbClr val="E8B8BE"/>
            </a:solidFill>
            <a:prstDash val="solid"/>
          </a:ln>
        </p:spPr>
      </p:sp>
      <p:sp>
        <p:nvSpPr>
          <p:cNvPr id="20" name="Text 17"/>
          <p:cNvSpPr/>
          <p:nvPr/>
        </p:nvSpPr>
        <p:spPr>
          <a:xfrm>
            <a:off x="704088" y="2423160"/>
            <a:ext cx="978408" cy="237744"/>
          </a:xfrm>
          <a:prstGeom prst="rect">
            <a:avLst/>
          </a:prstGeom>
          <a:noFill/>
        </p:spPr>
        <p:txBody>
          <a:bodyPr wrap="square" lIns="0" tIns="0" rIns="0" bIns="0" rtlCol="0" anchor="ctr">
            <a:normAutofit/>
          </a:bodyPr>
          <a:lstStyle/>
          <a:p>
            <a:pPr marL="0" indent="0" algn="ctr">
              <a:buNone/>
            </a:pPr>
            <a:r>
              <a:rPr lang="en-US" sz="1400" b="1" dirty="0">
                <a:solidFill>
                  <a:srgbClr val="B71920"/>
                </a:solidFill>
                <a:latin typeface="Arial" panose="020B0604020202020204" pitchFamily="34" charset="0"/>
                <a:ea typeface="Arial" panose="020B0604020202020204" pitchFamily="34" charset="-122"/>
                <a:cs typeface="Arial" panose="020B0604020202020204" pitchFamily="34" charset="-120"/>
              </a:rPr>
              <a:t>AB+</a:t>
            </a:r>
            <a:endParaRPr lang="en-US" sz="1400" dirty="0"/>
          </a:p>
        </p:txBody>
      </p:sp>
      <p:sp>
        <p:nvSpPr>
          <p:cNvPr id="21" name="Shape 18"/>
          <p:cNvSpPr/>
          <p:nvPr/>
        </p:nvSpPr>
        <p:spPr>
          <a:xfrm>
            <a:off x="1938528" y="2322576"/>
            <a:ext cx="1161288" cy="466344"/>
          </a:xfrm>
          <a:prstGeom prst="roundRect">
            <a:avLst>
              <a:gd name="adj" fmla="val 15686"/>
            </a:avLst>
          </a:prstGeom>
          <a:solidFill>
            <a:srgbClr val="EAF2FB"/>
          </a:solidFill>
          <a:ln w="12700">
            <a:solidFill>
              <a:srgbClr val="B8D0EE"/>
            </a:solidFill>
            <a:prstDash val="solid"/>
          </a:ln>
        </p:spPr>
      </p:sp>
      <p:sp>
        <p:nvSpPr>
          <p:cNvPr id="22" name="Text 19"/>
          <p:cNvSpPr/>
          <p:nvPr/>
        </p:nvSpPr>
        <p:spPr>
          <a:xfrm>
            <a:off x="2029968" y="2423160"/>
            <a:ext cx="978408" cy="237744"/>
          </a:xfrm>
          <a:prstGeom prst="rect">
            <a:avLst/>
          </a:prstGeom>
          <a:noFill/>
        </p:spPr>
        <p:txBody>
          <a:bodyPr wrap="square" lIns="0" tIns="0" rIns="0" bIns="0" rtlCol="0" anchor="ctr">
            <a:normAutofit/>
          </a:bodyPr>
          <a:lstStyle/>
          <a:p>
            <a:pPr marL="0" indent="0" algn="ctr">
              <a:buNone/>
            </a:pPr>
            <a:r>
              <a:rPr lang="en-US" sz="1400" b="1" dirty="0">
                <a:solidFill>
                  <a:srgbClr val="214D7B"/>
                </a:solidFill>
                <a:latin typeface="Arial" panose="020B0604020202020204" pitchFamily="34" charset="0"/>
                <a:ea typeface="Arial" panose="020B0604020202020204" pitchFamily="34" charset="-122"/>
                <a:cs typeface="Arial" panose="020B0604020202020204" pitchFamily="34" charset="-120"/>
              </a:rPr>
              <a:t>AB−</a:t>
            </a:r>
            <a:endParaRPr lang="en-US" sz="1400" dirty="0"/>
          </a:p>
        </p:txBody>
      </p:sp>
      <p:sp>
        <p:nvSpPr>
          <p:cNvPr id="23" name="Shape 20"/>
          <p:cNvSpPr/>
          <p:nvPr/>
        </p:nvSpPr>
        <p:spPr>
          <a:xfrm>
            <a:off x="3264408" y="2322576"/>
            <a:ext cx="1161288" cy="466344"/>
          </a:xfrm>
          <a:prstGeom prst="roundRect">
            <a:avLst>
              <a:gd name="adj" fmla="val 15686"/>
            </a:avLst>
          </a:prstGeom>
          <a:solidFill>
            <a:srgbClr val="EAF6EF"/>
          </a:solidFill>
          <a:ln w="12700">
            <a:solidFill>
              <a:srgbClr val="B9DCC6"/>
            </a:solidFill>
            <a:prstDash val="solid"/>
          </a:ln>
        </p:spPr>
      </p:sp>
      <p:sp>
        <p:nvSpPr>
          <p:cNvPr id="24" name="Text 21"/>
          <p:cNvSpPr/>
          <p:nvPr/>
        </p:nvSpPr>
        <p:spPr>
          <a:xfrm>
            <a:off x="3355848" y="2423160"/>
            <a:ext cx="978408" cy="237744"/>
          </a:xfrm>
          <a:prstGeom prst="rect">
            <a:avLst/>
          </a:prstGeom>
          <a:noFill/>
        </p:spPr>
        <p:txBody>
          <a:bodyPr wrap="square" lIns="0" tIns="0" rIns="0" bIns="0" rtlCol="0" anchor="ctr">
            <a:normAutofit/>
          </a:bodyPr>
          <a:lstStyle/>
          <a:p>
            <a:pPr marL="0" indent="0" algn="ctr">
              <a:buNone/>
            </a:pPr>
            <a:r>
              <a:rPr lang="en-US" sz="1400" b="1" dirty="0">
                <a:solidFill>
                  <a:srgbClr val="28734B"/>
                </a:solidFill>
                <a:latin typeface="Arial" panose="020B0604020202020204" pitchFamily="34" charset="0"/>
                <a:ea typeface="Arial" panose="020B0604020202020204" pitchFamily="34" charset="-122"/>
                <a:cs typeface="Arial" panose="020B0604020202020204" pitchFamily="34" charset="-120"/>
              </a:rPr>
              <a:t>O+</a:t>
            </a:r>
            <a:endParaRPr lang="en-US" sz="1400" dirty="0"/>
          </a:p>
        </p:txBody>
      </p:sp>
      <p:sp>
        <p:nvSpPr>
          <p:cNvPr id="25" name="Shape 22"/>
          <p:cNvSpPr/>
          <p:nvPr/>
        </p:nvSpPr>
        <p:spPr>
          <a:xfrm>
            <a:off x="4590288" y="2322576"/>
            <a:ext cx="1161288" cy="466344"/>
          </a:xfrm>
          <a:prstGeom prst="roundRect">
            <a:avLst>
              <a:gd name="adj" fmla="val 15686"/>
            </a:avLst>
          </a:prstGeom>
          <a:solidFill>
            <a:srgbClr val="FFF6E2"/>
          </a:solidFill>
          <a:ln w="12700">
            <a:solidFill>
              <a:srgbClr val="E9D29A"/>
            </a:solidFill>
            <a:prstDash val="solid"/>
          </a:ln>
        </p:spPr>
      </p:sp>
      <p:sp>
        <p:nvSpPr>
          <p:cNvPr id="26" name="Text 23"/>
          <p:cNvSpPr/>
          <p:nvPr/>
        </p:nvSpPr>
        <p:spPr>
          <a:xfrm>
            <a:off x="4681728" y="2423160"/>
            <a:ext cx="978408" cy="237744"/>
          </a:xfrm>
          <a:prstGeom prst="rect">
            <a:avLst/>
          </a:prstGeom>
          <a:noFill/>
        </p:spPr>
        <p:txBody>
          <a:bodyPr wrap="square" lIns="0" tIns="0" rIns="0" bIns="0" rtlCol="0" anchor="ctr">
            <a:normAutofit/>
          </a:bodyPr>
          <a:lstStyle/>
          <a:p>
            <a:pPr marL="0" indent="0" algn="ctr">
              <a:buNone/>
            </a:pPr>
            <a:r>
              <a:rPr lang="en-US" sz="1400" b="1" dirty="0">
                <a:solidFill>
                  <a:srgbClr val="7C5A11"/>
                </a:solidFill>
                <a:latin typeface="Arial" panose="020B0604020202020204" pitchFamily="34" charset="0"/>
                <a:ea typeface="Arial" panose="020B0604020202020204" pitchFamily="34" charset="-122"/>
                <a:cs typeface="Arial" panose="020B0604020202020204" pitchFamily="34" charset="-120"/>
              </a:rPr>
              <a:t>O−</a:t>
            </a:r>
            <a:endParaRPr lang="en-US" sz="1400" dirty="0"/>
          </a:p>
        </p:txBody>
      </p:sp>
      <p:sp>
        <p:nvSpPr>
          <p:cNvPr id="27" name="Shape 24"/>
          <p:cNvSpPr/>
          <p:nvPr/>
        </p:nvSpPr>
        <p:spPr>
          <a:xfrm>
            <a:off x="6245352" y="1316736"/>
            <a:ext cx="5367528" cy="2057400"/>
          </a:xfrm>
          <a:prstGeom prst="roundRect">
            <a:avLst>
              <a:gd name="adj" fmla="val 3556"/>
            </a:avLst>
          </a:prstGeom>
          <a:solidFill>
            <a:srgbClr val="F7F9FC"/>
          </a:solidFill>
          <a:ln w="12700">
            <a:solidFill>
              <a:srgbClr val="E1E6ED"/>
            </a:solidFill>
            <a:prstDash val="solid"/>
          </a:ln>
        </p:spPr>
      </p:sp>
      <p:sp>
        <p:nvSpPr>
          <p:cNvPr id="28" name="Text 25"/>
          <p:cNvSpPr/>
          <p:nvPr/>
        </p:nvSpPr>
        <p:spPr>
          <a:xfrm>
            <a:off x="6428232" y="1481328"/>
            <a:ext cx="1508760" cy="210312"/>
          </a:xfrm>
          <a:prstGeom prst="rect">
            <a:avLst/>
          </a:prstGeom>
          <a:noFill/>
        </p:spPr>
        <p:txBody>
          <a:bodyPr wrap="square" lIns="0" tIns="0" rIns="0" bIns="0" rtlCol="0" anchor="ctr">
            <a:normAutofit/>
          </a:bodyPr>
          <a:lstStyle/>
          <a:p>
            <a:pPr marL="0" indent="0">
              <a:buNone/>
            </a:pPr>
            <a:r>
              <a:rPr lang="en-US" sz="1140" b="1" dirty="0">
                <a:solidFill>
                  <a:srgbClr val="214D7B"/>
                </a:solidFill>
                <a:latin typeface="Arial" panose="020B0604020202020204" pitchFamily="34" charset="0"/>
                <a:ea typeface="Arial" panose="020B0604020202020204" pitchFamily="34" charset="-122"/>
                <a:cs typeface="Arial" panose="020B0604020202020204" pitchFamily="34" charset="-120"/>
              </a:rPr>
              <a:t>ISSUE RULES</a:t>
            </a:r>
            <a:endParaRPr lang="en-US" sz="1140" dirty="0"/>
          </a:p>
        </p:txBody>
      </p:sp>
      <p:sp>
        <p:nvSpPr>
          <p:cNvPr id="29" name="Shape 26"/>
          <p:cNvSpPr/>
          <p:nvPr/>
        </p:nvSpPr>
        <p:spPr>
          <a:xfrm>
            <a:off x="6446520" y="1828800"/>
            <a:ext cx="146304" cy="146304"/>
          </a:xfrm>
          <a:prstGeom prst="ellipse">
            <a:avLst/>
          </a:prstGeom>
          <a:solidFill>
            <a:srgbClr val="28734B"/>
          </a:solidFill>
          <a:ln w="12700">
            <a:solidFill>
              <a:srgbClr val="28734B">
                <a:alpha val="0"/>
              </a:srgbClr>
            </a:solidFill>
            <a:prstDash val="solid"/>
          </a:ln>
        </p:spPr>
      </p:sp>
      <p:sp>
        <p:nvSpPr>
          <p:cNvPr id="30" name="Text 27"/>
          <p:cNvSpPr/>
          <p:nvPr/>
        </p:nvSpPr>
        <p:spPr>
          <a:xfrm>
            <a:off x="6684264" y="1792224"/>
            <a:ext cx="4681728" cy="246888"/>
          </a:xfrm>
          <a:prstGeom prst="rect">
            <a:avLst/>
          </a:prstGeom>
          <a:noFill/>
        </p:spPr>
        <p:txBody>
          <a:bodyPr wrap="square" lIns="0" tIns="0" rIns="0" bIns="0" rtlCol="0" anchor="ctr">
            <a:normAutofit/>
          </a:bodyPr>
          <a:lstStyle/>
          <a:p>
            <a:pPr marL="0" indent="0">
              <a:buNone/>
            </a:pPr>
            <a:r>
              <a:rPr lang="en-US" sz="960" dirty="0">
                <a:solidFill>
                  <a:srgbClr val="202938"/>
                </a:solidFill>
                <a:latin typeface="Arial" panose="020B0604020202020204" pitchFamily="34" charset="0"/>
                <a:ea typeface="Arial" panose="020B0604020202020204" pitchFamily="34" charset="-122"/>
                <a:cs typeface="Arial" panose="020B0604020202020204" pitchFamily="34" charset="-120"/>
              </a:rPr>
              <a:t>Only compatible batches with units &gt; 0 are considered.</a:t>
            </a:r>
            <a:endParaRPr lang="en-US" sz="960" dirty="0"/>
          </a:p>
        </p:txBody>
      </p:sp>
      <p:sp>
        <p:nvSpPr>
          <p:cNvPr id="31" name="Shape 28"/>
          <p:cNvSpPr/>
          <p:nvPr/>
        </p:nvSpPr>
        <p:spPr>
          <a:xfrm>
            <a:off x="6446520" y="2157984"/>
            <a:ext cx="146304" cy="146304"/>
          </a:xfrm>
          <a:prstGeom prst="ellipse">
            <a:avLst/>
          </a:prstGeom>
          <a:solidFill>
            <a:srgbClr val="28734B"/>
          </a:solidFill>
          <a:ln w="12700">
            <a:solidFill>
              <a:srgbClr val="28734B">
                <a:alpha val="0"/>
              </a:srgbClr>
            </a:solidFill>
            <a:prstDash val="solid"/>
          </a:ln>
        </p:spPr>
      </p:sp>
      <p:sp>
        <p:nvSpPr>
          <p:cNvPr id="32" name="Text 29"/>
          <p:cNvSpPr/>
          <p:nvPr/>
        </p:nvSpPr>
        <p:spPr>
          <a:xfrm>
            <a:off x="6684264" y="2121408"/>
            <a:ext cx="4681728" cy="246888"/>
          </a:xfrm>
          <a:prstGeom prst="rect">
            <a:avLst/>
          </a:prstGeom>
          <a:noFill/>
        </p:spPr>
        <p:txBody>
          <a:bodyPr wrap="square" lIns="0" tIns="0" rIns="0" bIns="0" rtlCol="0" anchor="ctr">
            <a:normAutofit/>
          </a:bodyPr>
          <a:lstStyle/>
          <a:p>
            <a:pPr marL="0" indent="0">
              <a:buNone/>
            </a:pPr>
            <a:r>
              <a:rPr lang="en-US" sz="960" dirty="0">
                <a:solidFill>
                  <a:srgbClr val="202938"/>
                </a:solidFill>
                <a:latin typeface="Arial" panose="020B0604020202020204" pitchFamily="34" charset="0"/>
                <a:ea typeface="Arial" panose="020B0604020202020204" pitchFamily="34" charset="-122"/>
                <a:cs typeface="Arial" panose="020B0604020202020204" pitchFamily="34" charset="-120"/>
              </a:rPr>
              <a:t>Expired batches are excluded from match candidates.</a:t>
            </a:r>
            <a:endParaRPr lang="en-US" sz="960" dirty="0"/>
          </a:p>
        </p:txBody>
      </p:sp>
      <p:sp>
        <p:nvSpPr>
          <p:cNvPr id="33" name="Shape 30"/>
          <p:cNvSpPr/>
          <p:nvPr/>
        </p:nvSpPr>
        <p:spPr>
          <a:xfrm>
            <a:off x="6446520" y="2487168"/>
            <a:ext cx="146304" cy="146304"/>
          </a:xfrm>
          <a:prstGeom prst="ellipse">
            <a:avLst/>
          </a:prstGeom>
          <a:solidFill>
            <a:srgbClr val="28734B"/>
          </a:solidFill>
          <a:ln w="12700">
            <a:solidFill>
              <a:srgbClr val="28734B">
                <a:alpha val="0"/>
              </a:srgbClr>
            </a:solidFill>
            <a:prstDash val="solid"/>
          </a:ln>
        </p:spPr>
      </p:sp>
      <p:sp>
        <p:nvSpPr>
          <p:cNvPr id="34" name="Text 31"/>
          <p:cNvSpPr/>
          <p:nvPr/>
        </p:nvSpPr>
        <p:spPr>
          <a:xfrm>
            <a:off x="6684264" y="2450592"/>
            <a:ext cx="4681728" cy="246888"/>
          </a:xfrm>
          <a:prstGeom prst="rect">
            <a:avLst/>
          </a:prstGeom>
          <a:noFill/>
        </p:spPr>
        <p:txBody>
          <a:bodyPr wrap="square" lIns="0" tIns="0" rIns="0" bIns="0" rtlCol="0" anchor="ctr">
            <a:normAutofit/>
          </a:bodyPr>
          <a:lstStyle/>
          <a:p>
            <a:pPr marL="0" indent="0">
              <a:buNone/>
            </a:pPr>
            <a:r>
              <a:rPr lang="en-US" sz="960" dirty="0">
                <a:solidFill>
                  <a:srgbClr val="202938"/>
                </a:solidFill>
                <a:latin typeface="Arial" panose="020B0604020202020204" pitchFamily="34" charset="0"/>
                <a:ea typeface="Arial" panose="020B0604020202020204" pitchFamily="34" charset="-122"/>
                <a:cs typeface="Arial" panose="020B0604020202020204" pitchFamily="34" charset="-120"/>
              </a:rPr>
              <a:t>Compatible batches are sorted by earliest expiry first.</a:t>
            </a:r>
            <a:endParaRPr lang="en-US" sz="960" dirty="0"/>
          </a:p>
        </p:txBody>
      </p:sp>
      <p:sp>
        <p:nvSpPr>
          <p:cNvPr id="35" name="Shape 32"/>
          <p:cNvSpPr/>
          <p:nvPr/>
        </p:nvSpPr>
        <p:spPr>
          <a:xfrm>
            <a:off x="6446520" y="2816352"/>
            <a:ext cx="146304" cy="146304"/>
          </a:xfrm>
          <a:prstGeom prst="ellipse">
            <a:avLst/>
          </a:prstGeom>
          <a:solidFill>
            <a:srgbClr val="D91F26"/>
          </a:solidFill>
          <a:ln w="12700">
            <a:solidFill>
              <a:srgbClr val="D91F26">
                <a:alpha val="0"/>
              </a:srgbClr>
            </a:solidFill>
            <a:prstDash val="solid"/>
          </a:ln>
        </p:spPr>
      </p:sp>
      <p:sp>
        <p:nvSpPr>
          <p:cNvPr id="36" name="Text 33"/>
          <p:cNvSpPr/>
          <p:nvPr/>
        </p:nvSpPr>
        <p:spPr>
          <a:xfrm>
            <a:off x="6684264" y="2779776"/>
            <a:ext cx="4681728" cy="246888"/>
          </a:xfrm>
          <a:prstGeom prst="rect">
            <a:avLst/>
          </a:prstGeom>
          <a:noFill/>
        </p:spPr>
        <p:txBody>
          <a:bodyPr wrap="square" lIns="0" tIns="0" rIns="0" bIns="0" rtlCol="0" anchor="ctr">
            <a:normAutofit/>
          </a:bodyPr>
          <a:lstStyle/>
          <a:p>
            <a:pPr marL="0" indent="0">
              <a:buNone/>
            </a:pPr>
            <a:r>
              <a:rPr lang="en-US" sz="960" dirty="0">
                <a:solidFill>
                  <a:srgbClr val="202938"/>
                </a:solidFill>
                <a:latin typeface="Arial" panose="020B0604020202020204" pitchFamily="34" charset="0"/>
                <a:ea typeface="Arial" panose="020B0604020202020204" pitchFamily="34" charset="-122"/>
                <a:cs typeface="Arial" panose="020B0604020202020204" pitchFamily="34" charset="-120"/>
              </a:rPr>
              <a:t>Request is cancelled when total compatible stock is insufficient; no partial deduction occurs.</a:t>
            </a:r>
            <a:endParaRPr lang="en-US" sz="960" dirty="0"/>
          </a:p>
        </p:txBody>
      </p:sp>
      <p:sp>
        <p:nvSpPr>
          <p:cNvPr id="37" name="Shape 34"/>
          <p:cNvSpPr/>
          <p:nvPr/>
        </p:nvSpPr>
        <p:spPr>
          <a:xfrm>
            <a:off x="612648" y="3200400"/>
            <a:ext cx="3474720" cy="1088136"/>
          </a:xfrm>
          <a:prstGeom prst="roundRect">
            <a:avLst>
              <a:gd name="adj" fmla="val 6723"/>
            </a:avLst>
          </a:prstGeom>
          <a:solidFill>
            <a:srgbClr val="FCEDEF"/>
          </a:solidFill>
          <a:ln w="12700">
            <a:solidFill>
              <a:srgbClr val="E8B8BE"/>
            </a:solidFill>
            <a:prstDash val="solid"/>
          </a:ln>
        </p:spPr>
      </p:sp>
      <p:sp>
        <p:nvSpPr>
          <p:cNvPr id="38" name="Shape 35"/>
          <p:cNvSpPr/>
          <p:nvPr/>
        </p:nvSpPr>
        <p:spPr>
          <a:xfrm>
            <a:off x="612648" y="3291840"/>
            <a:ext cx="50292" cy="905256"/>
          </a:xfrm>
          <a:prstGeom prst="rect">
            <a:avLst/>
          </a:prstGeom>
          <a:solidFill>
            <a:srgbClr val="B71920"/>
          </a:solidFill>
          <a:ln w="12700">
            <a:solidFill>
              <a:srgbClr val="B71920">
                <a:alpha val="0"/>
              </a:srgbClr>
            </a:solidFill>
            <a:prstDash val="solid"/>
          </a:ln>
        </p:spPr>
      </p:sp>
      <p:sp>
        <p:nvSpPr>
          <p:cNvPr id="39" name="Text 36"/>
          <p:cNvSpPr/>
          <p:nvPr/>
        </p:nvSpPr>
        <p:spPr>
          <a:xfrm>
            <a:off x="758952" y="3310128"/>
            <a:ext cx="3182112" cy="265176"/>
          </a:xfrm>
          <a:prstGeom prst="rect">
            <a:avLst/>
          </a:prstGeom>
          <a:noFill/>
        </p:spPr>
        <p:txBody>
          <a:bodyPr wrap="square" lIns="0" tIns="0" rIns="0" bIns="0" rtlCol="0" anchor="ctr">
            <a:normAutofit/>
          </a:bodyPr>
          <a:lstStyle/>
          <a:p>
            <a:pPr marL="0" indent="0">
              <a:buNone/>
            </a:pPr>
            <a:r>
              <a:rPr lang="en-US" sz="1130" b="1" dirty="0">
                <a:solidFill>
                  <a:srgbClr val="B71920"/>
                </a:solidFill>
                <a:latin typeface="Arial" panose="020B0604020202020204" pitchFamily="34" charset="0"/>
                <a:ea typeface="Arial" panose="020B0604020202020204" pitchFamily="34" charset="-122"/>
                <a:cs typeface="Arial" panose="020B0604020202020204" pitchFamily="34" charset="-120"/>
              </a:rPr>
              <a:t>LOW-STOCK ALERT</a:t>
            </a:r>
            <a:endParaRPr lang="en-US" sz="1130" dirty="0"/>
          </a:p>
        </p:txBody>
      </p:sp>
      <p:sp>
        <p:nvSpPr>
          <p:cNvPr id="40" name="Text 37"/>
          <p:cNvSpPr/>
          <p:nvPr/>
        </p:nvSpPr>
        <p:spPr>
          <a:xfrm>
            <a:off x="758952" y="3630168"/>
            <a:ext cx="3182112" cy="566928"/>
          </a:xfrm>
          <a:prstGeom prst="rect">
            <a:avLst/>
          </a:prstGeom>
          <a:noFill/>
        </p:spPr>
        <p:txBody>
          <a:bodyPr wrap="square" lIns="0" tIns="0" rIns="0" bIns="0" rtlCol="0" anchor="t">
            <a:normAutofit/>
          </a:bodyPr>
          <a:lstStyle/>
          <a:p>
            <a:pPr marL="0" indent="0">
              <a:buNone/>
            </a:pPr>
            <a:r>
              <a:rPr lang="en-US" sz="1040" dirty="0">
                <a:solidFill>
                  <a:srgbClr val="202938"/>
                </a:solidFill>
                <a:latin typeface="Arial" panose="020B0604020202020204" pitchFamily="34" charset="0"/>
                <a:ea typeface="Arial" panose="020B0604020202020204" pitchFamily="34" charset="-122"/>
                <a:cs typeface="Arial" panose="020B0604020202020204" pitchFamily="34" charset="-120"/>
              </a:rPr>
              <a:t>Shows blood groups with fewer than 5 available, non-expired units.</a:t>
            </a:r>
            <a:endParaRPr lang="en-US" sz="1040" dirty="0"/>
          </a:p>
        </p:txBody>
      </p:sp>
      <p:sp>
        <p:nvSpPr>
          <p:cNvPr id="41" name="Shape 38"/>
          <p:cNvSpPr/>
          <p:nvPr/>
        </p:nvSpPr>
        <p:spPr>
          <a:xfrm>
            <a:off x="4297680" y="3200400"/>
            <a:ext cx="3474720" cy="1088136"/>
          </a:xfrm>
          <a:prstGeom prst="roundRect">
            <a:avLst>
              <a:gd name="adj" fmla="val 6723"/>
            </a:avLst>
          </a:prstGeom>
          <a:solidFill>
            <a:srgbClr val="EAF2FB"/>
          </a:solidFill>
          <a:ln w="12700">
            <a:solidFill>
              <a:srgbClr val="B8D0EE"/>
            </a:solidFill>
            <a:prstDash val="solid"/>
          </a:ln>
        </p:spPr>
      </p:sp>
      <p:sp>
        <p:nvSpPr>
          <p:cNvPr id="42" name="Shape 39"/>
          <p:cNvSpPr/>
          <p:nvPr/>
        </p:nvSpPr>
        <p:spPr>
          <a:xfrm>
            <a:off x="4297680" y="3291840"/>
            <a:ext cx="50292" cy="905256"/>
          </a:xfrm>
          <a:prstGeom prst="rect">
            <a:avLst/>
          </a:prstGeom>
          <a:solidFill>
            <a:srgbClr val="214D7B"/>
          </a:solidFill>
          <a:ln w="12700">
            <a:solidFill>
              <a:srgbClr val="214D7B">
                <a:alpha val="0"/>
              </a:srgbClr>
            </a:solidFill>
            <a:prstDash val="solid"/>
          </a:ln>
        </p:spPr>
      </p:sp>
      <p:sp>
        <p:nvSpPr>
          <p:cNvPr id="43" name="Text 40"/>
          <p:cNvSpPr/>
          <p:nvPr/>
        </p:nvSpPr>
        <p:spPr>
          <a:xfrm>
            <a:off x="4443984" y="3310128"/>
            <a:ext cx="3182112" cy="265176"/>
          </a:xfrm>
          <a:prstGeom prst="rect">
            <a:avLst/>
          </a:prstGeom>
          <a:noFill/>
        </p:spPr>
        <p:txBody>
          <a:bodyPr wrap="square" lIns="0" tIns="0" rIns="0" bIns="0" rtlCol="0" anchor="ctr">
            <a:normAutofit/>
          </a:bodyPr>
          <a:lstStyle/>
          <a:p>
            <a:pPr marL="0" indent="0">
              <a:buNone/>
            </a:pPr>
            <a:r>
              <a:rPr lang="en-US" sz="1130" b="1" dirty="0">
                <a:solidFill>
                  <a:srgbClr val="214D7B"/>
                </a:solidFill>
                <a:latin typeface="Arial" panose="020B0604020202020204" pitchFamily="34" charset="0"/>
                <a:ea typeface="Arial" panose="020B0604020202020204" pitchFamily="34" charset="-122"/>
                <a:cs typeface="Arial" panose="020B0604020202020204" pitchFamily="34" charset="-120"/>
              </a:rPr>
              <a:t>EXPIRY WARNING</a:t>
            </a:r>
            <a:endParaRPr lang="en-US" sz="1130" dirty="0"/>
          </a:p>
        </p:txBody>
      </p:sp>
      <p:sp>
        <p:nvSpPr>
          <p:cNvPr id="44" name="Text 41"/>
          <p:cNvSpPr/>
          <p:nvPr/>
        </p:nvSpPr>
        <p:spPr>
          <a:xfrm>
            <a:off x="4443984" y="3630168"/>
            <a:ext cx="3182112" cy="566928"/>
          </a:xfrm>
          <a:prstGeom prst="rect">
            <a:avLst/>
          </a:prstGeom>
          <a:noFill/>
        </p:spPr>
        <p:txBody>
          <a:bodyPr wrap="square" lIns="0" tIns="0" rIns="0" bIns="0" rtlCol="0" anchor="t">
            <a:normAutofit/>
          </a:bodyPr>
          <a:lstStyle/>
          <a:p>
            <a:pPr marL="0" indent="0">
              <a:buNone/>
            </a:pPr>
            <a:r>
              <a:rPr lang="en-US" sz="1040" dirty="0">
                <a:solidFill>
                  <a:srgbClr val="202938"/>
                </a:solidFill>
                <a:latin typeface="Arial" panose="020B0604020202020204" pitchFamily="34" charset="0"/>
                <a:ea typeface="Arial" panose="020B0604020202020204" pitchFamily="34" charset="-122"/>
                <a:cs typeface="Arial" panose="020B0604020202020204" pitchFamily="34" charset="-120"/>
              </a:rPr>
              <a:t>Lists batches that are still valid and expire within the next 7 days.</a:t>
            </a:r>
            <a:endParaRPr lang="en-US" sz="1040" dirty="0"/>
          </a:p>
        </p:txBody>
      </p:sp>
      <p:sp>
        <p:nvSpPr>
          <p:cNvPr id="45" name="Shape 42"/>
          <p:cNvSpPr/>
          <p:nvPr/>
        </p:nvSpPr>
        <p:spPr>
          <a:xfrm>
            <a:off x="7982712" y="3200400"/>
            <a:ext cx="3474720" cy="1088136"/>
          </a:xfrm>
          <a:prstGeom prst="roundRect">
            <a:avLst>
              <a:gd name="adj" fmla="val 6723"/>
            </a:avLst>
          </a:prstGeom>
          <a:solidFill>
            <a:srgbClr val="EAF6EF"/>
          </a:solidFill>
          <a:ln w="12700">
            <a:solidFill>
              <a:srgbClr val="B9DCC6"/>
            </a:solidFill>
            <a:prstDash val="solid"/>
          </a:ln>
        </p:spPr>
      </p:sp>
      <p:sp>
        <p:nvSpPr>
          <p:cNvPr id="46" name="Shape 43"/>
          <p:cNvSpPr/>
          <p:nvPr/>
        </p:nvSpPr>
        <p:spPr>
          <a:xfrm>
            <a:off x="7982712" y="3291840"/>
            <a:ext cx="50292" cy="905256"/>
          </a:xfrm>
          <a:prstGeom prst="rect">
            <a:avLst/>
          </a:prstGeom>
          <a:solidFill>
            <a:srgbClr val="28734B"/>
          </a:solidFill>
          <a:ln w="12700">
            <a:solidFill>
              <a:srgbClr val="28734B">
                <a:alpha val="0"/>
              </a:srgbClr>
            </a:solidFill>
            <a:prstDash val="solid"/>
          </a:ln>
        </p:spPr>
      </p:sp>
      <p:sp>
        <p:nvSpPr>
          <p:cNvPr id="47" name="Text 44"/>
          <p:cNvSpPr/>
          <p:nvPr/>
        </p:nvSpPr>
        <p:spPr>
          <a:xfrm>
            <a:off x="8129016" y="3310128"/>
            <a:ext cx="3182112" cy="265176"/>
          </a:xfrm>
          <a:prstGeom prst="rect">
            <a:avLst/>
          </a:prstGeom>
          <a:noFill/>
        </p:spPr>
        <p:txBody>
          <a:bodyPr wrap="square" lIns="0" tIns="0" rIns="0" bIns="0" rtlCol="0" anchor="ctr">
            <a:normAutofit/>
          </a:bodyPr>
          <a:lstStyle/>
          <a:p>
            <a:pPr marL="0" indent="0">
              <a:buNone/>
            </a:pPr>
            <a:r>
              <a:rPr lang="en-US" sz="1130" b="1" dirty="0">
                <a:solidFill>
                  <a:srgbClr val="28734B"/>
                </a:solidFill>
                <a:latin typeface="Arial" panose="020B0604020202020204" pitchFamily="34" charset="0"/>
                <a:ea typeface="Arial" panose="020B0604020202020204" pitchFamily="34" charset="-122"/>
                <a:cs typeface="Arial" panose="020B0604020202020204" pitchFamily="34" charset="-120"/>
              </a:rPr>
              <a:t>DONATION WAIT RULE</a:t>
            </a:r>
            <a:endParaRPr lang="en-US" sz="1130" dirty="0"/>
          </a:p>
        </p:txBody>
      </p:sp>
      <p:sp>
        <p:nvSpPr>
          <p:cNvPr id="48" name="Text 45"/>
          <p:cNvSpPr/>
          <p:nvPr/>
        </p:nvSpPr>
        <p:spPr>
          <a:xfrm>
            <a:off x="8129016" y="3630168"/>
            <a:ext cx="3182112" cy="566928"/>
          </a:xfrm>
          <a:prstGeom prst="rect">
            <a:avLst/>
          </a:prstGeom>
          <a:noFill/>
        </p:spPr>
        <p:txBody>
          <a:bodyPr wrap="square" lIns="0" tIns="0" rIns="0" bIns="0" rtlCol="0" anchor="t">
            <a:normAutofit/>
          </a:bodyPr>
          <a:lstStyle/>
          <a:p>
            <a:pPr marL="0" indent="0">
              <a:buNone/>
            </a:pPr>
            <a:r>
              <a:rPr lang="en-US" sz="1040" dirty="0">
                <a:solidFill>
                  <a:srgbClr val="202938"/>
                </a:solidFill>
                <a:latin typeface="Arial" panose="020B0604020202020204" pitchFamily="34" charset="0"/>
                <a:ea typeface="Arial" panose="020B0604020202020204" pitchFamily="34" charset="-122"/>
                <a:cs typeface="Arial" panose="020B0604020202020204" pitchFamily="34" charset="-120"/>
              </a:rPr>
              <a:t>The academic demo blocks repeat donation if less than 56 days have passed.</a:t>
            </a:r>
            <a:endParaRPr lang="en-US" sz="1040" dirty="0"/>
          </a:p>
        </p:txBody>
      </p:sp>
      <p:sp>
        <p:nvSpPr>
          <p:cNvPr id="49" name="Shape 46"/>
          <p:cNvSpPr/>
          <p:nvPr/>
        </p:nvSpPr>
        <p:spPr>
          <a:xfrm>
            <a:off x="612648" y="4590288"/>
            <a:ext cx="10844784" cy="1005840"/>
          </a:xfrm>
          <a:prstGeom prst="roundRect">
            <a:avLst>
              <a:gd name="adj" fmla="val 7273"/>
            </a:avLst>
          </a:prstGeom>
          <a:solidFill>
            <a:srgbClr val="FFF6E2"/>
          </a:solidFill>
          <a:ln w="12700">
            <a:solidFill>
              <a:srgbClr val="E9D29A"/>
            </a:solidFill>
            <a:prstDash val="solid"/>
          </a:ln>
        </p:spPr>
      </p:sp>
      <p:sp>
        <p:nvSpPr>
          <p:cNvPr id="50" name="Text 47"/>
          <p:cNvSpPr/>
          <p:nvPr/>
        </p:nvSpPr>
        <p:spPr>
          <a:xfrm>
            <a:off x="813816" y="4736592"/>
            <a:ext cx="2148840" cy="210312"/>
          </a:xfrm>
          <a:prstGeom prst="rect">
            <a:avLst/>
          </a:prstGeom>
          <a:noFill/>
        </p:spPr>
        <p:txBody>
          <a:bodyPr wrap="square" lIns="0" tIns="0" rIns="0" bIns="0" rtlCol="0" anchor="ctr">
            <a:normAutofit/>
          </a:bodyPr>
          <a:lstStyle/>
          <a:p>
            <a:pPr marL="0" indent="0">
              <a:buNone/>
            </a:pPr>
            <a:r>
              <a:rPr lang="en-US" sz="1050" b="1" dirty="0">
                <a:solidFill>
                  <a:srgbClr val="7C5A11"/>
                </a:solidFill>
                <a:latin typeface="Arial" panose="020B0604020202020204" pitchFamily="34" charset="0"/>
                <a:ea typeface="Arial" panose="020B0604020202020204" pitchFamily="34" charset="-122"/>
                <a:cs typeface="Arial" panose="020B0604020202020204" pitchFamily="34" charset="-120"/>
              </a:rPr>
              <a:t>IMPORTANT LIMITATION</a:t>
            </a:r>
            <a:endParaRPr lang="en-US" sz="1050" dirty="0"/>
          </a:p>
        </p:txBody>
      </p:sp>
      <p:sp>
        <p:nvSpPr>
          <p:cNvPr id="51" name="Text 48"/>
          <p:cNvSpPr/>
          <p:nvPr/>
        </p:nvSpPr>
        <p:spPr>
          <a:xfrm>
            <a:off x="2761488" y="4709160"/>
            <a:ext cx="8366760" cy="548640"/>
          </a:xfrm>
          <a:prstGeom prst="rect">
            <a:avLst/>
          </a:prstGeom>
          <a:noFill/>
        </p:spPr>
        <p:txBody>
          <a:bodyPr wrap="square" lIns="0" tIns="0" rIns="0" bIns="0" rtlCol="0" anchor="ctr">
            <a:normAutofit/>
          </a:bodyPr>
          <a:lstStyle/>
          <a:p>
            <a:pPr marL="0" indent="0">
              <a:buNone/>
            </a:pPr>
            <a:r>
              <a:rPr lang="en-US" sz="1100" b="1" dirty="0">
                <a:solidFill>
                  <a:srgbClr val="172234"/>
                </a:solidFill>
                <a:latin typeface="Arial" panose="020B0604020202020204" pitchFamily="34" charset="0"/>
                <a:ea typeface="Arial" panose="020B0604020202020204" pitchFamily="34" charset="-122"/>
                <a:cs typeface="Arial" panose="020B0604020202020204" pitchFamily="34" charset="-120"/>
              </a:rPr>
              <a:t>This is educational compatibility logic only. Actual transfusions require blood-bank laboratory testing / crossmatching and professional authorization.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1"/>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p:spPr>
        <p:txBody>
          <a:bodyPr wrap="square" lIns="0" tIns="0" rIns="0" bIns="0" rtlCol="0" anchor="ctr">
            <a:normAutofit/>
          </a:bodyPr>
          <a:lstStyle/>
          <a:p>
            <a:pPr marL="0" indent="0">
              <a:buNone/>
            </a:pPr>
            <a:r>
              <a:rPr lang="en-US" sz="2200" b="1" dirty="0">
                <a:solidFill>
                  <a:srgbClr val="172234"/>
                </a:solidFill>
                <a:latin typeface="Arial" panose="020B0604020202020204" pitchFamily="34" charset="0"/>
                <a:ea typeface="Arial" panose="020B0604020202020204" pitchFamily="34" charset="-122"/>
                <a:cs typeface="Arial" panose="020B0604020202020204" pitchFamily="34" charset="-120"/>
              </a:rPr>
              <a:t>Sample Input &amp; Output</a:t>
            </a:r>
            <a:endParaRPr lang="en-US" sz="2200" dirty="0"/>
          </a:p>
        </p:txBody>
      </p:sp>
      <p:sp>
        <p:nvSpPr>
          <p:cNvPr id="4" name="Text 1"/>
          <p:cNvSpPr/>
          <p:nvPr/>
        </p:nvSpPr>
        <p:spPr>
          <a:xfrm>
            <a:off x="886968" y="640080"/>
            <a:ext cx="10789920" cy="201168"/>
          </a:xfrm>
          <a:prstGeom prst="rect">
            <a:avLst/>
          </a:prstGeom>
          <a:noFill/>
        </p:spPr>
        <p:txBody>
          <a:bodyPr wrap="square" lIns="0" tIns="0" rIns="0" bIns="0" rtlCol="0" anchor="ctr">
            <a:normAutofit/>
          </a:bodyPr>
          <a:lstStyle/>
          <a:p>
            <a:pPr marL="0" indent="0">
              <a:buNone/>
            </a:pPr>
            <a:r>
              <a:rPr lang="en-US" sz="1030" dirty="0">
                <a:solidFill>
                  <a:srgbClr val="687487"/>
                </a:solidFill>
                <a:latin typeface="Arial" panose="020B0604020202020204" pitchFamily="34" charset="0"/>
                <a:ea typeface="Arial" panose="020B0604020202020204" pitchFamily="34" charset="-122"/>
                <a:cs typeface="Arial" panose="020B0604020202020204" pitchFamily="34" charset="-120"/>
              </a:rPr>
              <a:t>Reproducible demonstration using fictional records and the current Java source</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p:spPr>
        <p:txBody>
          <a:bodyPr wrap="square" lIns="0" tIns="0" rIns="0" bIns="0" rtlCol="0" anchor="ctr">
            <a:normAutofit/>
          </a:bodyPr>
          <a:lstStyle/>
          <a:p>
            <a:pPr marL="0" indent="0">
              <a:buNone/>
            </a:pPr>
            <a:r>
              <a:rPr lang="en-US" sz="810" dirty="0">
                <a:solidFill>
                  <a:srgbClr val="8A929E"/>
                </a:solidFill>
                <a:latin typeface="Arial" panose="020B0604020202020204" pitchFamily="34" charset="0"/>
                <a:ea typeface="Arial" panose="020B0604020202020204" pitchFamily="34" charset="-122"/>
                <a:cs typeface="Arial" panose="020B0604020202020204" pitchFamily="34" charset="-120"/>
              </a:rPr>
              <a:t>11/10/2026</a:t>
            </a:r>
            <a:endParaRPr lang="en-US" sz="810" dirty="0"/>
          </a:p>
        </p:txBody>
      </p:sp>
      <p:sp>
        <p:nvSpPr>
          <p:cNvPr id="8" name="Text 5"/>
          <p:cNvSpPr/>
          <p:nvPr/>
        </p:nvSpPr>
        <p:spPr>
          <a:xfrm>
            <a:off x="3840480" y="6501384"/>
            <a:ext cx="4526280" cy="146304"/>
          </a:xfrm>
          <a:prstGeom prst="rect">
            <a:avLst/>
          </a:prstGeom>
          <a:noFill/>
        </p:spPr>
        <p:txBody>
          <a:bodyPr wrap="square" lIns="0" tIns="0" rIns="0" bIns="0" rtlCol="0" anchor="ctr">
            <a:normAutofit/>
          </a:bodyPr>
          <a:lstStyle/>
          <a:p>
            <a:pPr marL="0" indent="0" algn="ctr">
              <a:buNone/>
            </a:pPr>
            <a:r>
              <a:rPr lang="en-US" sz="760" dirty="0">
                <a:solidFill>
                  <a:srgbClr val="A0A7B2"/>
                </a:solidFill>
                <a:latin typeface="Arial" panose="020B0604020202020204" pitchFamily="34" charset="0"/>
                <a:ea typeface="Arial" panose="020B0604020202020204" pitchFamily="34" charset="-122"/>
                <a:cs typeface="Arial" panose="020B0604020202020204"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p:spPr>
        <p:txBody>
          <a:bodyPr wrap="square" lIns="0" tIns="0" rIns="0" bIns="0" rtlCol="0" anchor="ctr">
            <a:normAutofit/>
          </a:bodyPr>
          <a:lstStyle/>
          <a:p>
            <a:pPr marL="0" indent="0" algn="r">
              <a:buNone/>
            </a:pPr>
            <a:r>
              <a:rPr lang="en-US" sz="810" dirty="0">
                <a:solidFill>
                  <a:srgbClr val="8A929E"/>
                </a:solidFill>
                <a:latin typeface="Arial" panose="020B0604020202020204" pitchFamily="34" charset="0"/>
                <a:ea typeface="Arial" panose="020B0604020202020204" pitchFamily="34" charset="-122"/>
                <a:cs typeface="Arial" panose="020B0604020202020204" pitchFamily="34" charset="-120"/>
              </a:rPr>
              <a:t>12</a:t>
            </a:r>
            <a:endParaRPr lang="en-US" sz="810" dirty="0"/>
          </a:p>
        </p:txBody>
      </p:sp>
      <p:sp>
        <p:nvSpPr>
          <p:cNvPr id="10" name="Shape 7"/>
          <p:cNvSpPr/>
          <p:nvPr/>
        </p:nvSpPr>
        <p:spPr>
          <a:xfrm>
            <a:off x="566928" y="1307592"/>
            <a:ext cx="6748272" cy="4553712"/>
          </a:xfrm>
          <a:prstGeom prst="roundRect">
            <a:avLst>
              <a:gd name="adj" fmla="val 1606"/>
            </a:avLst>
          </a:prstGeom>
          <a:solidFill>
            <a:srgbClr val="172234"/>
          </a:solidFill>
          <a:ln w="12700">
            <a:solidFill>
              <a:srgbClr val="172234"/>
            </a:solidFill>
            <a:prstDash val="solid"/>
          </a:ln>
        </p:spPr>
      </p:sp>
      <p:sp>
        <p:nvSpPr>
          <p:cNvPr id="11" name="Text 8"/>
          <p:cNvSpPr/>
          <p:nvPr/>
        </p:nvSpPr>
        <p:spPr>
          <a:xfrm>
            <a:off x="731520" y="1408176"/>
            <a:ext cx="6419088" cy="201168"/>
          </a:xfrm>
          <a:prstGeom prst="rect">
            <a:avLst/>
          </a:prstGeom>
          <a:noFill/>
        </p:spPr>
        <p:txBody>
          <a:bodyPr wrap="square" lIns="0" tIns="0" rIns="0" bIns="0" rtlCol="0" anchor="ctr">
            <a:normAutofit/>
          </a:bodyPr>
          <a:lstStyle/>
          <a:p>
            <a:pPr marL="0" indent="0">
              <a:buNone/>
            </a:pPr>
            <a:r>
              <a:rPr lang="en-US" sz="900" b="1" kern="0" spc="60" dirty="0">
                <a:solidFill>
                  <a:srgbClr val="F2B8BD"/>
                </a:solidFill>
                <a:latin typeface="Arial" panose="020B0604020202020204" pitchFamily="34" charset="0"/>
                <a:ea typeface="Arial" panose="020B0604020202020204" pitchFamily="34" charset="-122"/>
                <a:cs typeface="Arial" panose="020B0604020202020204" pitchFamily="34" charset="-120"/>
              </a:rPr>
              <a:t>FORMATTED SAMPLE CONSOLE RUN — VERIFIED AGAINST LOCAL EXECUTION</a:t>
            </a:r>
            <a:endParaRPr lang="en-US" sz="900" dirty="0"/>
          </a:p>
        </p:txBody>
      </p:sp>
      <p:sp>
        <p:nvSpPr>
          <p:cNvPr id="12" name="Shape 9"/>
          <p:cNvSpPr/>
          <p:nvPr/>
        </p:nvSpPr>
        <p:spPr>
          <a:xfrm>
            <a:off x="704088" y="1664208"/>
            <a:ext cx="6473952" cy="0"/>
          </a:xfrm>
          <a:prstGeom prst="line">
            <a:avLst/>
          </a:prstGeom>
          <a:noFill/>
          <a:ln w="8890">
            <a:solidFill>
              <a:srgbClr val="42506A"/>
            </a:solidFill>
            <a:prstDash val="solid"/>
          </a:ln>
        </p:spPr>
      </p:sp>
      <p:sp>
        <p:nvSpPr>
          <p:cNvPr id="13" name="Text 10"/>
          <p:cNvSpPr/>
          <p:nvPr/>
        </p:nvSpPr>
        <p:spPr>
          <a:xfrm>
            <a:off x="722376" y="1764792"/>
            <a:ext cx="6437376" cy="4005072"/>
          </a:xfrm>
          <a:prstGeom prst="rect">
            <a:avLst/>
          </a:prstGeom>
          <a:noFill/>
        </p:spPr>
        <p:txBody>
          <a:bodyPr wrap="square" lIns="127" tIns="127" rIns="127" bIns="127" rtlCol="0" anchor="t"/>
          <a:lstStyle/>
          <a:p>
            <a:pPr marL="0" indent="0">
              <a:buNone/>
            </a:pPr>
            <a:r>
              <a:rPr lang="en-US" sz="1000" dirty="0">
                <a:solidFill>
                  <a:srgbClr val="EAF0F8"/>
                </a:solidFill>
                <a:latin typeface="Liberation Mono" pitchFamily="34" charset="0"/>
                <a:ea typeface="Liberation Mono" pitchFamily="34" charset="-122"/>
                <a:cs typeface="Liberation Mono" pitchFamily="34" charset="-120"/>
              </a:rPr>
              <a:t>--- Add Donor ---</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Donor ID: D001</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Donor Name: Rahul Kumar</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Age: 22</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Blood Group: O-</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Phone Number: 9876543210</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Last donation date: -</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Donor added successfully.</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Donation eligibility today: Eligible</a:t>
            </a:r>
            <a:endParaRPr lang="en-US" sz="1000" dirty="0"/>
          </a:p>
          <a:p>
            <a:pPr marL="0" indent="0">
              <a:buNone/>
            </a:pP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 Add Blood Stock Batch ---</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Batch ID: B001 | Group: O- | Units: 3</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Expiry: 2027-01-01</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Blood stock batch added successfully.</a:t>
            </a:r>
            <a:endParaRPr lang="en-US" sz="1000" dirty="0"/>
          </a:p>
          <a:p>
            <a:pPr marL="0" indent="0">
              <a:buNone/>
            </a:pP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Blood issued successfully.</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Issue: ISS-0001 | Recipient Group: AB+</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Units: 2 | Date: 2026-10-11 | Batches: B001:2</a:t>
            </a:r>
            <a:endParaRPr lang="en-US" sz="1000" dirty="0"/>
          </a:p>
          <a:p>
            <a:pPr marL="0" indent="0">
              <a:buNone/>
            </a:pP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Issue cancelled. Compatible, non-expired stock has</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only 1 unit(s); 2 were requested. No stock was changed.</a:t>
            </a:r>
            <a:endParaRPr lang="en-US" sz="1000" dirty="0"/>
          </a:p>
          <a:p>
            <a:pPr marL="0" indent="0">
              <a:buNone/>
            </a:pP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Final stock: B001 | O- | Units: 1</a:t>
            </a:r>
            <a:endParaRPr lang="en-US" sz="1000" dirty="0"/>
          </a:p>
        </p:txBody>
      </p:sp>
      <p:sp>
        <p:nvSpPr>
          <p:cNvPr id="14" name="Shape 11"/>
          <p:cNvSpPr/>
          <p:nvPr/>
        </p:nvSpPr>
        <p:spPr>
          <a:xfrm>
            <a:off x="7571232" y="1325880"/>
            <a:ext cx="4032504" cy="1106424"/>
          </a:xfrm>
          <a:prstGeom prst="roundRect">
            <a:avLst>
              <a:gd name="adj" fmla="val 6612"/>
            </a:avLst>
          </a:prstGeom>
          <a:solidFill>
            <a:srgbClr val="EAF6EF"/>
          </a:solidFill>
          <a:ln w="12700">
            <a:solidFill>
              <a:srgbClr val="B9DCC6"/>
            </a:solidFill>
            <a:prstDash val="solid"/>
          </a:ln>
        </p:spPr>
      </p:sp>
      <p:sp>
        <p:nvSpPr>
          <p:cNvPr id="15" name="Shape 12"/>
          <p:cNvSpPr/>
          <p:nvPr/>
        </p:nvSpPr>
        <p:spPr>
          <a:xfrm>
            <a:off x="7571232" y="1417320"/>
            <a:ext cx="50292" cy="923544"/>
          </a:xfrm>
          <a:prstGeom prst="rect">
            <a:avLst/>
          </a:prstGeom>
          <a:solidFill>
            <a:srgbClr val="28734B"/>
          </a:solidFill>
          <a:ln w="12700">
            <a:solidFill>
              <a:srgbClr val="28734B">
                <a:alpha val="0"/>
              </a:srgbClr>
            </a:solidFill>
            <a:prstDash val="solid"/>
          </a:ln>
        </p:spPr>
      </p:sp>
      <p:sp>
        <p:nvSpPr>
          <p:cNvPr id="16" name="Text 13"/>
          <p:cNvSpPr/>
          <p:nvPr/>
        </p:nvSpPr>
        <p:spPr>
          <a:xfrm>
            <a:off x="7717536" y="1435608"/>
            <a:ext cx="3739896" cy="265176"/>
          </a:xfrm>
          <a:prstGeom prst="rect">
            <a:avLst/>
          </a:prstGeom>
          <a:noFill/>
        </p:spPr>
        <p:txBody>
          <a:bodyPr wrap="square" lIns="0" tIns="0" rIns="0" bIns="0" rtlCol="0" anchor="ctr">
            <a:normAutofit/>
          </a:bodyPr>
          <a:lstStyle/>
          <a:p>
            <a:pPr marL="0" indent="0">
              <a:buNone/>
            </a:pPr>
            <a:r>
              <a:rPr lang="en-US" sz="1160" b="1" dirty="0">
                <a:solidFill>
                  <a:srgbClr val="28734B"/>
                </a:solidFill>
                <a:latin typeface="Arial" panose="020B0604020202020204" pitchFamily="34" charset="0"/>
                <a:ea typeface="Arial" panose="020B0604020202020204" pitchFamily="34" charset="-122"/>
                <a:cs typeface="Arial" panose="020B0604020202020204" pitchFamily="34" charset="-120"/>
              </a:rPr>
              <a:t>TEST 1 — REQUEST 2 UNITS</a:t>
            </a:r>
            <a:endParaRPr lang="en-US" sz="1160" dirty="0"/>
          </a:p>
        </p:txBody>
      </p:sp>
      <p:sp>
        <p:nvSpPr>
          <p:cNvPr id="17" name="Text 14"/>
          <p:cNvSpPr/>
          <p:nvPr/>
        </p:nvSpPr>
        <p:spPr>
          <a:xfrm>
            <a:off x="7717536" y="1755648"/>
            <a:ext cx="3739896" cy="585216"/>
          </a:xfrm>
          <a:prstGeom prst="rect">
            <a:avLst/>
          </a:prstGeom>
          <a:noFill/>
        </p:spPr>
        <p:txBody>
          <a:bodyPr wrap="square" lIns="0" tIns="0" rIns="0" bIns="0" rtlCol="0" anchor="t">
            <a:normAutofit/>
          </a:bodyPr>
          <a:lstStyle/>
          <a:p>
            <a:pPr marL="0" indent="0">
              <a:buNone/>
            </a:pPr>
            <a:r>
              <a:rPr lang="en-US" sz="1030" dirty="0">
                <a:solidFill>
                  <a:srgbClr val="202938"/>
                </a:solidFill>
                <a:latin typeface="Arial" panose="020B0604020202020204" pitchFamily="34" charset="0"/>
                <a:ea typeface="Arial" panose="020B0604020202020204" pitchFamily="34" charset="-122"/>
                <a:cs typeface="Arial" panose="020B0604020202020204" pitchFamily="34" charset="-120"/>
              </a:rPr>
              <a:t>O− batch begins with 3 units. Request for AB+ succeeds; B001 decreases to 1 unit.</a:t>
            </a:r>
            <a:endParaRPr lang="en-US" sz="1030" dirty="0"/>
          </a:p>
        </p:txBody>
      </p:sp>
      <p:sp>
        <p:nvSpPr>
          <p:cNvPr id="18" name="Shape 15"/>
          <p:cNvSpPr/>
          <p:nvPr/>
        </p:nvSpPr>
        <p:spPr>
          <a:xfrm>
            <a:off x="7571232" y="2633472"/>
            <a:ext cx="4032504" cy="1106424"/>
          </a:xfrm>
          <a:prstGeom prst="roundRect">
            <a:avLst>
              <a:gd name="adj" fmla="val 6612"/>
            </a:avLst>
          </a:prstGeom>
          <a:solidFill>
            <a:srgbClr val="FCEDEF"/>
          </a:solidFill>
          <a:ln w="12700">
            <a:solidFill>
              <a:srgbClr val="E8B8BE"/>
            </a:solidFill>
            <a:prstDash val="solid"/>
          </a:ln>
        </p:spPr>
      </p:sp>
      <p:sp>
        <p:nvSpPr>
          <p:cNvPr id="19" name="Shape 16"/>
          <p:cNvSpPr/>
          <p:nvPr/>
        </p:nvSpPr>
        <p:spPr>
          <a:xfrm>
            <a:off x="7571232" y="2724912"/>
            <a:ext cx="50292" cy="923544"/>
          </a:xfrm>
          <a:prstGeom prst="rect">
            <a:avLst/>
          </a:prstGeom>
          <a:solidFill>
            <a:srgbClr val="B71920"/>
          </a:solidFill>
          <a:ln w="12700">
            <a:solidFill>
              <a:srgbClr val="B71920">
                <a:alpha val="0"/>
              </a:srgbClr>
            </a:solidFill>
            <a:prstDash val="solid"/>
          </a:ln>
        </p:spPr>
      </p:sp>
      <p:sp>
        <p:nvSpPr>
          <p:cNvPr id="20" name="Text 17"/>
          <p:cNvSpPr/>
          <p:nvPr/>
        </p:nvSpPr>
        <p:spPr>
          <a:xfrm>
            <a:off x="7717536" y="2743200"/>
            <a:ext cx="3739896" cy="265176"/>
          </a:xfrm>
          <a:prstGeom prst="rect">
            <a:avLst/>
          </a:prstGeom>
          <a:noFill/>
        </p:spPr>
        <p:txBody>
          <a:bodyPr wrap="square" lIns="0" tIns="0" rIns="0" bIns="0" rtlCol="0" anchor="ctr">
            <a:normAutofit/>
          </a:bodyPr>
          <a:lstStyle/>
          <a:p>
            <a:pPr marL="0" indent="0">
              <a:buNone/>
            </a:pPr>
            <a:r>
              <a:rPr lang="en-US" sz="1160" b="1" dirty="0">
                <a:solidFill>
                  <a:srgbClr val="B71920"/>
                </a:solidFill>
                <a:latin typeface="Arial" panose="020B0604020202020204" pitchFamily="34" charset="0"/>
                <a:ea typeface="Arial" panose="020B0604020202020204" pitchFamily="34" charset="-122"/>
                <a:cs typeface="Arial" panose="020B0604020202020204" pitchFamily="34" charset="-120"/>
              </a:rPr>
              <a:t>TEST 2 — REQUEST 2 MORE</a:t>
            </a:r>
            <a:endParaRPr lang="en-US" sz="1160" dirty="0"/>
          </a:p>
        </p:txBody>
      </p:sp>
      <p:sp>
        <p:nvSpPr>
          <p:cNvPr id="21" name="Text 18"/>
          <p:cNvSpPr/>
          <p:nvPr/>
        </p:nvSpPr>
        <p:spPr>
          <a:xfrm>
            <a:off x="7717536" y="3063240"/>
            <a:ext cx="3739896" cy="585216"/>
          </a:xfrm>
          <a:prstGeom prst="rect">
            <a:avLst/>
          </a:prstGeom>
          <a:noFill/>
        </p:spPr>
        <p:txBody>
          <a:bodyPr wrap="square" lIns="0" tIns="0" rIns="0" bIns="0" rtlCol="0" anchor="t">
            <a:normAutofit/>
          </a:bodyPr>
          <a:lstStyle/>
          <a:p>
            <a:pPr marL="0" indent="0">
              <a:buNone/>
            </a:pPr>
            <a:r>
              <a:rPr lang="en-US" sz="1030" dirty="0">
                <a:solidFill>
                  <a:srgbClr val="202938"/>
                </a:solidFill>
                <a:latin typeface="Arial" panose="020B0604020202020204" pitchFamily="34" charset="0"/>
                <a:ea typeface="Arial" panose="020B0604020202020204" pitchFamily="34" charset="-122"/>
                <a:cs typeface="Arial" panose="020B0604020202020204" pitchFamily="34" charset="-120"/>
              </a:rPr>
              <a:t>Only 1 compatible unit remains. The request is cancelled and no additional stock is deducted.</a:t>
            </a:r>
            <a:endParaRPr lang="en-US" sz="1030" dirty="0"/>
          </a:p>
        </p:txBody>
      </p:sp>
      <p:sp>
        <p:nvSpPr>
          <p:cNvPr id="22" name="Shape 19"/>
          <p:cNvSpPr/>
          <p:nvPr/>
        </p:nvSpPr>
        <p:spPr>
          <a:xfrm>
            <a:off x="7571232" y="4023360"/>
            <a:ext cx="4032504" cy="941832"/>
          </a:xfrm>
          <a:prstGeom prst="roundRect">
            <a:avLst>
              <a:gd name="adj" fmla="val 7767"/>
            </a:avLst>
          </a:prstGeom>
          <a:solidFill>
            <a:srgbClr val="F7F9FC"/>
          </a:solidFill>
          <a:ln w="12700">
            <a:solidFill>
              <a:srgbClr val="E1E6ED"/>
            </a:solidFill>
            <a:prstDash val="solid"/>
          </a:ln>
        </p:spPr>
      </p:sp>
      <p:sp>
        <p:nvSpPr>
          <p:cNvPr id="23" name="Text 20"/>
          <p:cNvSpPr/>
          <p:nvPr/>
        </p:nvSpPr>
        <p:spPr>
          <a:xfrm>
            <a:off x="7680960" y="4078224"/>
            <a:ext cx="3813048" cy="832104"/>
          </a:xfrm>
          <a:prstGeom prst="rect">
            <a:avLst/>
          </a:prstGeom>
          <a:noFill/>
        </p:spPr>
        <p:txBody>
          <a:bodyPr wrap="square" lIns="0" tIns="0" rIns="0" bIns="0" rtlCol="0" anchor="ctr">
            <a:normAutofit/>
          </a:bodyPr>
          <a:lstStyle/>
          <a:p>
            <a:pPr marL="0" indent="0">
              <a:buNone/>
            </a:pPr>
            <a:r>
              <a:rPr lang="en-US" sz="950" dirty="0">
                <a:solidFill>
                  <a:srgbClr val="687487"/>
                </a:solidFill>
                <a:latin typeface="Arial" panose="020B0604020202020204" pitchFamily="34" charset="0"/>
                <a:ea typeface="Arial" panose="020B0604020202020204" pitchFamily="34" charset="-122"/>
                <a:cs typeface="Arial" panose="020B0604020202020204" pitchFamily="34" charset="-120"/>
              </a:rPr>
              <a:t>Fictional inputs. Issue date reflects local execution on 11 October 2026. This is a formatted text transcript, not a screenshot.</a:t>
            </a:r>
            <a:endParaRPr lang="en-US" sz="950" dirty="0"/>
          </a:p>
        </p:txBody>
      </p:sp>
      <p:sp>
        <p:nvSpPr>
          <p:cNvPr id="24" name="Text 21"/>
          <p:cNvSpPr/>
          <p:nvPr/>
        </p:nvSpPr>
        <p:spPr>
          <a:xfrm>
            <a:off x="612648" y="5980176"/>
            <a:ext cx="10927080" cy="210312"/>
          </a:xfrm>
          <a:prstGeom prst="rect">
            <a:avLst/>
          </a:prstGeom>
          <a:noFill/>
        </p:spPr>
        <p:txBody>
          <a:bodyPr wrap="square" lIns="0" tIns="0" rIns="0" bIns="0" rtlCol="0" anchor="ctr">
            <a:normAutofit/>
          </a:bodyPr>
          <a:lstStyle/>
          <a:p>
            <a:pPr marL="0" indent="0">
              <a:buNone/>
            </a:pPr>
            <a:r>
              <a:rPr lang="en-US" sz="1000" b="1" dirty="0">
                <a:solidFill>
                  <a:srgbClr val="28734B"/>
                </a:solidFill>
                <a:latin typeface="Arial" panose="020B0604020202020204" pitchFamily="34" charset="0"/>
                <a:ea typeface="Arial" panose="020B0604020202020204" pitchFamily="34" charset="-122"/>
                <a:cs typeface="Arial" panose="020B0604020202020204" pitchFamily="34" charset="-120"/>
              </a:rPr>
              <a:t>Verified behavior: stock goes 3 → 1 after the first issue and stays at 1 after the insufficient-stock request.</a:t>
            </a:r>
            <a:endParaRPr lang="en-US" sz="1000" dirty="0"/>
          </a:p>
        </p:txBody>
      </p:sp>
      <p:pic>
        <p:nvPicPr>
          <p:cNvPr id="26" name="Picture 25"/>
          <p:cNvPicPr>
            <a:picLocks noChangeAspect="1"/>
          </p:cNvPicPr>
          <p:nvPr/>
        </p:nvPicPr>
        <p:blipFill>
          <a:blip r:embed="rId2"/>
          <a:srcRect t="10984"/>
          <a:stretch>
            <a:fillRect/>
          </a:stretch>
        </p:blipFill>
        <p:spPr>
          <a:xfrm>
            <a:off x="495882" y="1252730"/>
            <a:ext cx="6929046" cy="524865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1"/>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p:spPr>
        <p:txBody>
          <a:bodyPr wrap="square" lIns="0" tIns="0" rIns="0" bIns="0" rtlCol="0" anchor="ctr">
            <a:normAutofit/>
          </a:bodyPr>
          <a:lstStyle/>
          <a:p>
            <a:pPr marL="0" indent="0">
              <a:buNone/>
            </a:pPr>
            <a:r>
              <a:rPr lang="en-US" sz="2200" b="1" dirty="0">
                <a:solidFill>
                  <a:srgbClr val="172234"/>
                </a:solidFill>
                <a:latin typeface="Arial" panose="020B0604020202020204" pitchFamily="34" charset="0"/>
                <a:ea typeface="Arial" panose="020B0604020202020204" pitchFamily="34" charset="-122"/>
                <a:cs typeface="Arial" panose="020B0604020202020204" pitchFamily="34" charset="-120"/>
              </a:rPr>
              <a:t>Testing &amp; Validation</a:t>
            </a:r>
            <a:endParaRPr lang="en-US" sz="2200" dirty="0"/>
          </a:p>
        </p:txBody>
      </p:sp>
      <p:sp>
        <p:nvSpPr>
          <p:cNvPr id="4" name="Text 1"/>
          <p:cNvSpPr/>
          <p:nvPr/>
        </p:nvSpPr>
        <p:spPr>
          <a:xfrm>
            <a:off x="886968" y="640080"/>
            <a:ext cx="10789920" cy="201168"/>
          </a:xfrm>
          <a:prstGeom prst="rect">
            <a:avLst/>
          </a:prstGeom>
          <a:noFill/>
        </p:spPr>
        <p:txBody>
          <a:bodyPr wrap="square" lIns="0" tIns="0" rIns="0" bIns="0" rtlCol="0" anchor="ctr">
            <a:normAutofit/>
          </a:bodyPr>
          <a:lstStyle/>
          <a:p>
            <a:pPr marL="0" indent="0">
              <a:buNone/>
            </a:pPr>
            <a:r>
              <a:rPr lang="en-US" sz="1030" dirty="0">
                <a:solidFill>
                  <a:srgbClr val="687487"/>
                </a:solidFill>
                <a:latin typeface="Arial" panose="020B0604020202020204" pitchFamily="34" charset="0"/>
                <a:ea typeface="Arial" panose="020B0604020202020204" pitchFamily="34" charset="-122"/>
                <a:cs typeface="Arial" panose="020B0604020202020204" pitchFamily="34" charset="-120"/>
              </a:rPr>
              <a:t>Local harness checks against the current project source — no coverage percentage claimed</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p:spPr>
        <p:txBody>
          <a:bodyPr wrap="square" lIns="0" tIns="0" rIns="0" bIns="0" rtlCol="0" anchor="ctr">
            <a:normAutofit/>
          </a:bodyPr>
          <a:lstStyle/>
          <a:p>
            <a:pPr marL="0" indent="0">
              <a:buNone/>
            </a:pPr>
            <a:r>
              <a:rPr lang="en-US" sz="810" dirty="0">
                <a:solidFill>
                  <a:srgbClr val="8A929E"/>
                </a:solidFill>
                <a:latin typeface="Arial" panose="020B0604020202020204" pitchFamily="34" charset="0"/>
                <a:ea typeface="Arial" panose="020B0604020202020204" pitchFamily="34" charset="-122"/>
                <a:cs typeface="Arial" panose="020B0604020202020204" pitchFamily="34" charset="-120"/>
              </a:rPr>
              <a:t>11/10/2026</a:t>
            </a:r>
            <a:endParaRPr lang="en-US" sz="810" dirty="0"/>
          </a:p>
        </p:txBody>
      </p:sp>
      <p:sp>
        <p:nvSpPr>
          <p:cNvPr id="8" name="Text 5"/>
          <p:cNvSpPr/>
          <p:nvPr/>
        </p:nvSpPr>
        <p:spPr>
          <a:xfrm>
            <a:off x="3840480" y="6501384"/>
            <a:ext cx="4526280" cy="146304"/>
          </a:xfrm>
          <a:prstGeom prst="rect">
            <a:avLst/>
          </a:prstGeom>
          <a:noFill/>
        </p:spPr>
        <p:txBody>
          <a:bodyPr wrap="square" lIns="0" tIns="0" rIns="0" bIns="0" rtlCol="0" anchor="ctr">
            <a:normAutofit/>
          </a:bodyPr>
          <a:lstStyle/>
          <a:p>
            <a:pPr marL="0" indent="0" algn="ctr">
              <a:buNone/>
            </a:pPr>
            <a:r>
              <a:rPr lang="en-US" sz="760" dirty="0">
                <a:solidFill>
                  <a:srgbClr val="A0A7B2"/>
                </a:solidFill>
                <a:latin typeface="Arial" panose="020B0604020202020204" pitchFamily="34" charset="0"/>
                <a:ea typeface="Arial" panose="020B0604020202020204" pitchFamily="34" charset="-122"/>
                <a:cs typeface="Arial" panose="020B0604020202020204"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p:spPr>
        <p:txBody>
          <a:bodyPr wrap="square" lIns="0" tIns="0" rIns="0" bIns="0" rtlCol="0" anchor="ctr">
            <a:normAutofit/>
          </a:bodyPr>
          <a:lstStyle/>
          <a:p>
            <a:pPr marL="0" indent="0" algn="r">
              <a:buNone/>
            </a:pPr>
            <a:r>
              <a:rPr lang="en-US" sz="810" dirty="0">
                <a:solidFill>
                  <a:srgbClr val="8A929E"/>
                </a:solidFill>
                <a:latin typeface="Arial" panose="020B0604020202020204" pitchFamily="34" charset="0"/>
                <a:ea typeface="Arial" panose="020B0604020202020204" pitchFamily="34" charset="-122"/>
                <a:cs typeface="Arial" panose="020B0604020202020204" pitchFamily="34" charset="-120"/>
              </a:rPr>
              <a:t>13</a:t>
            </a:r>
            <a:endParaRPr lang="en-US" sz="810" dirty="0"/>
          </a:p>
        </p:txBody>
      </p:sp>
      <p:sp>
        <p:nvSpPr>
          <p:cNvPr id="10" name="Text 7"/>
          <p:cNvSpPr/>
          <p:nvPr/>
        </p:nvSpPr>
        <p:spPr>
          <a:xfrm>
            <a:off x="704088" y="1298448"/>
            <a:ext cx="6995160" cy="201168"/>
          </a:xfrm>
          <a:prstGeom prst="rect">
            <a:avLst/>
          </a:prstGeom>
          <a:noFill/>
        </p:spPr>
        <p:txBody>
          <a:bodyPr wrap="square" lIns="0" tIns="0" rIns="0" bIns="0" rtlCol="0" anchor="ctr">
            <a:normAutofit/>
          </a:bodyPr>
          <a:lstStyle/>
          <a:p>
            <a:pPr marL="0" indent="0">
              <a:buNone/>
            </a:pPr>
            <a:r>
              <a:rPr lang="en-US" sz="1000" b="1" kern="0" spc="60" dirty="0">
                <a:solidFill>
                  <a:srgbClr val="687487"/>
                </a:solidFill>
                <a:latin typeface="Arial" panose="020B0604020202020204" pitchFamily="34" charset="0"/>
                <a:ea typeface="Arial" panose="020B0604020202020204" pitchFamily="34" charset="-122"/>
                <a:cs typeface="Arial" panose="020B0604020202020204" pitchFamily="34" charset="-120"/>
              </a:rPr>
              <a:t>TEST CASE</a:t>
            </a:r>
            <a:endParaRPr lang="en-US" sz="1000" dirty="0"/>
          </a:p>
        </p:txBody>
      </p:sp>
      <p:sp>
        <p:nvSpPr>
          <p:cNvPr id="11" name="Text 8"/>
          <p:cNvSpPr/>
          <p:nvPr/>
        </p:nvSpPr>
        <p:spPr>
          <a:xfrm>
            <a:off x="8430768" y="1298448"/>
            <a:ext cx="1828800" cy="201168"/>
          </a:xfrm>
          <a:prstGeom prst="rect">
            <a:avLst/>
          </a:prstGeom>
          <a:noFill/>
        </p:spPr>
        <p:txBody>
          <a:bodyPr wrap="square" lIns="0" tIns="0" rIns="0" bIns="0" rtlCol="0" anchor="ctr">
            <a:normAutofit/>
          </a:bodyPr>
          <a:lstStyle/>
          <a:p>
            <a:pPr marL="0" indent="0" algn="ctr">
              <a:buNone/>
            </a:pPr>
            <a:r>
              <a:rPr lang="en-US" sz="1000" b="1" kern="0" spc="60" dirty="0">
                <a:solidFill>
                  <a:srgbClr val="687487"/>
                </a:solidFill>
                <a:latin typeface="Arial" panose="020B0604020202020204" pitchFamily="34" charset="0"/>
                <a:ea typeface="Arial" panose="020B0604020202020204" pitchFamily="34" charset="-122"/>
                <a:cs typeface="Arial" panose="020B0604020202020204" pitchFamily="34" charset="-120"/>
              </a:rPr>
              <a:t>RESULT</a:t>
            </a:r>
            <a:endParaRPr lang="en-US" sz="1000" dirty="0"/>
          </a:p>
        </p:txBody>
      </p:sp>
      <p:sp>
        <p:nvSpPr>
          <p:cNvPr id="12" name="Shape 9"/>
          <p:cNvSpPr/>
          <p:nvPr/>
        </p:nvSpPr>
        <p:spPr>
          <a:xfrm>
            <a:off x="585216" y="1591056"/>
            <a:ext cx="11000232" cy="338328"/>
          </a:xfrm>
          <a:prstGeom prst="rect">
            <a:avLst/>
          </a:prstGeom>
          <a:solidFill>
            <a:srgbClr val="FFFFFF"/>
          </a:solidFill>
          <a:ln w="5715">
            <a:solidFill>
              <a:srgbClr val="E6EAF0"/>
            </a:solidFill>
            <a:prstDash val="solid"/>
          </a:ln>
        </p:spPr>
      </p:sp>
      <p:sp>
        <p:nvSpPr>
          <p:cNvPr id="13" name="Text 10"/>
          <p:cNvSpPr/>
          <p:nvPr/>
        </p:nvSpPr>
        <p:spPr>
          <a:xfrm>
            <a:off x="713232" y="1645920"/>
            <a:ext cx="310896" cy="201168"/>
          </a:xfrm>
          <a:prstGeom prst="rect">
            <a:avLst/>
          </a:prstGeom>
          <a:noFill/>
        </p:spPr>
        <p:txBody>
          <a:bodyPr wrap="square" lIns="0" tIns="0" rIns="0" bIns="0" rtlCol="0" anchor="ctr">
            <a:normAutofit/>
          </a:bodyPr>
          <a:lstStyle/>
          <a:p>
            <a:pPr marL="0" indent="0" algn="ctr">
              <a:buNone/>
            </a:pPr>
            <a:r>
              <a:rPr lang="en-US" sz="930" b="1" dirty="0">
                <a:solidFill>
                  <a:srgbClr val="D91F26"/>
                </a:solidFill>
                <a:latin typeface="Arial" panose="020B0604020202020204" pitchFamily="34" charset="0"/>
                <a:ea typeface="Arial" panose="020B0604020202020204" pitchFamily="34" charset="-122"/>
                <a:cs typeface="Arial" panose="020B0604020202020204" pitchFamily="34" charset="-120"/>
              </a:rPr>
              <a:t>01</a:t>
            </a:r>
            <a:endParaRPr lang="en-US" sz="930" dirty="0"/>
          </a:p>
        </p:txBody>
      </p:sp>
      <p:sp>
        <p:nvSpPr>
          <p:cNvPr id="14" name="Text 11"/>
          <p:cNvSpPr/>
          <p:nvPr/>
        </p:nvSpPr>
        <p:spPr>
          <a:xfrm>
            <a:off x="1097280" y="1636776"/>
            <a:ext cx="7086600" cy="210312"/>
          </a:xfrm>
          <a:prstGeom prst="rect">
            <a:avLst/>
          </a:prstGeom>
          <a:noFill/>
        </p:spPr>
        <p:txBody>
          <a:bodyPr wrap="square" lIns="0" tIns="0" rIns="0" bIns="0" rtlCol="0" anchor="ctr">
            <a:normAutofit/>
          </a:bodyPr>
          <a:lstStyle/>
          <a:p>
            <a:pPr marL="0" indent="0">
              <a:buNone/>
            </a:pPr>
            <a:r>
              <a:rPr lang="en-US" sz="1030" dirty="0">
                <a:solidFill>
                  <a:srgbClr val="202938"/>
                </a:solidFill>
                <a:latin typeface="Arial" panose="020B0604020202020204" pitchFamily="34" charset="0"/>
                <a:ea typeface="Arial" panose="020B0604020202020204" pitchFamily="34" charset="-122"/>
                <a:cs typeface="Arial" panose="020B0604020202020204" pitchFamily="34" charset="-120"/>
              </a:rPr>
              <a:t>Valid donor entry</a:t>
            </a:r>
            <a:endParaRPr lang="en-US" sz="1030" dirty="0"/>
          </a:p>
        </p:txBody>
      </p:sp>
      <p:sp>
        <p:nvSpPr>
          <p:cNvPr id="15" name="Text 12"/>
          <p:cNvSpPr/>
          <p:nvPr/>
        </p:nvSpPr>
        <p:spPr>
          <a:xfrm>
            <a:off x="8641080" y="1636776"/>
            <a:ext cx="1426464" cy="210312"/>
          </a:xfrm>
          <a:prstGeom prst="rect">
            <a:avLst/>
          </a:prstGeom>
          <a:noFill/>
        </p:spPr>
        <p:txBody>
          <a:bodyPr wrap="square" lIns="0" tIns="0" rIns="0" bIns="0" rtlCol="0" anchor="ctr">
            <a:normAutofit/>
          </a:bodyPr>
          <a:lstStyle/>
          <a:p>
            <a:pPr marL="0" indent="0" algn="ctr">
              <a:buNone/>
            </a:pPr>
            <a:r>
              <a:rPr lang="en-US" sz="960" b="1" dirty="0">
                <a:solidFill>
                  <a:srgbClr val="28734B"/>
                </a:solidFill>
                <a:latin typeface="Arial" panose="020B0604020202020204" pitchFamily="34" charset="0"/>
                <a:ea typeface="Arial" panose="020B0604020202020204" pitchFamily="34" charset="-122"/>
                <a:cs typeface="Arial" panose="020B0604020202020204" pitchFamily="34" charset="-120"/>
              </a:rPr>
              <a:t>PASS</a:t>
            </a:r>
            <a:endParaRPr lang="en-US" sz="960" dirty="0"/>
          </a:p>
        </p:txBody>
      </p:sp>
      <p:sp>
        <p:nvSpPr>
          <p:cNvPr id="16" name="Shape 13"/>
          <p:cNvSpPr/>
          <p:nvPr/>
        </p:nvSpPr>
        <p:spPr>
          <a:xfrm>
            <a:off x="585216" y="1961388"/>
            <a:ext cx="11000232" cy="338328"/>
          </a:xfrm>
          <a:prstGeom prst="rect">
            <a:avLst/>
          </a:prstGeom>
          <a:solidFill>
            <a:srgbClr val="F7F9FC"/>
          </a:solidFill>
          <a:ln w="5715">
            <a:solidFill>
              <a:srgbClr val="E6EAF0"/>
            </a:solidFill>
            <a:prstDash val="solid"/>
          </a:ln>
        </p:spPr>
      </p:sp>
      <p:sp>
        <p:nvSpPr>
          <p:cNvPr id="17" name="Text 14"/>
          <p:cNvSpPr/>
          <p:nvPr/>
        </p:nvSpPr>
        <p:spPr>
          <a:xfrm>
            <a:off x="713232" y="2016252"/>
            <a:ext cx="310896" cy="201168"/>
          </a:xfrm>
          <a:prstGeom prst="rect">
            <a:avLst/>
          </a:prstGeom>
          <a:noFill/>
        </p:spPr>
        <p:txBody>
          <a:bodyPr wrap="square" lIns="0" tIns="0" rIns="0" bIns="0" rtlCol="0" anchor="ctr">
            <a:normAutofit/>
          </a:bodyPr>
          <a:lstStyle/>
          <a:p>
            <a:pPr marL="0" indent="0" algn="ctr">
              <a:buNone/>
            </a:pPr>
            <a:r>
              <a:rPr lang="en-US" sz="930" b="1" dirty="0">
                <a:solidFill>
                  <a:srgbClr val="D91F26"/>
                </a:solidFill>
                <a:latin typeface="Arial" panose="020B0604020202020204" pitchFamily="34" charset="0"/>
                <a:ea typeface="Arial" panose="020B0604020202020204" pitchFamily="34" charset="-122"/>
                <a:cs typeface="Arial" panose="020B0604020202020204" pitchFamily="34" charset="-120"/>
              </a:rPr>
              <a:t>02</a:t>
            </a:r>
            <a:endParaRPr lang="en-US" sz="930" dirty="0"/>
          </a:p>
        </p:txBody>
      </p:sp>
      <p:sp>
        <p:nvSpPr>
          <p:cNvPr id="18" name="Text 15"/>
          <p:cNvSpPr/>
          <p:nvPr/>
        </p:nvSpPr>
        <p:spPr>
          <a:xfrm>
            <a:off x="1097280" y="2007108"/>
            <a:ext cx="7086600" cy="210312"/>
          </a:xfrm>
          <a:prstGeom prst="rect">
            <a:avLst/>
          </a:prstGeom>
          <a:noFill/>
        </p:spPr>
        <p:txBody>
          <a:bodyPr wrap="square" lIns="0" tIns="0" rIns="0" bIns="0" rtlCol="0" anchor="ctr">
            <a:normAutofit/>
          </a:bodyPr>
          <a:lstStyle/>
          <a:p>
            <a:pPr marL="0" indent="0">
              <a:buNone/>
            </a:pPr>
            <a:r>
              <a:rPr lang="en-US" sz="1030" dirty="0">
                <a:solidFill>
                  <a:srgbClr val="202938"/>
                </a:solidFill>
                <a:latin typeface="Arial" panose="020B0604020202020204" pitchFamily="34" charset="0"/>
                <a:ea typeface="Arial" panose="020B0604020202020204" pitchFamily="34" charset="-122"/>
                <a:cs typeface="Arial" panose="020B0604020202020204" pitchFamily="34" charset="-120"/>
              </a:rPr>
              <a:t>Duplicate donor ID rejected</a:t>
            </a:r>
            <a:endParaRPr lang="en-US" sz="1030" dirty="0"/>
          </a:p>
        </p:txBody>
      </p:sp>
      <p:sp>
        <p:nvSpPr>
          <p:cNvPr id="19" name="Text 16"/>
          <p:cNvSpPr/>
          <p:nvPr/>
        </p:nvSpPr>
        <p:spPr>
          <a:xfrm>
            <a:off x="8641080" y="2007108"/>
            <a:ext cx="1426464" cy="210312"/>
          </a:xfrm>
          <a:prstGeom prst="rect">
            <a:avLst/>
          </a:prstGeom>
          <a:noFill/>
        </p:spPr>
        <p:txBody>
          <a:bodyPr wrap="square" lIns="0" tIns="0" rIns="0" bIns="0" rtlCol="0" anchor="ctr">
            <a:normAutofit/>
          </a:bodyPr>
          <a:lstStyle/>
          <a:p>
            <a:pPr marL="0" indent="0" algn="ctr">
              <a:buNone/>
            </a:pPr>
            <a:r>
              <a:rPr lang="en-US" sz="960" b="1" dirty="0">
                <a:solidFill>
                  <a:srgbClr val="28734B"/>
                </a:solidFill>
                <a:latin typeface="Arial" panose="020B0604020202020204" pitchFamily="34" charset="0"/>
                <a:ea typeface="Arial" panose="020B0604020202020204" pitchFamily="34" charset="-122"/>
                <a:cs typeface="Arial" panose="020B0604020202020204" pitchFamily="34" charset="-120"/>
              </a:rPr>
              <a:t>PASS</a:t>
            </a:r>
            <a:endParaRPr lang="en-US" sz="960" dirty="0"/>
          </a:p>
        </p:txBody>
      </p:sp>
      <p:sp>
        <p:nvSpPr>
          <p:cNvPr id="20" name="Shape 17"/>
          <p:cNvSpPr/>
          <p:nvPr/>
        </p:nvSpPr>
        <p:spPr>
          <a:xfrm>
            <a:off x="585216" y="2331720"/>
            <a:ext cx="11000232" cy="338328"/>
          </a:xfrm>
          <a:prstGeom prst="rect">
            <a:avLst/>
          </a:prstGeom>
          <a:solidFill>
            <a:srgbClr val="FFFFFF"/>
          </a:solidFill>
          <a:ln w="5715">
            <a:solidFill>
              <a:srgbClr val="E6EAF0"/>
            </a:solidFill>
            <a:prstDash val="solid"/>
          </a:ln>
        </p:spPr>
      </p:sp>
      <p:sp>
        <p:nvSpPr>
          <p:cNvPr id="21" name="Text 18"/>
          <p:cNvSpPr/>
          <p:nvPr/>
        </p:nvSpPr>
        <p:spPr>
          <a:xfrm>
            <a:off x="713232" y="2386584"/>
            <a:ext cx="310896" cy="201168"/>
          </a:xfrm>
          <a:prstGeom prst="rect">
            <a:avLst/>
          </a:prstGeom>
          <a:noFill/>
        </p:spPr>
        <p:txBody>
          <a:bodyPr wrap="square" lIns="0" tIns="0" rIns="0" bIns="0" rtlCol="0" anchor="ctr">
            <a:normAutofit/>
          </a:bodyPr>
          <a:lstStyle/>
          <a:p>
            <a:pPr marL="0" indent="0" algn="ctr">
              <a:buNone/>
            </a:pPr>
            <a:r>
              <a:rPr lang="en-US" sz="930" b="1" dirty="0">
                <a:solidFill>
                  <a:srgbClr val="D91F26"/>
                </a:solidFill>
                <a:latin typeface="Arial" panose="020B0604020202020204" pitchFamily="34" charset="0"/>
                <a:ea typeface="Arial" panose="020B0604020202020204" pitchFamily="34" charset="-122"/>
                <a:cs typeface="Arial" panose="020B0604020202020204" pitchFamily="34" charset="-120"/>
              </a:rPr>
              <a:t>03</a:t>
            </a:r>
            <a:endParaRPr lang="en-US" sz="930" dirty="0"/>
          </a:p>
        </p:txBody>
      </p:sp>
      <p:sp>
        <p:nvSpPr>
          <p:cNvPr id="22" name="Text 19"/>
          <p:cNvSpPr/>
          <p:nvPr/>
        </p:nvSpPr>
        <p:spPr>
          <a:xfrm>
            <a:off x="1097280" y="2377440"/>
            <a:ext cx="7086600" cy="210312"/>
          </a:xfrm>
          <a:prstGeom prst="rect">
            <a:avLst/>
          </a:prstGeom>
          <a:noFill/>
        </p:spPr>
        <p:txBody>
          <a:bodyPr wrap="square" lIns="0" tIns="0" rIns="0" bIns="0" rtlCol="0" anchor="ctr">
            <a:normAutofit/>
          </a:bodyPr>
          <a:lstStyle/>
          <a:p>
            <a:pPr marL="0" indent="0">
              <a:buNone/>
            </a:pPr>
            <a:r>
              <a:rPr lang="en-US" sz="1030" dirty="0">
                <a:solidFill>
                  <a:srgbClr val="202938"/>
                </a:solidFill>
                <a:latin typeface="Arial" panose="020B0604020202020204" pitchFamily="34" charset="0"/>
                <a:ea typeface="Arial" panose="020B0604020202020204" pitchFamily="34" charset="-122"/>
                <a:cs typeface="Arial" panose="020B0604020202020204" pitchFamily="34" charset="-120"/>
              </a:rPr>
              <a:t>Invalid blood group rejected</a:t>
            </a:r>
            <a:endParaRPr lang="en-US" sz="1030" dirty="0"/>
          </a:p>
        </p:txBody>
      </p:sp>
      <p:sp>
        <p:nvSpPr>
          <p:cNvPr id="23" name="Text 20"/>
          <p:cNvSpPr/>
          <p:nvPr/>
        </p:nvSpPr>
        <p:spPr>
          <a:xfrm>
            <a:off x="8641080" y="2377440"/>
            <a:ext cx="1426464" cy="210312"/>
          </a:xfrm>
          <a:prstGeom prst="rect">
            <a:avLst/>
          </a:prstGeom>
          <a:noFill/>
        </p:spPr>
        <p:txBody>
          <a:bodyPr wrap="square" lIns="0" tIns="0" rIns="0" bIns="0" rtlCol="0" anchor="ctr">
            <a:normAutofit/>
          </a:bodyPr>
          <a:lstStyle/>
          <a:p>
            <a:pPr marL="0" indent="0" algn="ctr">
              <a:buNone/>
            </a:pPr>
            <a:r>
              <a:rPr lang="en-US" sz="960" b="1" dirty="0">
                <a:solidFill>
                  <a:srgbClr val="28734B"/>
                </a:solidFill>
                <a:latin typeface="Arial" panose="020B0604020202020204" pitchFamily="34" charset="0"/>
                <a:ea typeface="Arial" panose="020B0604020202020204" pitchFamily="34" charset="-122"/>
                <a:cs typeface="Arial" panose="020B0604020202020204" pitchFamily="34" charset="-120"/>
              </a:rPr>
              <a:t>PASS</a:t>
            </a:r>
            <a:endParaRPr lang="en-US" sz="960" dirty="0"/>
          </a:p>
        </p:txBody>
      </p:sp>
      <p:sp>
        <p:nvSpPr>
          <p:cNvPr id="24" name="Shape 21"/>
          <p:cNvSpPr/>
          <p:nvPr/>
        </p:nvSpPr>
        <p:spPr>
          <a:xfrm>
            <a:off x="585216" y="2702052"/>
            <a:ext cx="11000232" cy="338328"/>
          </a:xfrm>
          <a:prstGeom prst="rect">
            <a:avLst/>
          </a:prstGeom>
          <a:solidFill>
            <a:srgbClr val="F7F9FC"/>
          </a:solidFill>
          <a:ln w="5715">
            <a:solidFill>
              <a:srgbClr val="E6EAF0"/>
            </a:solidFill>
            <a:prstDash val="solid"/>
          </a:ln>
        </p:spPr>
      </p:sp>
      <p:sp>
        <p:nvSpPr>
          <p:cNvPr id="25" name="Text 22"/>
          <p:cNvSpPr/>
          <p:nvPr/>
        </p:nvSpPr>
        <p:spPr>
          <a:xfrm>
            <a:off x="713232" y="2756916"/>
            <a:ext cx="310896" cy="201168"/>
          </a:xfrm>
          <a:prstGeom prst="rect">
            <a:avLst/>
          </a:prstGeom>
          <a:noFill/>
        </p:spPr>
        <p:txBody>
          <a:bodyPr wrap="square" lIns="0" tIns="0" rIns="0" bIns="0" rtlCol="0" anchor="ctr">
            <a:normAutofit/>
          </a:bodyPr>
          <a:lstStyle/>
          <a:p>
            <a:pPr marL="0" indent="0" algn="ctr">
              <a:buNone/>
            </a:pPr>
            <a:r>
              <a:rPr lang="en-US" sz="930" b="1" dirty="0">
                <a:solidFill>
                  <a:srgbClr val="D91F26"/>
                </a:solidFill>
                <a:latin typeface="Arial" panose="020B0604020202020204" pitchFamily="34" charset="0"/>
                <a:ea typeface="Arial" panose="020B0604020202020204" pitchFamily="34" charset="-122"/>
                <a:cs typeface="Arial" panose="020B0604020202020204" pitchFamily="34" charset="-120"/>
              </a:rPr>
              <a:t>04</a:t>
            </a:r>
            <a:endParaRPr lang="en-US" sz="930" dirty="0"/>
          </a:p>
        </p:txBody>
      </p:sp>
      <p:sp>
        <p:nvSpPr>
          <p:cNvPr id="26" name="Text 23"/>
          <p:cNvSpPr/>
          <p:nvPr/>
        </p:nvSpPr>
        <p:spPr>
          <a:xfrm>
            <a:off x="1097280" y="2747772"/>
            <a:ext cx="7086600" cy="210312"/>
          </a:xfrm>
          <a:prstGeom prst="rect">
            <a:avLst/>
          </a:prstGeom>
          <a:noFill/>
        </p:spPr>
        <p:txBody>
          <a:bodyPr wrap="square" lIns="0" tIns="0" rIns="0" bIns="0" rtlCol="0" anchor="ctr">
            <a:normAutofit/>
          </a:bodyPr>
          <a:lstStyle/>
          <a:p>
            <a:pPr marL="0" indent="0">
              <a:buNone/>
            </a:pPr>
            <a:r>
              <a:rPr lang="en-US" sz="1030" dirty="0">
                <a:solidFill>
                  <a:srgbClr val="202938"/>
                </a:solidFill>
                <a:latin typeface="Arial" panose="020B0604020202020204" pitchFamily="34" charset="0"/>
                <a:ea typeface="Arial" panose="020B0604020202020204" pitchFamily="34" charset="-122"/>
                <a:cs typeface="Arial" panose="020B0604020202020204" pitchFamily="34" charset="-120"/>
              </a:rPr>
              <a:t>Malformed phone number rejected</a:t>
            </a:r>
            <a:endParaRPr lang="en-US" sz="1030" dirty="0"/>
          </a:p>
        </p:txBody>
      </p:sp>
      <p:sp>
        <p:nvSpPr>
          <p:cNvPr id="27" name="Text 24"/>
          <p:cNvSpPr/>
          <p:nvPr/>
        </p:nvSpPr>
        <p:spPr>
          <a:xfrm>
            <a:off x="8641080" y="2747772"/>
            <a:ext cx="1426464" cy="210312"/>
          </a:xfrm>
          <a:prstGeom prst="rect">
            <a:avLst/>
          </a:prstGeom>
          <a:noFill/>
        </p:spPr>
        <p:txBody>
          <a:bodyPr wrap="square" lIns="0" tIns="0" rIns="0" bIns="0" rtlCol="0" anchor="ctr">
            <a:normAutofit/>
          </a:bodyPr>
          <a:lstStyle/>
          <a:p>
            <a:pPr marL="0" indent="0" algn="ctr">
              <a:buNone/>
            </a:pPr>
            <a:r>
              <a:rPr lang="en-US" sz="960" b="1" dirty="0">
                <a:solidFill>
                  <a:srgbClr val="28734B"/>
                </a:solidFill>
                <a:latin typeface="Arial" panose="020B0604020202020204" pitchFamily="34" charset="0"/>
                <a:ea typeface="Arial" panose="020B0604020202020204" pitchFamily="34" charset="-122"/>
                <a:cs typeface="Arial" panose="020B0604020202020204" pitchFamily="34" charset="-120"/>
              </a:rPr>
              <a:t>PASS</a:t>
            </a:r>
            <a:endParaRPr lang="en-US" sz="960" dirty="0"/>
          </a:p>
        </p:txBody>
      </p:sp>
      <p:sp>
        <p:nvSpPr>
          <p:cNvPr id="28" name="Shape 25"/>
          <p:cNvSpPr/>
          <p:nvPr/>
        </p:nvSpPr>
        <p:spPr>
          <a:xfrm>
            <a:off x="585216" y="3072384"/>
            <a:ext cx="11000232" cy="338328"/>
          </a:xfrm>
          <a:prstGeom prst="rect">
            <a:avLst/>
          </a:prstGeom>
          <a:solidFill>
            <a:srgbClr val="FFFFFF"/>
          </a:solidFill>
          <a:ln w="5715">
            <a:solidFill>
              <a:srgbClr val="E6EAF0"/>
            </a:solidFill>
            <a:prstDash val="solid"/>
          </a:ln>
        </p:spPr>
      </p:sp>
      <p:sp>
        <p:nvSpPr>
          <p:cNvPr id="29" name="Text 26"/>
          <p:cNvSpPr/>
          <p:nvPr/>
        </p:nvSpPr>
        <p:spPr>
          <a:xfrm>
            <a:off x="713232" y="3127248"/>
            <a:ext cx="310896" cy="201168"/>
          </a:xfrm>
          <a:prstGeom prst="rect">
            <a:avLst/>
          </a:prstGeom>
          <a:noFill/>
        </p:spPr>
        <p:txBody>
          <a:bodyPr wrap="square" lIns="0" tIns="0" rIns="0" bIns="0" rtlCol="0" anchor="ctr">
            <a:normAutofit/>
          </a:bodyPr>
          <a:lstStyle/>
          <a:p>
            <a:pPr marL="0" indent="0" algn="ctr">
              <a:buNone/>
            </a:pPr>
            <a:r>
              <a:rPr lang="en-US" sz="930" b="1" dirty="0">
                <a:solidFill>
                  <a:srgbClr val="D91F26"/>
                </a:solidFill>
                <a:latin typeface="Arial" panose="020B0604020202020204" pitchFamily="34" charset="0"/>
                <a:ea typeface="Arial" panose="020B0604020202020204" pitchFamily="34" charset="-122"/>
                <a:cs typeface="Arial" panose="020B0604020202020204" pitchFamily="34" charset="-120"/>
              </a:rPr>
              <a:t>05</a:t>
            </a:r>
            <a:endParaRPr lang="en-US" sz="930" dirty="0"/>
          </a:p>
        </p:txBody>
      </p:sp>
      <p:sp>
        <p:nvSpPr>
          <p:cNvPr id="30" name="Text 27"/>
          <p:cNvSpPr/>
          <p:nvPr/>
        </p:nvSpPr>
        <p:spPr>
          <a:xfrm>
            <a:off x="1097280" y="3118104"/>
            <a:ext cx="7086600" cy="210312"/>
          </a:xfrm>
          <a:prstGeom prst="rect">
            <a:avLst/>
          </a:prstGeom>
          <a:noFill/>
        </p:spPr>
        <p:txBody>
          <a:bodyPr wrap="square" lIns="0" tIns="0" rIns="0" bIns="0" rtlCol="0" anchor="ctr">
            <a:normAutofit/>
          </a:bodyPr>
          <a:lstStyle/>
          <a:p>
            <a:pPr marL="0" indent="0">
              <a:buNone/>
            </a:pPr>
            <a:r>
              <a:rPr lang="en-US" sz="1030" dirty="0">
                <a:solidFill>
                  <a:srgbClr val="202938"/>
                </a:solidFill>
                <a:latin typeface="Arial" panose="020B0604020202020204" pitchFamily="34" charset="0"/>
                <a:ea typeface="Arial" panose="020B0604020202020204" pitchFamily="34" charset="-122"/>
                <a:cs typeface="Arial" panose="020B0604020202020204" pitchFamily="34" charset="-120"/>
              </a:rPr>
              <a:t>Compatible stock issue succeeds</a:t>
            </a:r>
            <a:endParaRPr lang="en-US" sz="1030" dirty="0"/>
          </a:p>
        </p:txBody>
      </p:sp>
      <p:sp>
        <p:nvSpPr>
          <p:cNvPr id="31" name="Text 28"/>
          <p:cNvSpPr/>
          <p:nvPr/>
        </p:nvSpPr>
        <p:spPr>
          <a:xfrm>
            <a:off x="8641080" y="3118104"/>
            <a:ext cx="1426464" cy="210312"/>
          </a:xfrm>
          <a:prstGeom prst="rect">
            <a:avLst/>
          </a:prstGeom>
          <a:noFill/>
        </p:spPr>
        <p:txBody>
          <a:bodyPr wrap="square" lIns="0" tIns="0" rIns="0" bIns="0" rtlCol="0" anchor="ctr">
            <a:normAutofit/>
          </a:bodyPr>
          <a:lstStyle/>
          <a:p>
            <a:pPr marL="0" indent="0" algn="ctr">
              <a:buNone/>
            </a:pPr>
            <a:r>
              <a:rPr lang="en-US" sz="960" b="1" dirty="0">
                <a:solidFill>
                  <a:srgbClr val="28734B"/>
                </a:solidFill>
                <a:latin typeface="Arial" panose="020B0604020202020204" pitchFamily="34" charset="0"/>
                <a:ea typeface="Arial" panose="020B0604020202020204" pitchFamily="34" charset="-122"/>
                <a:cs typeface="Arial" panose="020B0604020202020204" pitchFamily="34" charset="-120"/>
              </a:rPr>
              <a:t>PASS</a:t>
            </a:r>
            <a:endParaRPr lang="en-US" sz="960" dirty="0"/>
          </a:p>
        </p:txBody>
      </p:sp>
      <p:sp>
        <p:nvSpPr>
          <p:cNvPr id="32" name="Shape 29"/>
          <p:cNvSpPr/>
          <p:nvPr/>
        </p:nvSpPr>
        <p:spPr>
          <a:xfrm>
            <a:off x="585216" y="3442716"/>
            <a:ext cx="11000232" cy="338328"/>
          </a:xfrm>
          <a:prstGeom prst="rect">
            <a:avLst/>
          </a:prstGeom>
          <a:solidFill>
            <a:srgbClr val="F7F9FC"/>
          </a:solidFill>
          <a:ln w="5715">
            <a:solidFill>
              <a:srgbClr val="E6EAF0"/>
            </a:solidFill>
            <a:prstDash val="solid"/>
          </a:ln>
        </p:spPr>
      </p:sp>
      <p:sp>
        <p:nvSpPr>
          <p:cNvPr id="33" name="Text 30"/>
          <p:cNvSpPr/>
          <p:nvPr/>
        </p:nvSpPr>
        <p:spPr>
          <a:xfrm>
            <a:off x="713232" y="3497580"/>
            <a:ext cx="310896" cy="201168"/>
          </a:xfrm>
          <a:prstGeom prst="rect">
            <a:avLst/>
          </a:prstGeom>
          <a:noFill/>
        </p:spPr>
        <p:txBody>
          <a:bodyPr wrap="square" lIns="0" tIns="0" rIns="0" bIns="0" rtlCol="0" anchor="ctr">
            <a:normAutofit/>
          </a:bodyPr>
          <a:lstStyle/>
          <a:p>
            <a:pPr marL="0" indent="0" algn="ctr">
              <a:buNone/>
            </a:pPr>
            <a:r>
              <a:rPr lang="en-US" sz="930" b="1" dirty="0">
                <a:solidFill>
                  <a:srgbClr val="D91F26"/>
                </a:solidFill>
                <a:latin typeface="Arial" panose="020B0604020202020204" pitchFamily="34" charset="0"/>
                <a:ea typeface="Arial" panose="020B0604020202020204" pitchFamily="34" charset="-122"/>
                <a:cs typeface="Arial" panose="020B0604020202020204" pitchFamily="34" charset="-120"/>
              </a:rPr>
              <a:t>06</a:t>
            </a:r>
            <a:endParaRPr lang="en-US" sz="930" dirty="0"/>
          </a:p>
        </p:txBody>
      </p:sp>
      <p:sp>
        <p:nvSpPr>
          <p:cNvPr id="34" name="Text 31"/>
          <p:cNvSpPr/>
          <p:nvPr/>
        </p:nvSpPr>
        <p:spPr>
          <a:xfrm>
            <a:off x="1097280" y="3488436"/>
            <a:ext cx="7086600" cy="210312"/>
          </a:xfrm>
          <a:prstGeom prst="rect">
            <a:avLst/>
          </a:prstGeom>
          <a:noFill/>
        </p:spPr>
        <p:txBody>
          <a:bodyPr wrap="square" lIns="0" tIns="0" rIns="0" bIns="0" rtlCol="0" anchor="ctr">
            <a:normAutofit/>
          </a:bodyPr>
          <a:lstStyle/>
          <a:p>
            <a:pPr marL="0" indent="0">
              <a:buNone/>
            </a:pPr>
            <a:r>
              <a:rPr lang="en-US" sz="1030" dirty="0">
                <a:solidFill>
                  <a:srgbClr val="202938"/>
                </a:solidFill>
                <a:latin typeface="Arial" panose="020B0604020202020204" pitchFamily="34" charset="0"/>
                <a:ea typeface="Arial" panose="020B0604020202020204" pitchFamily="34" charset="-122"/>
                <a:cs typeface="Arial" panose="020B0604020202020204" pitchFamily="34" charset="-120"/>
              </a:rPr>
              <a:t>Insufficient stock: no partial deduction</a:t>
            </a:r>
            <a:endParaRPr lang="en-US" sz="1030" dirty="0"/>
          </a:p>
        </p:txBody>
      </p:sp>
      <p:sp>
        <p:nvSpPr>
          <p:cNvPr id="35" name="Text 32"/>
          <p:cNvSpPr/>
          <p:nvPr/>
        </p:nvSpPr>
        <p:spPr>
          <a:xfrm>
            <a:off x="8641080" y="3488436"/>
            <a:ext cx="1426464" cy="210312"/>
          </a:xfrm>
          <a:prstGeom prst="rect">
            <a:avLst/>
          </a:prstGeom>
          <a:noFill/>
        </p:spPr>
        <p:txBody>
          <a:bodyPr wrap="square" lIns="0" tIns="0" rIns="0" bIns="0" rtlCol="0" anchor="ctr">
            <a:normAutofit/>
          </a:bodyPr>
          <a:lstStyle/>
          <a:p>
            <a:pPr marL="0" indent="0" algn="ctr">
              <a:buNone/>
            </a:pPr>
            <a:r>
              <a:rPr lang="en-US" sz="960" b="1" dirty="0">
                <a:solidFill>
                  <a:srgbClr val="28734B"/>
                </a:solidFill>
                <a:latin typeface="Arial" panose="020B0604020202020204" pitchFamily="34" charset="0"/>
                <a:ea typeface="Arial" panose="020B0604020202020204" pitchFamily="34" charset="-122"/>
                <a:cs typeface="Arial" panose="020B0604020202020204" pitchFamily="34" charset="-120"/>
              </a:rPr>
              <a:t>PASS</a:t>
            </a:r>
            <a:endParaRPr lang="en-US" sz="960" dirty="0"/>
          </a:p>
        </p:txBody>
      </p:sp>
      <p:sp>
        <p:nvSpPr>
          <p:cNvPr id="36" name="Shape 33"/>
          <p:cNvSpPr/>
          <p:nvPr/>
        </p:nvSpPr>
        <p:spPr>
          <a:xfrm>
            <a:off x="585216" y="3813048"/>
            <a:ext cx="11000232" cy="338328"/>
          </a:xfrm>
          <a:prstGeom prst="rect">
            <a:avLst/>
          </a:prstGeom>
          <a:solidFill>
            <a:srgbClr val="FFFFFF"/>
          </a:solidFill>
          <a:ln w="5715">
            <a:solidFill>
              <a:srgbClr val="E6EAF0"/>
            </a:solidFill>
            <a:prstDash val="solid"/>
          </a:ln>
        </p:spPr>
      </p:sp>
      <p:sp>
        <p:nvSpPr>
          <p:cNvPr id="37" name="Text 34"/>
          <p:cNvSpPr/>
          <p:nvPr/>
        </p:nvSpPr>
        <p:spPr>
          <a:xfrm>
            <a:off x="713232" y="3867912"/>
            <a:ext cx="310896" cy="201168"/>
          </a:xfrm>
          <a:prstGeom prst="rect">
            <a:avLst/>
          </a:prstGeom>
          <a:noFill/>
        </p:spPr>
        <p:txBody>
          <a:bodyPr wrap="square" lIns="0" tIns="0" rIns="0" bIns="0" rtlCol="0" anchor="ctr">
            <a:normAutofit/>
          </a:bodyPr>
          <a:lstStyle/>
          <a:p>
            <a:pPr marL="0" indent="0" algn="ctr">
              <a:buNone/>
            </a:pPr>
            <a:r>
              <a:rPr lang="en-US" sz="930" b="1" dirty="0">
                <a:solidFill>
                  <a:srgbClr val="D91F26"/>
                </a:solidFill>
                <a:latin typeface="Arial" panose="020B0604020202020204" pitchFamily="34" charset="0"/>
                <a:ea typeface="Arial" panose="020B0604020202020204" pitchFamily="34" charset="-122"/>
                <a:cs typeface="Arial" panose="020B0604020202020204" pitchFamily="34" charset="-120"/>
              </a:rPr>
              <a:t>07</a:t>
            </a:r>
            <a:endParaRPr lang="en-US" sz="930" dirty="0"/>
          </a:p>
        </p:txBody>
      </p:sp>
      <p:sp>
        <p:nvSpPr>
          <p:cNvPr id="38" name="Text 35"/>
          <p:cNvSpPr/>
          <p:nvPr/>
        </p:nvSpPr>
        <p:spPr>
          <a:xfrm>
            <a:off x="1097280" y="3858768"/>
            <a:ext cx="7086600" cy="210312"/>
          </a:xfrm>
          <a:prstGeom prst="rect">
            <a:avLst/>
          </a:prstGeom>
          <a:noFill/>
        </p:spPr>
        <p:txBody>
          <a:bodyPr wrap="square" lIns="0" tIns="0" rIns="0" bIns="0" rtlCol="0" anchor="ctr">
            <a:normAutofit/>
          </a:bodyPr>
          <a:lstStyle/>
          <a:p>
            <a:pPr marL="0" indent="0">
              <a:buNone/>
            </a:pPr>
            <a:r>
              <a:rPr lang="en-US" sz="1030" dirty="0">
                <a:solidFill>
                  <a:srgbClr val="202938"/>
                </a:solidFill>
                <a:latin typeface="Arial" panose="020B0604020202020204" pitchFamily="34" charset="0"/>
                <a:ea typeface="Arial" panose="020B0604020202020204" pitchFamily="34" charset="-122"/>
                <a:cs typeface="Arial" panose="020B0604020202020204" pitchFamily="34" charset="-120"/>
              </a:rPr>
              <a:t>Expired stock excluded from candidates</a:t>
            </a:r>
            <a:endParaRPr lang="en-US" sz="1030" dirty="0"/>
          </a:p>
        </p:txBody>
      </p:sp>
      <p:sp>
        <p:nvSpPr>
          <p:cNvPr id="39" name="Text 36"/>
          <p:cNvSpPr/>
          <p:nvPr/>
        </p:nvSpPr>
        <p:spPr>
          <a:xfrm>
            <a:off x="8641080" y="3858768"/>
            <a:ext cx="1426464" cy="210312"/>
          </a:xfrm>
          <a:prstGeom prst="rect">
            <a:avLst/>
          </a:prstGeom>
          <a:noFill/>
        </p:spPr>
        <p:txBody>
          <a:bodyPr wrap="square" lIns="0" tIns="0" rIns="0" bIns="0" rtlCol="0" anchor="ctr">
            <a:normAutofit/>
          </a:bodyPr>
          <a:lstStyle/>
          <a:p>
            <a:pPr marL="0" indent="0" algn="ctr">
              <a:buNone/>
            </a:pPr>
            <a:r>
              <a:rPr lang="en-US" sz="960" b="1" dirty="0">
                <a:solidFill>
                  <a:srgbClr val="28734B"/>
                </a:solidFill>
                <a:latin typeface="Arial" panose="020B0604020202020204" pitchFamily="34" charset="0"/>
                <a:ea typeface="Arial" panose="020B0604020202020204" pitchFamily="34" charset="-122"/>
                <a:cs typeface="Arial" panose="020B0604020202020204" pitchFamily="34" charset="-120"/>
              </a:rPr>
              <a:t>PASS</a:t>
            </a:r>
            <a:endParaRPr lang="en-US" sz="960" dirty="0"/>
          </a:p>
        </p:txBody>
      </p:sp>
      <p:sp>
        <p:nvSpPr>
          <p:cNvPr id="40" name="Shape 37"/>
          <p:cNvSpPr/>
          <p:nvPr/>
        </p:nvSpPr>
        <p:spPr>
          <a:xfrm>
            <a:off x="585216" y="4183380"/>
            <a:ext cx="11000232" cy="338328"/>
          </a:xfrm>
          <a:prstGeom prst="rect">
            <a:avLst/>
          </a:prstGeom>
          <a:solidFill>
            <a:srgbClr val="F7F9FC"/>
          </a:solidFill>
          <a:ln w="5715">
            <a:solidFill>
              <a:srgbClr val="E6EAF0"/>
            </a:solidFill>
            <a:prstDash val="solid"/>
          </a:ln>
        </p:spPr>
      </p:sp>
      <p:sp>
        <p:nvSpPr>
          <p:cNvPr id="41" name="Text 38"/>
          <p:cNvSpPr/>
          <p:nvPr/>
        </p:nvSpPr>
        <p:spPr>
          <a:xfrm>
            <a:off x="713232" y="4238244"/>
            <a:ext cx="310896" cy="201168"/>
          </a:xfrm>
          <a:prstGeom prst="rect">
            <a:avLst/>
          </a:prstGeom>
          <a:noFill/>
        </p:spPr>
        <p:txBody>
          <a:bodyPr wrap="square" lIns="0" tIns="0" rIns="0" bIns="0" rtlCol="0" anchor="ctr">
            <a:normAutofit/>
          </a:bodyPr>
          <a:lstStyle/>
          <a:p>
            <a:pPr marL="0" indent="0" algn="ctr">
              <a:buNone/>
            </a:pPr>
            <a:r>
              <a:rPr lang="en-US" sz="930" b="1" dirty="0">
                <a:solidFill>
                  <a:srgbClr val="D91F26"/>
                </a:solidFill>
                <a:latin typeface="Arial" panose="020B0604020202020204" pitchFamily="34" charset="0"/>
                <a:ea typeface="Arial" panose="020B0604020202020204" pitchFamily="34" charset="-122"/>
                <a:cs typeface="Arial" panose="020B0604020202020204" pitchFamily="34" charset="-120"/>
              </a:rPr>
              <a:t>08</a:t>
            </a:r>
            <a:endParaRPr lang="en-US" sz="930" dirty="0"/>
          </a:p>
        </p:txBody>
      </p:sp>
      <p:sp>
        <p:nvSpPr>
          <p:cNvPr id="42" name="Text 39"/>
          <p:cNvSpPr/>
          <p:nvPr/>
        </p:nvSpPr>
        <p:spPr>
          <a:xfrm>
            <a:off x="1097280" y="4229100"/>
            <a:ext cx="7086600" cy="210312"/>
          </a:xfrm>
          <a:prstGeom prst="rect">
            <a:avLst/>
          </a:prstGeom>
          <a:noFill/>
        </p:spPr>
        <p:txBody>
          <a:bodyPr wrap="square" lIns="0" tIns="0" rIns="0" bIns="0" rtlCol="0" anchor="ctr">
            <a:normAutofit/>
          </a:bodyPr>
          <a:lstStyle/>
          <a:p>
            <a:pPr marL="0" indent="0">
              <a:buNone/>
            </a:pPr>
            <a:r>
              <a:rPr lang="en-US" sz="1030" dirty="0">
                <a:solidFill>
                  <a:srgbClr val="202938"/>
                </a:solidFill>
                <a:latin typeface="Arial" panose="020B0604020202020204" pitchFamily="34" charset="0"/>
                <a:ea typeface="Arial" panose="020B0604020202020204" pitchFamily="34" charset="-122"/>
                <a:cs typeface="Arial" panose="020B0604020202020204" pitchFamily="34" charset="-120"/>
              </a:rPr>
              <a:t>Donation blocked if fewer than 56 days elapsed</a:t>
            </a:r>
            <a:endParaRPr lang="en-US" sz="1030" dirty="0"/>
          </a:p>
        </p:txBody>
      </p:sp>
      <p:sp>
        <p:nvSpPr>
          <p:cNvPr id="43" name="Text 40"/>
          <p:cNvSpPr/>
          <p:nvPr/>
        </p:nvSpPr>
        <p:spPr>
          <a:xfrm>
            <a:off x="8641080" y="4229100"/>
            <a:ext cx="1426464" cy="210312"/>
          </a:xfrm>
          <a:prstGeom prst="rect">
            <a:avLst/>
          </a:prstGeom>
          <a:noFill/>
        </p:spPr>
        <p:txBody>
          <a:bodyPr wrap="square" lIns="0" tIns="0" rIns="0" bIns="0" rtlCol="0" anchor="ctr">
            <a:normAutofit/>
          </a:bodyPr>
          <a:lstStyle/>
          <a:p>
            <a:pPr marL="0" indent="0" algn="ctr">
              <a:buNone/>
            </a:pPr>
            <a:r>
              <a:rPr lang="en-US" sz="960" b="1" dirty="0">
                <a:solidFill>
                  <a:srgbClr val="28734B"/>
                </a:solidFill>
                <a:latin typeface="Arial" panose="020B0604020202020204" pitchFamily="34" charset="0"/>
                <a:ea typeface="Arial" panose="020B0604020202020204" pitchFamily="34" charset="-122"/>
                <a:cs typeface="Arial" panose="020B0604020202020204" pitchFamily="34" charset="-120"/>
              </a:rPr>
              <a:t>PASS</a:t>
            </a:r>
            <a:endParaRPr lang="en-US" sz="960" dirty="0"/>
          </a:p>
        </p:txBody>
      </p:sp>
      <p:sp>
        <p:nvSpPr>
          <p:cNvPr id="44" name="Shape 41"/>
          <p:cNvSpPr/>
          <p:nvPr/>
        </p:nvSpPr>
        <p:spPr>
          <a:xfrm>
            <a:off x="585216" y="4553712"/>
            <a:ext cx="11000232" cy="338328"/>
          </a:xfrm>
          <a:prstGeom prst="rect">
            <a:avLst/>
          </a:prstGeom>
          <a:solidFill>
            <a:srgbClr val="FFFFFF"/>
          </a:solidFill>
          <a:ln w="5715">
            <a:solidFill>
              <a:srgbClr val="E6EAF0"/>
            </a:solidFill>
            <a:prstDash val="solid"/>
          </a:ln>
        </p:spPr>
      </p:sp>
      <p:sp>
        <p:nvSpPr>
          <p:cNvPr id="45" name="Text 42"/>
          <p:cNvSpPr/>
          <p:nvPr/>
        </p:nvSpPr>
        <p:spPr>
          <a:xfrm>
            <a:off x="713232" y="4608576"/>
            <a:ext cx="310896" cy="201168"/>
          </a:xfrm>
          <a:prstGeom prst="rect">
            <a:avLst/>
          </a:prstGeom>
          <a:noFill/>
        </p:spPr>
        <p:txBody>
          <a:bodyPr wrap="square" lIns="0" tIns="0" rIns="0" bIns="0" rtlCol="0" anchor="ctr">
            <a:normAutofit/>
          </a:bodyPr>
          <a:lstStyle/>
          <a:p>
            <a:pPr marL="0" indent="0" algn="ctr">
              <a:buNone/>
            </a:pPr>
            <a:r>
              <a:rPr lang="en-US" sz="930" b="1" dirty="0">
                <a:solidFill>
                  <a:srgbClr val="D91F26"/>
                </a:solidFill>
                <a:latin typeface="Arial" panose="020B0604020202020204" pitchFamily="34" charset="0"/>
                <a:ea typeface="Arial" panose="020B0604020202020204" pitchFamily="34" charset="-122"/>
                <a:cs typeface="Arial" panose="020B0604020202020204" pitchFamily="34" charset="-120"/>
              </a:rPr>
              <a:t>09</a:t>
            </a:r>
            <a:endParaRPr lang="en-US" sz="930" dirty="0"/>
          </a:p>
        </p:txBody>
      </p:sp>
      <p:sp>
        <p:nvSpPr>
          <p:cNvPr id="46" name="Text 43"/>
          <p:cNvSpPr/>
          <p:nvPr/>
        </p:nvSpPr>
        <p:spPr>
          <a:xfrm>
            <a:off x="1097280" y="4599432"/>
            <a:ext cx="7086600" cy="210312"/>
          </a:xfrm>
          <a:prstGeom prst="rect">
            <a:avLst/>
          </a:prstGeom>
          <a:noFill/>
        </p:spPr>
        <p:txBody>
          <a:bodyPr wrap="square" lIns="0" tIns="0" rIns="0" bIns="0" rtlCol="0" anchor="ctr">
            <a:normAutofit/>
          </a:bodyPr>
          <a:lstStyle/>
          <a:p>
            <a:pPr marL="0" indent="0">
              <a:buNone/>
            </a:pPr>
            <a:r>
              <a:rPr lang="en-US" sz="1030" dirty="0">
                <a:solidFill>
                  <a:srgbClr val="202938"/>
                </a:solidFill>
                <a:latin typeface="Arial" panose="020B0604020202020204" pitchFamily="34" charset="0"/>
                <a:ea typeface="Arial" panose="020B0604020202020204" pitchFamily="34" charset="-122"/>
                <a:cs typeface="Arial" panose="020B0604020202020204" pitchFamily="34" charset="-120"/>
              </a:rPr>
              <a:t>Successful donation increases inventory</a:t>
            </a:r>
            <a:endParaRPr lang="en-US" sz="1030" dirty="0"/>
          </a:p>
        </p:txBody>
      </p:sp>
      <p:sp>
        <p:nvSpPr>
          <p:cNvPr id="47" name="Text 44"/>
          <p:cNvSpPr/>
          <p:nvPr/>
        </p:nvSpPr>
        <p:spPr>
          <a:xfrm>
            <a:off x="8641080" y="4599432"/>
            <a:ext cx="1426464" cy="210312"/>
          </a:xfrm>
          <a:prstGeom prst="rect">
            <a:avLst/>
          </a:prstGeom>
          <a:noFill/>
        </p:spPr>
        <p:txBody>
          <a:bodyPr wrap="square" lIns="0" tIns="0" rIns="0" bIns="0" rtlCol="0" anchor="ctr">
            <a:normAutofit/>
          </a:bodyPr>
          <a:lstStyle/>
          <a:p>
            <a:pPr marL="0" indent="0" algn="ctr">
              <a:buNone/>
            </a:pPr>
            <a:r>
              <a:rPr lang="en-US" sz="960" b="1" dirty="0">
                <a:solidFill>
                  <a:srgbClr val="28734B"/>
                </a:solidFill>
                <a:latin typeface="Arial" panose="020B0604020202020204" pitchFamily="34" charset="0"/>
                <a:ea typeface="Arial" panose="020B0604020202020204" pitchFamily="34" charset="-122"/>
                <a:cs typeface="Arial" panose="020B0604020202020204" pitchFamily="34" charset="-120"/>
              </a:rPr>
              <a:t>PASS</a:t>
            </a:r>
            <a:endParaRPr lang="en-US" sz="960" dirty="0"/>
          </a:p>
        </p:txBody>
      </p:sp>
      <p:sp>
        <p:nvSpPr>
          <p:cNvPr id="48" name="Shape 45"/>
          <p:cNvSpPr/>
          <p:nvPr/>
        </p:nvSpPr>
        <p:spPr>
          <a:xfrm>
            <a:off x="585216" y="4924044"/>
            <a:ext cx="11000232" cy="338328"/>
          </a:xfrm>
          <a:prstGeom prst="rect">
            <a:avLst/>
          </a:prstGeom>
          <a:solidFill>
            <a:srgbClr val="F7F9FC"/>
          </a:solidFill>
          <a:ln w="5715">
            <a:solidFill>
              <a:srgbClr val="E6EAF0"/>
            </a:solidFill>
            <a:prstDash val="solid"/>
          </a:ln>
        </p:spPr>
      </p:sp>
      <p:sp>
        <p:nvSpPr>
          <p:cNvPr id="49" name="Text 46"/>
          <p:cNvSpPr/>
          <p:nvPr/>
        </p:nvSpPr>
        <p:spPr>
          <a:xfrm>
            <a:off x="713232" y="4978908"/>
            <a:ext cx="310896" cy="201168"/>
          </a:xfrm>
          <a:prstGeom prst="rect">
            <a:avLst/>
          </a:prstGeom>
          <a:noFill/>
        </p:spPr>
        <p:txBody>
          <a:bodyPr wrap="square" lIns="0" tIns="0" rIns="0" bIns="0" rtlCol="0" anchor="ctr">
            <a:normAutofit/>
          </a:bodyPr>
          <a:lstStyle/>
          <a:p>
            <a:pPr marL="0" indent="0" algn="ctr">
              <a:buNone/>
            </a:pPr>
            <a:r>
              <a:rPr lang="en-US" sz="930" b="1" dirty="0">
                <a:solidFill>
                  <a:srgbClr val="D91F26"/>
                </a:solidFill>
                <a:latin typeface="Arial" panose="020B0604020202020204" pitchFamily="34" charset="0"/>
                <a:ea typeface="Arial" panose="020B0604020202020204" pitchFamily="34" charset="-122"/>
                <a:cs typeface="Arial" panose="020B0604020202020204" pitchFamily="34" charset="-120"/>
              </a:rPr>
              <a:t>10</a:t>
            </a:r>
            <a:endParaRPr lang="en-US" sz="930" dirty="0"/>
          </a:p>
        </p:txBody>
      </p:sp>
      <p:sp>
        <p:nvSpPr>
          <p:cNvPr id="50" name="Text 47"/>
          <p:cNvSpPr/>
          <p:nvPr/>
        </p:nvSpPr>
        <p:spPr>
          <a:xfrm>
            <a:off x="1097280" y="4969764"/>
            <a:ext cx="7086600" cy="210312"/>
          </a:xfrm>
          <a:prstGeom prst="rect">
            <a:avLst/>
          </a:prstGeom>
          <a:noFill/>
        </p:spPr>
        <p:txBody>
          <a:bodyPr wrap="square" lIns="0" tIns="0" rIns="0" bIns="0" rtlCol="0" anchor="ctr">
            <a:normAutofit/>
          </a:bodyPr>
          <a:lstStyle/>
          <a:p>
            <a:pPr marL="0" indent="0">
              <a:buNone/>
            </a:pPr>
            <a:r>
              <a:rPr lang="en-US" sz="1030" dirty="0">
                <a:solidFill>
                  <a:srgbClr val="202938"/>
                </a:solidFill>
                <a:latin typeface="Arial" panose="020B0604020202020204" pitchFamily="34" charset="0"/>
                <a:ea typeface="Arial" panose="020B0604020202020204" pitchFamily="34" charset="-122"/>
                <a:cs typeface="Arial" panose="020B0604020202020204" pitchFamily="34" charset="-120"/>
              </a:rPr>
              <a:t>Malformed persistence line is skipped</a:t>
            </a:r>
            <a:endParaRPr lang="en-US" sz="1030" dirty="0"/>
          </a:p>
        </p:txBody>
      </p:sp>
      <p:sp>
        <p:nvSpPr>
          <p:cNvPr id="51" name="Text 48"/>
          <p:cNvSpPr/>
          <p:nvPr/>
        </p:nvSpPr>
        <p:spPr>
          <a:xfrm>
            <a:off x="8641080" y="4969764"/>
            <a:ext cx="1426464" cy="210312"/>
          </a:xfrm>
          <a:prstGeom prst="rect">
            <a:avLst/>
          </a:prstGeom>
          <a:noFill/>
        </p:spPr>
        <p:txBody>
          <a:bodyPr wrap="square" lIns="0" tIns="0" rIns="0" bIns="0" rtlCol="0" anchor="ctr">
            <a:normAutofit/>
          </a:bodyPr>
          <a:lstStyle/>
          <a:p>
            <a:pPr marL="0" indent="0" algn="ctr">
              <a:buNone/>
            </a:pPr>
            <a:r>
              <a:rPr lang="en-US" sz="960" b="1" dirty="0">
                <a:solidFill>
                  <a:srgbClr val="28734B"/>
                </a:solidFill>
                <a:latin typeface="Arial" panose="020B0604020202020204" pitchFamily="34" charset="0"/>
                <a:ea typeface="Arial" panose="020B0604020202020204" pitchFamily="34" charset="-122"/>
                <a:cs typeface="Arial" panose="020B0604020202020204" pitchFamily="34" charset="-120"/>
              </a:rPr>
              <a:t>PASS</a:t>
            </a:r>
            <a:endParaRPr lang="en-US" sz="960" dirty="0"/>
          </a:p>
        </p:txBody>
      </p:sp>
      <p:sp>
        <p:nvSpPr>
          <p:cNvPr id="52" name="Shape 49"/>
          <p:cNvSpPr/>
          <p:nvPr/>
        </p:nvSpPr>
        <p:spPr>
          <a:xfrm>
            <a:off x="585216" y="5294376"/>
            <a:ext cx="11000232" cy="338328"/>
          </a:xfrm>
          <a:prstGeom prst="rect">
            <a:avLst/>
          </a:prstGeom>
          <a:solidFill>
            <a:srgbClr val="FFFFFF"/>
          </a:solidFill>
          <a:ln w="5715">
            <a:solidFill>
              <a:srgbClr val="E6EAF0"/>
            </a:solidFill>
            <a:prstDash val="solid"/>
          </a:ln>
        </p:spPr>
      </p:sp>
      <p:sp>
        <p:nvSpPr>
          <p:cNvPr id="53" name="Text 50"/>
          <p:cNvSpPr/>
          <p:nvPr/>
        </p:nvSpPr>
        <p:spPr>
          <a:xfrm>
            <a:off x="713232" y="5349240"/>
            <a:ext cx="310896" cy="201168"/>
          </a:xfrm>
          <a:prstGeom prst="rect">
            <a:avLst/>
          </a:prstGeom>
          <a:noFill/>
        </p:spPr>
        <p:txBody>
          <a:bodyPr wrap="square" lIns="0" tIns="0" rIns="0" bIns="0" rtlCol="0" anchor="ctr">
            <a:normAutofit/>
          </a:bodyPr>
          <a:lstStyle/>
          <a:p>
            <a:pPr marL="0" indent="0" algn="ctr">
              <a:buNone/>
            </a:pPr>
            <a:r>
              <a:rPr lang="en-US" sz="930" b="1" dirty="0">
                <a:solidFill>
                  <a:srgbClr val="D91F26"/>
                </a:solidFill>
                <a:latin typeface="Arial" panose="020B0604020202020204" pitchFamily="34" charset="0"/>
                <a:ea typeface="Arial" panose="020B0604020202020204" pitchFamily="34" charset="-122"/>
                <a:cs typeface="Arial" panose="020B0604020202020204" pitchFamily="34" charset="-120"/>
              </a:rPr>
              <a:t>11</a:t>
            </a:r>
            <a:endParaRPr lang="en-US" sz="930" dirty="0"/>
          </a:p>
        </p:txBody>
      </p:sp>
      <p:sp>
        <p:nvSpPr>
          <p:cNvPr id="54" name="Text 51"/>
          <p:cNvSpPr/>
          <p:nvPr/>
        </p:nvSpPr>
        <p:spPr>
          <a:xfrm>
            <a:off x="1097280" y="5340096"/>
            <a:ext cx="7086600" cy="210312"/>
          </a:xfrm>
          <a:prstGeom prst="rect">
            <a:avLst/>
          </a:prstGeom>
          <a:noFill/>
        </p:spPr>
        <p:txBody>
          <a:bodyPr wrap="square" lIns="0" tIns="0" rIns="0" bIns="0" rtlCol="0" anchor="ctr">
            <a:normAutofit/>
          </a:bodyPr>
          <a:lstStyle/>
          <a:p>
            <a:pPr marL="0" indent="0">
              <a:buNone/>
            </a:pPr>
            <a:r>
              <a:rPr lang="en-US" sz="1030" dirty="0">
                <a:solidFill>
                  <a:srgbClr val="202938"/>
                </a:solidFill>
                <a:latin typeface="Arial" panose="020B0604020202020204" pitchFamily="34" charset="0"/>
                <a:ea typeface="Arial" panose="020B0604020202020204" pitchFamily="34" charset="-122"/>
                <a:cs typeface="Arial" panose="020B0604020202020204" pitchFamily="34" charset="-120"/>
              </a:rPr>
              <a:t>Saved donor reloads after restart</a:t>
            </a:r>
            <a:endParaRPr lang="en-US" sz="1030" dirty="0"/>
          </a:p>
        </p:txBody>
      </p:sp>
      <p:sp>
        <p:nvSpPr>
          <p:cNvPr id="55" name="Text 52"/>
          <p:cNvSpPr/>
          <p:nvPr/>
        </p:nvSpPr>
        <p:spPr>
          <a:xfrm>
            <a:off x="8641080" y="5340096"/>
            <a:ext cx="1426464" cy="210312"/>
          </a:xfrm>
          <a:prstGeom prst="rect">
            <a:avLst/>
          </a:prstGeom>
          <a:noFill/>
        </p:spPr>
        <p:txBody>
          <a:bodyPr wrap="square" lIns="0" tIns="0" rIns="0" bIns="0" rtlCol="0" anchor="ctr">
            <a:normAutofit/>
          </a:bodyPr>
          <a:lstStyle/>
          <a:p>
            <a:pPr marL="0" indent="0" algn="ctr">
              <a:buNone/>
            </a:pPr>
            <a:r>
              <a:rPr lang="en-US" sz="960" b="1" dirty="0">
                <a:solidFill>
                  <a:srgbClr val="28734B"/>
                </a:solidFill>
                <a:latin typeface="Arial" panose="020B0604020202020204" pitchFamily="34" charset="0"/>
                <a:ea typeface="Arial" panose="020B0604020202020204" pitchFamily="34" charset="-122"/>
                <a:cs typeface="Arial" panose="020B0604020202020204" pitchFamily="34" charset="-120"/>
              </a:rPr>
              <a:t>PASS</a:t>
            </a:r>
            <a:endParaRPr lang="en-US" sz="960" dirty="0"/>
          </a:p>
        </p:txBody>
      </p:sp>
      <p:sp>
        <p:nvSpPr>
          <p:cNvPr id="56" name="Shape 53"/>
          <p:cNvSpPr/>
          <p:nvPr/>
        </p:nvSpPr>
        <p:spPr>
          <a:xfrm>
            <a:off x="603504" y="5733288"/>
            <a:ext cx="10954512" cy="438912"/>
          </a:xfrm>
          <a:prstGeom prst="roundRect">
            <a:avLst>
              <a:gd name="adj" fmla="val 16667"/>
            </a:avLst>
          </a:prstGeom>
          <a:solidFill>
            <a:srgbClr val="EAF6EF"/>
          </a:solidFill>
          <a:ln w="12700">
            <a:solidFill>
              <a:srgbClr val="B9DCC6"/>
            </a:solidFill>
            <a:prstDash val="solid"/>
          </a:ln>
        </p:spPr>
      </p:sp>
      <p:sp>
        <p:nvSpPr>
          <p:cNvPr id="57" name="Text 54"/>
          <p:cNvSpPr/>
          <p:nvPr/>
        </p:nvSpPr>
        <p:spPr>
          <a:xfrm>
            <a:off x="758952" y="5833872"/>
            <a:ext cx="10625328" cy="219456"/>
          </a:xfrm>
          <a:prstGeom prst="rect">
            <a:avLst/>
          </a:prstGeom>
          <a:noFill/>
        </p:spPr>
        <p:txBody>
          <a:bodyPr wrap="square" lIns="0" tIns="0" rIns="0" bIns="0" rtlCol="0" anchor="ctr">
            <a:normAutofit/>
          </a:bodyPr>
          <a:lstStyle/>
          <a:p>
            <a:pPr marL="0" indent="0" algn="ctr">
              <a:buNone/>
            </a:pPr>
            <a:r>
              <a:rPr lang="en-US" sz="1020" b="1" dirty="0">
                <a:solidFill>
                  <a:srgbClr val="28734B"/>
                </a:solidFill>
                <a:latin typeface="Arial" panose="020B0604020202020204" pitchFamily="34" charset="0"/>
                <a:ea typeface="Arial" panose="020B0604020202020204" pitchFamily="34" charset="-122"/>
                <a:cs typeface="Arial" panose="020B0604020202020204" pitchFamily="34" charset="-120"/>
              </a:rPr>
              <a:t>11 requested validation scenarios checked successfully; an additional compatibility-matrix check also passed (12 / 12 harness checks).</a:t>
            </a:r>
            <a:endParaRPr lang="en-US" sz="10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1"/>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p:spPr>
        <p:txBody>
          <a:bodyPr wrap="square" lIns="0" tIns="0" rIns="0" bIns="0" rtlCol="0" anchor="ctr">
            <a:normAutofit/>
          </a:bodyPr>
          <a:lstStyle/>
          <a:p>
            <a:pPr marL="0" indent="0">
              <a:buNone/>
            </a:pPr>
            <a:r>
              <a:rPr lang="en-US" sz="2200" b="1" dirty="0">
                <a:solidFill>
                  <a:srgbClr val="172234"/>
                </a:solidFill>
                <a:latin typeface="Arial" panose="020B0604020202020204" pitchFamily="34" charset="0"/>
                <a:ea typeface="Arial" panose="020B0604020202020204" pitchFamily="34" charset="-122"/>
                <a:cs typeface="Arial" panose="020B0604020202020204" pitchFamily="34" charset="-120"/>
              </a:rPr>
              <a:t>Conclusion, Limitations &amp; Future Scope</a:t>
            </a:r>
            <a:endParaRPr lang="en-US" sz="2200" dirty="0"/>
          </a:p>
        </p:txBody>
      </p:sp>
      <p:sp>
        <p:nvSpPr>
          <p:cNvPr id="4" name="Text 1"/>
          <p:cNvSpPr/>
          <p:nvPr/>
        </p:nvSpPr>
        <p:spPr>
          <a:xfrm>
            <a:off x="886968" y="640080"/>
            <a:ext cx="10789920" cy="201168"/>
          </a:xfrm>
          <a:prstGeom prst="rect">
            <a:avLst/>
          </a:prstGeom>
          <a:noFill/>
        </p:spPr>
        <p:txBody>
          <a:bodyPr wrap="square" lIns="0" tIns="0" rIns="0" bIns="0" rtlCol="0" anchor="ctr">
            <a:normAutofit/>
          </a:bodyPr>
          <a:lstStyle/>
          <a:p>
            <a:pPr marL="0" indent="0">
              <a:buNone/>
            </a:pPr>
            <a:r>
              <a:rPr lang="en-US" sz="1030" dirty="0">
                <a:solidFill>
                  <a:srgbClr val="687487"/>
                </a:solidFill>
                <a:latin typeface="Arial" panose="020B0604020202020204" pitchFamily="34" charset="0"/>
                <a:ea typeface="Arial" panose="020B0604020202020204" pitchFamily="34" charset="-122"/>
                <a:cs typeface="Arial" panose="020B0604020202020204" pitchFamily="34" charset="-120"/>
              </a:rPr>
              <a:t>One project demonstrates the progression from programming fundamentals to integrated Java APIs</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p:spPr>
        <p:txBody>
          <a:bodyPr wrap="square" lIns="0" tIns="0" rIns="0" bIns="0" rtlCol="0" anchor="ctr">
            <a:normAutofit/>
          </a:bodyPr>
          <a:lstStyle/>
          <a:p>
            <a:pPr marL="0" indent="0">
              <a:buNone/>
            </a:pPr>
            <a:r>
              <a:rPr lang="en-US" sz="810" dirty="0">
                <a:solidFill>
                  <a:srgbClr val="8A929E"/>
                </a:solidFill>
                <a:latin typeface="Arial" panose="020B0604020202020204" pitchFamily="34" charset="0"/>
                <a:ea typeface="Arial" panose="020B0604020202020204" pitchFamily="34" charset="-122"/>
                <a:cs typeface="Arial" panose="020B0604020202020204" pitchFamily="34" charset="-120"/>
              </a:rPr>
              <a:t>11/10/2026</a:t>
            </a:r>
            <a:endParaRPr lang="en-US" sz="810" dirty="0"/>
          </a:p>
        </p:txBody>
      </p:sp>
      <p:sp>
        <p:nvSpPr>
          <p:cNvPr id="8" name="Text 5"/>
          <p:cNvSpPr/>
          <p:nvPr/>
        </p:nvSpPr>
        <p:spPr>
          <a:xfrm>
            <a:off x="3840480" y="6501384"/>
            <a:ext cx="4526280" cy="146304"/>
          </a:xfrm>
          <a:prstGeom prst="rect">
            <a:avLst/>
          </a:prstGeom>
          <a:noFill/>
        </p:spPr>
        <p:txBody>
          <a:bodyPr wrap="square" lIns="0" tIns="0" rIns="0" bIns="0" rtlCol="0" anchor="ctr">
            <a:normAutofit/>
          </a:bodyPr>
          <a:lstStyle/>
          <a:p>
            <a:pPr marL="0" indent="0" algn="ctr">
              <a:buNone/>
            </a:pPr>
            <a:r>
              <a:rPr lang="en-US" sz="760" dirty="0">
                <a:solidFill>
                  <a:srgbClr val="A0A7B2"/>
                </a:solidFill>
                <a:latin typeface="Arial" panose="020B0604020202020204" pitchFamily="34" charset="0"/>
                <a:ea typeface="Arial" panose="020B0604020202020204" pitchFamily="34" charset="-122"/>
                <a:cs typeface="Arial" panose="020B0604020202020204"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p:spPr>
        <p:txBody>
          <a:bodyPr wrap="square" lIns="0" tIns="0" rIns="0" bIns="0" rtlCol="0" anchor="ctr">
            <a:normAutofit/>
          </a:bodyPr>
          <a:lstStyle/>
          <a:p>
            <a:pPr marL="0" indent="0" algn="r">
              <a:buNone/>
            </a:pPr>
            <a:r>
              <a:rPr lang="en-US" sz="810" dirty="0">
                <a:solidFill>
                  <a:srgbClr val="8A929E"/>
                </a:solidFill>
                <a:latin typeface="Arial" panose="020B0604020202020204" pitchFamily="34" charset="0"/>
                <a:ea typeface="Arial" panose="020B0604020202020204" pitchFamily="34" charset="-122"/>
                <a:cs typeface="Arial" panose="020B0604020202020204" pitchFamily="34" charset="-120"/>
              </a:rPr>
              <a:t>14</a:t>
            </a:r>
            <a:endParaRPr lang="en-US" sz="810" dirty="0"/>
          </a:p>
        </p:txBody>
      </p:sp>
      <p:sp>
        <p:nvSpPr>
          <p:cNvPr id="10" name="Text 7"/>
          <p:cNvSpPr/>
          <p:nvPr/>
        </p:nvSpPr>
        <p:spPr>
          <a:xfrm>
            <a:off x="585216" y="1307592"/>
            <a:ext cx="3063240" cy="201168"/>
          </a:xfrm>
          <a:prstGeom prst="rect">
            <a:avLst/>
          </a:prstGeom>
          <a:noFill/>
        </p:spPr>
        <p:txBody>
          <a:bodyPr wrap="square" lIns="0" tIns="0" rIns="0" bIns="0" rtlCol="0" anchor="ctr">
            <a:normAutofit/>
          </a:bodyPr>
          <a:lstStyle/>
          <a:p>
            <a:pPr marL="0" indent="0">
              <a:buNone/>
            </a:pPr>
            <a:r>
              <a:rPr lang="en-US" sz="1000" b="1" kern="0" spc="60" dirty="0">
                <a:solidFill>
                  <a:srgbClr val="D91F26"/>
                </a:solidFill>
                <a:latin typeface="Arial" panose="020B0604020202020204" pitchFamily="34" charset="0"/>
                <a:ea typeface="Arial" panose="020B0604020202020204" pitchFamily="34" charset="-122"/>
                <a:cs typeface="Arial" panose="020B0604020202020204" pitchFamily="34" charset="-120"/>
              </a:rPr>
              <a:t>WHAT THE PROJECT DEMONSTRATES</a:t>
            </a:r>
            <a:endParaRPr lang="en-US" sz="1000" dirty="0"/>
          </a:p>
        </p:txBody>
      </p:sp>
      <p:sp>
        <p:nvSpPr>
          <p:cNvPr id="11" name="Shape 8"/>
          <p:cNvSpPr/>
          <p:nvPr/>
        </p:nvSpPr>
        <p:spPr>
          <a:xfrm>
            <a:off x="594360" y="1645920"/>
            <a:ext cx="3474720" cy="1225296"/>
          </a:xfrm>
          <a:prstGeom prst="roundRect">
            <a:avLst>
              <a:gd name="adj" fmla="val 5970"/>
            </a:avLst>
          </a:prstGeom>
          <a:solidFill>
            <a:srgbClr val="FCEDEF"/>
          </a:solidFill>
          <a:ln w="12700">
            <a:solidFill>
              <a:srgbClr val="E8B8BE"/>
            </a:solidFill>
            <a:prstDash val="solid"/>
          </a:ln>
        </p:spPr>
      </p:sp>
      <p:sp>
        <p:nvSpPr>
          <p:cNvPr id="12" name="Text 9"/>
          <p:cNvSpPr/>
          <p:nvPr/>
        </p:nvSpPr>
        <p:spPr>
          <a:xfrm>
            <a:off x="740664" y="1783080"/>
            <a:ext cx="3163824" cy="228600"/>
          </a:xfrm>
          <a:prstGeom prst="rect">
            <a:avLst/>
          </a:prstGeom>
          <a:noFill/>
        </p:spPr>
        <p:txBody>
          <a:bodyPr wrap="square" lIns="0" tIns="0" rIns="0" bIns="0" rtlCol="0" anchor="ctr">
            <a:normAutofit/>
          </a:bodyPr>
          <a:lstStyle/>
          <a:p>
            <a:pPr marL="0" indent="0" algn="ctr">
              <a:buNone/>
            </a:pPr>
            <a:r>
              <a:rPr lang="en-US" sz="1200" b="1" dirty="0">
                <a:solidFill>
                  <a:srgbClr val="B71920"/>
                </a:solidFill>
                <a:latin typeface="Arial" panose="020B0604020202020204" pitchFamily="34" charset="0"/>
                <a:ea typeface="Arial" panose="020B0604020202020204" pitchFamily="34" charset="-122"/>
                <a:cs typeface="Arial" panose="020B0604020202020204" pitchFamily="34" charset="-120"/>
              </a:rPr>
              <a:t>CO1–CO3</a:t>
            </a:r>
            <a:endParaRPr lang="en-US" sz="1200" dirty="0"/>
          </a:p>
        </p:txBody>
      </p:sp>
      <p:sp>
        <p:nvSpPr>
          <p:cNvPr id="13" name="Text 10"/>
          <p:cNvSpPr/>
          <p:nvPr/>
        </p:nvSpPr>
        <p:spPr>
          <a:xfrm>
            <a:off x="758952" y="2103120"/>
            <a:ext cx="3145536" cy="539496"/>
          </a:xfrm>
          <a:prstGeom prst="rect">
            <a:avLst/>
          </a:prstGeom>
          <a:noFill/>
        </p:spPr>
        <p:txBody>
          <a:bodyPr wrap="square" lIns="0" tIns="0" rIns="0" bIns="0" rtlCol="0" anchor="ctr">
            <a:normAutofit/>
          </a:bodyPr>
          <a:lstStyle/>
          <a:p>
            <a:pPr marL="0" indent="0" algn="ctr">
              <a:buNone/>
            </a:pPr>
            <a:r>
              <a:rPr lang="en-US" sz="1020" dirty="0">
                <a:solidFill>
                  <a:srgbClr val="202938"/>
                </a:solidFill>
                <a:latin typeface="Arial" panose="020B0604020202020204" pitchFamily="34" charset="0"/>
                <a:ea typeface="Arial" panose="020B0604020202020204" pitchFamily="34" charset="-122"/>
                <a:cs typeface="Arial" panose="020B0604020202020204" pitchFamily="34" charset="-120"/>
              </a:rPr>
              <a:t>Console I/O, control flow, modular methods, recursion, arrays and search.</a:t>
            </a:r>
            <a:endParaRPr lang="en-US" sz="1020" dirty="0"/>
          </a:p>
        </p:txBody>
      </p:sp>
      <p:sp>
        <p:nvSpPr>
          <p:cNvPr id="14" name="Shape 11"/>
          <p:cNvSpPr/>
          <p:nvPr/>
        </p:nvSpPr>
        <p:spPr>
          <a:xfrm>
            <a:off x="4325112" y="1645920"/>
            <a:ext cx="3474720" cy="1225296"/>
          </a:xfrm>
          <a:prstGeom prst="roundRect">
            <a:avLst>
              <a:gd name="adj" fmla="val 5970"/>
            </a:avLst>
          </a:prstGeom>
          <a:solidFill>
            <a:srgbClr val="EAF2FB"/>
          </a:solidFill>
          <a:ln w="12700">
            <a:solidFill>
              <a:srgbClr val="B8D0EE"/>
            </a:solidFill>
            <a:prstDash val="solid"/>
          </a:ln>
        </p:spPr>
      </p:sp>
      <p:sp>
        <p:nvSpPr>
          <p:cNvPr id="15" name="Text 12"/>
          <p:cNvSpPr/>
          <p:nvPr/>
        </p:nvSpPr>
        <p:spPr>
          <a:xfrm>
            <a:off x="4471416" y="1783080"/>
            <a:ext cx="3163824" cy="228600"/>
          </a:xfrm>
          <a:prstGeom prst="rect">
            <a:avLst/>
          </a:prstGeom>
          <a:noFill/>
        </p:spPr>
        <p:txBody>
          <a:bodyPr wrap="square" lIns="0" tIns="0" rIns="0" bIns="0" rtlCol="0" anchor="ctr">
            <a:normAutofit/>
          </a:bodyPr>
          <a:lstStyle/>
          <a:p>
            <a:pPr marL="0" indent="0" algn="ctr">
              <a:buNone/>
            </a:pPr>
            <a:r>
              <a:rPr lang="en-US" sz="1200" b="1" dirty="0">
                <a:solidFill>
                  <a:srgbClr val="214D7B"/>
                </a:solidFill>
                <a:latin typeface="Arial" panose="020B0604020202020204" pitchFamily="34" charset="0"/>
                <a:ea typeface="Arial" panose="020B0604020202020204" pitchFamily="34" charset="-122"/>
                <a:cs typeface="Arial" panose="020B0604020202020204" pitchFamily="34" charset="-120"/>
              </a:rPr>
              <a:t>CO4</a:t>
            </a:r>
            <a:endParaRPr lang="en-US" sz="1200" dirty="0"/>
          </a:p>
        </p:txBody>
      </p:sp>
      <p:sp>
        <p:nvSpPr>
          <p:cNvPr id="16" name="Text 13"/>
          <p:cNvSpPr/>
          <p:nvPr/>
        </p:nvSpPr>
        <p:spPr>
          <a:xfrm>
            <a:off x="4489704" y="2103120"/>
            <a:ext cx="3145536" cy="539496"/>
          </a:xfrm>
          <a:prstGeom prst="rect">
            <a:avLst/>
          </a:prstGeom>
          <a:noFill/>
        </p:spPr>
        <p:txBody>
          <a:bodyPr wrap="square" lIns="0" tIns="0" rIns="0" bIns="0" rtlCol="0" anchor="ctr">
            <a:normAutofit/>
          </a:bodyPr>
          <a:lstStyle/>
          <a:p>
            <a:pPr marL="0" indent="0" algn="ctr">
              <a:buNone/>
            </a:pPr>
            <a:r>
              <a:rPr lang="en-US" sz="1020" dirty="0">
                <a:solidFill>
                  <a:srgbClr val="202938"/>
                </a:solidFill>
                <a:latin typeface="Arial" panose="020B0604020202020204" pitchFamily="34" charset="0"/>
                <a:ea typeface="Arial" panose="020B0604020202020204" pitchFamily="34" charset="-122"/>
                <a:cs typeface="Arial" panose="020B0604020202020204" pitchFamily="34" charset="-120"/>
              </a:rPr>
              <a:t>Domain classes, encapsulation, inheritance, interfaces and exception handling.</a:t>
            </a:r>
            <a:endParaRPr lang="en-US" sz="1020" dirty="0"/>
          </a:p>
        </p:txBody>
      </p:sp>
      <p:sp>
        <p:nvSpPr>
          <p:cNvPr id="17" name="Shape 14"/>
          <p:cNvSpPr/>
          <p:nvPr/>
        </p:nvSpPr>
        <p:spPr>
          <a:xfrm>
            <a:off x="8055864" y="1645920"/>
            <a:ext cx="3474720" cy="1225296"/>
          </a:xfrm>
          <a:prstGeom prst="roundRect">
            <a:avLst>
              <a:gd name="adj" fmla="val 5970"/>
            </a:avLst>
          </a:prstGeom>
          <a:solidFill>
            <a:srgbClr val="EAF6EF"/>
          </a:solidFill>
          <a:ln w="12700">
            <a:solidFill>
              <a:srgbClr val="B9DCC6"/>
            </a:solidFill>
            <a:prstDash val="solid"/>
          </a:ln>
        </p:spPr>
      </p:sp>
      <p:sp>
        <p:nvSpPr>
          <p:cNvPr id="18" name="Text 15"/>
          <p:cNvSpPr/>
          <p:nvPr/>
        </p:nvSpPr>
        <p:spPr>
          <a:xfrm>
            <a:off x="8202168" y="1783080"/>
            <a:ext cx="3163824" cy="228600"/>
          </a:xfrm>
          <a:prstGeom prst="rect">
            <a:avLst/>
          </a:prstGeom>
          <a:noFill/>
        </p:spPr>
        <p:txBody>
          <a:bodyPr wrap="square" lIns="0" tIns="0" rIns="0" bIns="0" rtlCol="0" anchor="ctr">
            <a:normAutofit/>
          </a:bodyPr>
          <a:lstStyle/>
          <a:p>
            <a:pPr marL="0" indent="0" algn="ctr">
              <a:buNone/>
            </a:pPr>
            <a:r>
              <a:rPr lang="en-US" sz="1200" b="1" dirty="0">
                <a:solidFill>
                  <a:srgbClr val="28734B"/>
                </a:solidFill>
                <a:latin typeface="Arial" panose="020B0604020202020204" pitchFamily="34" charset="0"/>
                <a:ea typeface="Arial" panose="020B0604020202020204" pitchFamily="34" charset="-122"/>
                <a:cs typeface="Arial" panose="020B0604020202020204" pitchFamily="34" charset="-120"/>
              </a:rPr>
              <a:t>CO5–CO6</a:t>
            </a:r>
            <a:endParaRPr lang="en-US" sz="1200" dirty="0"/>
          </a:p>
        </p:txBody>
      </p:sp>
      <p:sp>
        <p:nvSpPr>
          <p:cNvPr id="19" name="Text 16"/>
          <p:cNvSpPr/>
          <p:nvPr/>
        </p:nvSpPr>
        <p:spPr>
          <a:xfrm>
            <a:off x="8220456" y="2103120"/>
            <a:ext cx="3145536" cy="539496"/>
          </a:xfrm>
          <a:prstGeom prst="rect">
            <a:avLst/>
          </a:prstGeom>
          <a:noFill/>
        </p:spPr>
        <p:txBody>
          <a:bodyPr wrap="square" lIns="0" tIns="0" rIns="0" bIns="0" rtlCol="0" anchor="ctr">
            <a:normAutofit/>
          </a:bodyPr>
          <a:lstStyle/>
          <a:p>
            <a:pPr marL="0" indent="0" algn="ctr">
              <a:buNone/>
            </a:pPr>
            <a:r>
              <a:rPr lang="en-US" sz="1020" dirty="0">
                <a:solidFill>
                  <a:srgbClr val="202938"/>
                </a:solidFill>
                <a:latin typeface="Arial" panose="020B0604020202020204" pitchFamily="34" charset="0"/>
                <a:ea typeface="Arial" panose="020B0604020202020204" pitchFamily="34" charset="-122"/>
                <a:cs typeface="Arial" panose="020B0604020202020204" pitchFamily="34" charset="-120"/>
              </a:rPr>
              <a:t>Strings, sorting, file persistence, typed collections, lambdas and Stream reports.</a:t>
            </a:r>
            <a:endParaRPr lang="en-US" sz="1020" dirty="0"/>
          </a:p>
        </p:txBody>
      </p:sp>
      <p:sp>
        <p:nvSpPr>
          <p:cNvPr id="20" name="Shape 17"/>
          <p:cNvSpPr/>
          <p:nvPr/>
        </p:nvSpPr>
        <p:spPr>
          <a:xfrm>
            <a:off x="594360" y="3136392"/>
            <a:ext cx="5394960" cy="1691640"/>
          </a:xfrm>
          <a:prstGeom prst="roundRect">
            <a:avLst>
              <a:gd name="adj" fmla="val 4324"/>
            </a:avLst>
          </a:prstGeom>
          <a:solidFill>
            <a:srgbClr val="FCEDEF"/>
          </a:solidFill>
          <a:ln w="12700">
            <a:solidFill>
              <a:srgbClr val="E8B8BE"/>
            </a:solidFill>
            <a:prstDash val="solid"/>
          </a:ln>
        </p:spPr>
      </p:sp>
      <p:sp>
        <p:nvSpPr>
          <p:cNvPr id="21" name="Shape 18"/>
          <p:cNvSpPr/>
          <p:nvPr/>
        </p:nvSpPr>
        <p:spPr>
          <a:xfrm>
            <a:off x="594360" y="3227832"/>
            <a:ext cx="50292" cy="1508760"/>
          </a:xfrm>
          <a:prstGeom prst="rect">
            <a:avLst/>
          </a:prstGeom>
          <a:solidFill>
            <a:srgbClr val="B71920"/>
          </a:solidFill>
          <a:ln w="12700">
            <a:solidFill>
              <a:srgbClr val="B71920">
                <a:alpha val="0"/>
              </a:srgbClr>
            </a:solidFill>
            <a:prstDash val="solid"/>
          </a:ln>
        </p:spPr>
      </p:sp>
      <p:sp>
        <p:nvSpPr>
          <p:cNvPr id="22" name="Text 19"/>
          <p:cNvSpPr/>
          <p:nvPr/>
        </p:nvSpPr>
        <p:spPr>
          <a:xfrm>
            <a:off x="740664" y="3246120"/>
            <a:ext cx="5102352" cy="265176"/>
          </a:xfrm>
          <a:prstGeom prst="rect">
            <a:avLst/>
          </a:prstGeom>
          <a:noFill/>
        </p:spPr>
        <p:txBody>
          <a:bodyPr wrap="square" lIns="0" tIns="0" rIns="0" bIns="0" rtlCol="0" anchor="ctr">
            <a:normAutofit/>
          </a:bodyPr>
          <a:lstStyle/>
          <a:p>
            <a:pPr marL="0" indent="0">
              <a:buNone/>
            </a:pPr>
            <a:r>
              <a:rPr lang="en-US" sz="1230" b="1" dirty="0">
                <a:solidFill>
                  <a:srgbClr val="B71920"/>
                </a:solidFill>
                <a:latin typeface="Arial" panose="020B0604020202020204" pitchFamily="34" charset="0"/>
                <a:ea typeface="Arial" panose="020B0604020202020204" pitchFamily="34" charset="-122"/>
                <a:cs typeface="Arial" panose="020B0604020202020204" pitchFamily="34" charset="-120"/>
              </a:rPr>
              <a:t>CURRENT LIMITATIONS</a:t>
            </a:r>
            <a:endParaRPr lang="en-US" sz="1230" dirty="0"/>
          </a:p>
        </p:txBody>
      </p:sp>
      <p:sp>
        <p:nvSpPr>
          <p:cNvPr id="23" name="Text 20"/>
          <p:cNvSpPr/>
          <p:nvPr/>
        </p:nvSpPr>
        <p:spPr>
          <a:xfrm>
            <a:off x="740664" y="3566160"/>
            <a:ext cx="5102352" cy="1170432"/>
          </a:xfrm>
          <a:prstGeom prst="rect">
            <a:avLst/>
          </a:prstGeom>
          <a:noFill/>
        </p:spPr>
        <p:txBody>
          <a:bodyPr wrap="square" lIns="0" tIns="0" rIns="0" bIns="0" rtlCol="0" anchor="t">
            <a:normAutofit/>
          </a:bodyPr>
          <a:lstStyle/>
          <a:p>
            <a:pPr marL="0" indent="0">
              <a:buNone/>
            </a:pPr>
            <a:r>
              <a:rPr lang="en-US" sz="1070" dirty="0">
                <a:solidFill>
                  <a:srgbClr val="202938"/>
                </a:solidFill>
                <a:latin typeface="Arial" panose="020B0604020202020204" pitchFamily="34" charset="0"/>
                <a:ea typeface="Arial" panose="020B0604020202020204" pitchFamily="34" charset="-122"/>
                <a:cs typeface="Arial" panose="020B0604020202020204" pitchFamily="34" charset="-120"/>
              </a:rPr>
              <a:t>• Console-only interface</a:t>
            </a:r>
            <a:endParaRPr lang="en-US" sz="1070" dirty="0"/>
          </a:p>
          <a:p>
            <a:pPr marL="0" indent="0">
              <a:buNone/>
            </a:pPr>
            <a:r>
              <a:rPr lang="en-US" sz="1070" dirty="0">
                <a:solidFill>
                  <a:srgbClr val="202938"/>
                </a:solidFill>
                <a:latin typeface="Arial" panose="020B0604020202020204" pitchFamily="34" charset="0"/>
                <a:ea typeface="Arial" panose="020B0604020202020204" pitchFamily="34" charset="-122"/>
                <a:cs typeface="Arial" panose="020B0604020202020204" pitchFamily="34" charset="-120"/>
              </a:rPr>
              <a:t>• Delimiter-based local text files, not a database</a:t>
            </a:r>
            <a:endParaRPr lang="en-US" sz="1070" dirty="0"/>
          </a:p>
          <a:p>
            <a:pPr marL="0" indent="0">
              <a:buNone/>
            </a:pPr>
            <a:r>
              <a:rPr lang="en-US" sz="1070" dirty="0">
                <a:solidFill>
                  <a:srgbClr val="202938"/>
                </a:solidFill>
                <a:latin typeface="Arial" panose="020B0604020202020204" pitchFamily="34" charset="0"/>
                <a:ea typeface="Arial" panose="020B0604020202020204" pitchFamily="34" charset="-122"/>
                <a:cs typeface="Arial" panose="020B0604020202020204" pitchFamily="34" charset="-120"/>
              </a:rPr>
              <a:t>• No login, roles, web access or SMS</a:t>
            </a:r>
            <a:endParaRPr lang="en-US" sz="1070" dirty="0"/>
          </a:p>
          <a:p>
            <a:pPr marL="0" indent="0">
              <a:buNone/>
            </a:pPr>
            <a:r>
              <a:rPr lang="en-US" sz="1070" dirty="0">
                <a:solidFill>
                  <a:srgbClr val="202938"/>
                </a:solidFill>
                <a:latin typeface="Arial" panose="020B0604020202020204" pitchFamily="34" charset="0"/>
                <a:ea typeface="Arial" panose="020B0604020202020204" pitchFamily="34" charset="-122"/>
                <a:cs typeface="Arial" panose="020B0604020202020204" pitchFamily="34" charset="-120"/>
              </a:rPr>
              <a:t>• Simplified transfusion compatibility / eligibility logic</a:t>
            </a:r>
            <a:endParaRPr lang="en-US" sz="1070" dirty="0"/>
          </a:p>
        </p:txBody>
      </p:sp>
      <p:sp>
        <p:nvSpPr>
          <p:cNvPr id="24" name="Shape 21"/>
          <p:cNvSpPr/>
          <p:nvPr/>
        </p:nvSpPr>
        <p:spPr>
          <a:xfrm>
            <a:off x="6217920" y="3136392"/>
            <a:ext cx="5394960" cy="1691640"/>
          </a:xfrm>
          <a:prstGeom prst="roundRect">
            <a:avLst>
              <a:gd name="adj" fmla="val 4324"/>
            </a:avLst>
          </a:prstGeom>
          <a:solidFill>
            <a:srgbClr val="EAF2FB"/>
          </a:solidFill>
          <a:ln w="12700">
            <a:solidFill>
              <a:srgbClr val="B8D0EE"/>
            </a:solidFill>
            <a:prstDash val="solid"/>
          </a:ln>
        </p:spPr>
      </p:sp>
      <p:sp>
        <p:nvSpPr>
          <p:cNvPr id="25" name="Shape 22"/>
          <p:cNvSpPr/>
          <p:nvPr/>
        </p:nvSpPr>
        <p:spPr>
          <a:xfrm>
            <a:off x="6217920" y="3227832"/>
            <a:ext cx="50292" cy="1508760"/>
          </a:xfrm>
          <a:prstGeom prst="rect">
            <a:avLst/>
          </a:prstGeom>
          <a:solidFill>
            <a:srgbClr val="214D7B"/>
          </a:solidFill>
          <a:ln w="12700">
            <a:solidFill>
              <a:srgbClr val="214D7B">
                <a:alpha val="0"/>
              </a:srgbClr>
            </a:solidFill>
            <a:prstDash val="solid"/>
          </a:ln>
        </p:spPr>
      </p:sp>
      <p:sp>
        <p:nvSpPr>
          <p:cNvPr id="26" name="Text 23"/>
          <p:cNvSpPr/>
          <p:nvPr/>
        </p:nvSpPr>
        <p:spPr>
          <a:xfrm>
            <a:off x="6364224" y="3246120"/>
            <a:ext cx="5102352" cy="265176"/>
          </a:xfrm>
          <a:prstGeom prst="rect">
            <a:avLst/>
          </a:prstGeom>
          <a:noFill/>
        </p:spPr>
        <p:txBody>
          <a:bodyPr wrap="square" lIns="0" tIns="0" rIns="0" bIns="0" rtlCol="0" anchor="ctr">
            <a:normAutofit/>
          </a:bodyPr>
          <a:lstStyle/>
          <a:p>
            <a:pPr marL="0" indent="0">
              <a:buNone/>
            </a:pPr>
            <a:r>
              <a:rPr lang="en-US" sz="1230" b="1" dirty="0">
                <a:solidFill>
                  <a:srgbClr val="214D7B"/>
                </a:solidFill>
                <a:latin typeface="Arial" panose="020B0604020202020204" pitchFamily="34" charset="0"/>
                <a:ea typeface="Arial" panose="020B0604020202020204" pitchFamily="34" charset="-122"/>
                <a:cs typeface="Arial" panose="020B0604020202020204" pitchFamily="34" charset="-120"/>
              </a:rPr>
              <a:t>FUTURE SCOPE — NOT IMPLEMENTED</a:t>
            </a:r>
            <a:endParaRPr lang="en-US" sz="1230" dirty="0"/>
          </a:p>
        </p:txBody>
      </p:sp>
      <p:sp>
        <p:nvSpPr>
          <p:cNvPr id="27" name="Text 24"/>
          <p:cNvSpPr/>
          <p:nvPr/>
        </p:nvSpPr>
        <p:spPr>
          <a:xfrm>
            <a:off x="6364224" y="3566160"/>
            <a:ext cx="5102352" cy="1170432"/>
          </a:xfrm>
          <a:prstGeom prst="rect">
            <a:avLst/>
          </a:prstGeom>
          <a:noFill/>
        </p:spPr>
        <p:txBody>
          <a:bodyPr wrap="square" lIns="0" tIns="0" rIns="0" bIns="0" rtlCol="0" anchor="t">
            <a:normAutofit/>
          </a:bodyPr>
          <a:lstStyle/>
          <a:p>
            <a:pPr marL="0" indent="0">
              <a:buNone/>
            </a:pPr>
            <a:r>
              <a:rPr lang="en-US" sz="1040" dirty="0">
                <a:solidFill>
                  <a:srgbClr val="202938"/>
                </a:solidFill>
                <a:latin typeface="Arial" panose="020B0604020202020204" pitchFamily="34" charset="0"/>
                <a:ea typeface="Arial" panose="020B0604020202020204" pitchFamily="34" charset="-122"/>
                <a:cs typeface="Arial" panose="020B0604020202020204" pitchFamily="34" charset="-120"/>
              </a:rPr>
              <a:t>• Database-backed storage and audit logs</a:t>
            </a:r>
            <a:endParaRPr lang="en-US" sz="1040" dirty="0"/>
          </a:p>
          <a:p>
            <a:pPr marL="0" indent="0">
              <a:buNone/>
            </a:pPr>
            <a:r>
              <a:rPr lang="en-US" sz="1040" dirty="0">
                <a:solidFill>
                  <a:srgbClr val="202938"/>
                </a:solidFill>
                <a:latin typeface="Arial" panose="020B0604020202020204" pitchFamily="34" charset="0"/>
                <a:ea typeface="Arial" panose="020B0604020202020204" pitchFamily="34" charset="-122"/>
                <a:cs typeface="Arial" panose="020B0604020202020204" pitchFamily="34" charset="-120"/>
              </a:rPr>
              <a:t>• Role-based access and secure authentication</a:t>
            </a:r>
            <a:endParaRPr lang="en-US" sz="1040" dirty="0"/>
          </a:p>
          <a:p>
            <a:pPr marL="0" indent="0">
              <a:buNone/>
            </a:pPr>
            <a:r>
              <a:rPr lang="en-US" sz="1040" dirty="0">
                <a:solidFill>
                  <a:srgbClr val="202938"/>
                </a:solidFill>
                <a:latin typeface="Arial" panose="020B0604020202020204" pitchFamily="34" charset="0"/>
                <a:ea typeface="Arial" panose="020B0604020202020204" pitchFamily="34" charset="-122"/>
                <a:cs typeface="Arial" panose="020B0604020202020204" pitchFamily="34" charset="-120"/>
              </a:rPr>
              <a:t>• Notifications and reservation workflow</a:t>
            </a:r>
            <a:endParaRPr lang="en-US" sz="1040" dirty="0"/>
          </a:p>
          <a:p>
            <a:pPr marL="0" indent="0">
              <a:buNone/>
            </a:pPr>
            <a:r>
              <a:rPr lang="en-US" sz="1040" dirty="0">
                <a:solidFill>
                  <a:srgbClr val="202938"/>
                </a:solidFill>
                <a:latin typeface="Arial" panose="020B0604020202020204" pitchFamily="34" charset="0"/>
                <a:ea typeface="Arial" panose="020B0604020202020204" pitchFamily="34" charset="-122"/>
                <a:cs typeface="Arial" panose="020B0604020202020204" pitchFamily="34" charset="-120"/>
              </a:rPr>
              <a:t>• More automated unit/integration testing</a:t>
            </a:r>
            <a:endParaRPr lang="en-US" sz="1040" dirty="0"/>
          </a:p>
          <a:p>
            <a:pPr marL="0" indent="0">
              <a:buNone/>
            </a:pPr>
            <a:r>
              <a:rPr lang="en-US" sz="1040" dirty="0">
                <a:solidFill>
                  <a:srgbClr val="202938"/>
                </a:solidFill>
                <a:latin typeface="Arial" panose="020B0604020202020204" pitchFamily="34" charset="0"/>
                <a:ea typeface="Arial" panose="020B0604020202020204" pitchFamily="34" charset="-122"/>
                <a:cs typeface="Arial" panose="020B0604020202020204" pitchFamily="34" charset="-120"/>
              </a:rPr>
              <a:t>• Clinical workflow integration under professional oversight</a:t>
            </a:r>
            <a:endParaRPr lang="en-US" sz="1040" dirty="0"/>
          </a:p>
        </p:txBody>
      </p:sp>
      <p:sp>
        <p:nvSpPr>
          <p:cNvPr id="28" name="Shape 25"/>
          <p:cNvSpPr/>
          <p:nvPr/>
        </p:nvSpPr>
        <p:spPr>
          <a:xfrm>
            <a:off x="603504" y="5175504"/>
            <a:ext cx="10991088" cy="612648"/>
          </a:xfrm>
          <a:prstGeom prst="roundRect">
            <a:avLst>
              <a:gd name="adj" fmla="val 11940"/>
            </a:avLst>
          </a:prstGeom>
          <a:solidFill>
            <a:srgbClr val="F7F9FC"/>
          </a:solidFill>
          <a:ln w="12700">
            <a:solidFill>
              <a:srgbClr val="E1E6ED"/>
            </a:solidFill>
            <a:prstDash val="solid"/>
          </a:ln>
        </p:spPr>
      </p:sp>
      <p:sp>
        <p:nvSpPr>
          <p:cNvPr id="29" name="Text 26"/>
          <p:cNvSpPr/>
          <p:nvPr/>
        </p:nvSpPr>
        <p:spPr>
          <a:xfrm>
            <a:off x="786384" y="5340096"/>
            <a:ext cx="10607040" cy="265176"/>
          </a:xfrm>
          <a:prstGeom prst="rect">
            <a:avLst/>
          </a:prstGeom>
          <a:noFill/>
        </p:spPr>
        <p:txBody>
          <a:bodyPr wrap="square" lIns="0" tIns="0" rIns="0" bIns="0" rtlCol="0" anchor="ctr">
            <a:normAutofit/>
          </a:bodyPr>
          <a:lstStyle/>
          <a:p>
            <a:pPr marL="0" indent="0" algn="ctr">
              <a:buNone/>
            </a:pPr>
            <a:r>
              <a:rPr lang="en-US" sz="1200" b="1" dirty="0">
                <a:solidFill>
                  <a:srgbClr val="172234"/>
                </a:solidFill>
                <a:latin typeface="Arial" panose="020B0604020202020204" pitchFamily="34" charset="0"/>
                <a:ea typeface="Arial" panose="020B0604020202020204" pitchFamily="34" charset="-122"/>
                <a:cs typeface="Arial" panose="020B0604020202020204" pitchFamily="34" charset="-120"/>
              </a:rPr>
              <a:t>Takeaway: the same blood-bank problem can connect every course outcome through incremental, readable Java code.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1"/>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p:spPr>
        <p:txBody>
          <a:bodyPr wrap="square" lIns="0" tIns="0" rIns="0" bIns="0" rtlCol="0" anchor="ctr">
            <a:normAutofit/>
          </a:bodyPr>
          <a:lstStyle/>
          <a:p>
            <a:pPr marL="0" indent="0">
              <a:buNone/>
            </a:pPr>
            <a:r>
              <a:rPr lang="en-US" sz="2200" b="1" dirty="0">
                <a:solidFill>
                  <a:srgbClr val="172234"/>
                </a:solidFill>
                <a:latin typeface="Arial" panose="020B0604020202020204" pitchFamily="34" charset="0"/>
                <a:ea typeface="Arial" panose="020B0604020202020204" pitchFamily="34" charset="-122"/>
                <a:cs typeface="Arial" panose="020B0604020202020204" pitchFamily="34" charset="-120"/>
              </a:rPr>
              <a:t>Project Photo &amp; GitHub Repository</a:t>
            </a:r>
            <a:endParaRPr lang="en-US" sz="2200" dirty="0"/>
          </a:p>
        </p:txBody>
      </p:sp>
      <p:sp>
        <p:nvSpPr>
          <p:cNvPr id="4" name="Text 1"/>
          <p:cNvSpPr/>
          <p:nvPr/>
        </p:nvSpPr>
        <p:spPr>
          <a:xfrm>
            <a:off x="886968" y="640080"/>
            <a:ext cx="10789920" cy="201168"/>
          </a:xfrm>
          <a:prstGeom prst="rect">
            <a:avLst/>
          </a:prstGeom>
          <a:noFill/>
        </p:spPr>
        <p:txBody>
          <a:bodyPr wrap="square" lIns="0" tIns="0" rIns="0" bIns="0" rtlCol="0" anchor="ctr">
            <a:normAutofit/>
          </a:bodyPr>
          <a:lstStyle/>
          <a:p>
            <a:pPr marL="0" indent="0">
              <a:buNone/>
            </a:pPr>
            <a:r>
              <a:rPr lang="en-US" sz="1030" dirty="0">
                <a:solidFill>
                  <a:srgbClr val="687487"/>
                </a:solidFill>
                <a:latin typeface="Arial" panose="020B0604020202020204" pitchFamily="34" charset="0"/>
                <a:ea typeface="Arial" panose="020B0604020202020204" pitchFamily="34" charset="-122"/>
                <a:cs typeface="Arial" panose="020B0604020202020204" pitchFamily="34" charset="-120"/>
              </a:rPr>
              <a:t>Team 07 • Project demonstration / lab context</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p:spPr>
        <p:txBody>
          <a:bodyPr wrap="square" lIns="0" tIns="0" rIns="0" bIns="0" rtlCol="0" anchor="ctr">
            <a:normAutofit/>
          </a:bodyPr>
          <a:lstStyle/>
          <a:p>
            <a:pPr marL="0" indent="0">
              <a:buNone/>
            </a:pPr>
            <a:r>
              <a:rPr lang="en-US" sz="810" dirty="0">
                <a:solidFill>
                  <a:srgbClr val="8A929E"/>
                </a:solidFill>
                <a:latin typeface="Arial" panose="020B0604020202020204" pitchFamily="34" charset="0"/>
                <a:ea typeface="Arial" panose="020B0604020202020204" pitchFamily="34" charset="-122"/>
                <a:cs typeface="Arial" panose="020B0604020202020204" pitchFamily="34" charset="-120"/>
              </a:rPr>
              <a:t>11/10/2026</a:t>
            </a:r>
            <a:endParaRPr lang="en-US" sz="810" dirty="0"/>
          </a:p>
        </p:txBody>
      </p:sp>
      <p:sp>
        <p:nvSpPr>
          <p:cNvPr id="8" name="Text 5"/>
          <p:cNvSpPr/>
          <p:nvPr/>
        </p:nvSpPr>
        <p:spPr>
          <a:xfrm>
            <a:off x="3840480" y="6501384"/>
            <a:ext cx="4526280" cy="146304"/>
          </a:xfrm>
          <a:prstGeom prst="rect">
            <a:avLst/>
          </a:prstGeom>
          <a:noFill/>
        </p:spPr>
        <p:txBody>
          <a:bodyPr wrap="square" lIns="0" tIns="0" rIns="0" bIns="0" rtlCol="0" anchor="ctr">
            <a:normAutofit/>
          </a:bodyPr>
          <a:lstStyle/>
          <a:p>
            <a:pPr marL="0" indent="0" algn="ctr">
              <a:buNone/>
            </a:pPr>
            <a:r>
              <a:rPr lang="en-US" sz="760" dirty="0">
                <a:solidFill>
                  <a:srgbClr val="A0A7B2"/>
                </a:solidFill>
                <a:latin typeface="Arial" panose="020B0604020202020204" pitchFamily="34" charset="0"/>
                <a:ea typeface="Arial" panose="020B0604020202020204" pitchFamily="34" charset="-122"/>
                <a:cs typeface="Arial" panose="020B0604020202020204"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p:spPr>
        <p:txBody>
          <a:bodyPr wrap="square" lIns="0" tIns="0" rIns="0" bIns="0" rtlCol="0" anchor="ctr">
            <a:normAutofit/>
          </a:bodyPr>
          <a:lstStyle/>
          <a:p>
            <a:pPr marL="0" indent="0" algn="r">
              <a:buNone/>
            </a:pPr>
            <a:r>
              <a:rPr lang="en-US" sz="810" dirty="0">
                <a:solidFill>
                  <a:srgbClr val="8A929E"/>
                </a:solidFill>
                <a:latin typeface="Arial" panose="020B0604020202020204" pitchFamily="34" charset="0"/>
                <a:ea typeface="Arial" panose="020B0604020202020204" pitchFamily="34" charset="-122"/>
                <a:cs typeface="Arial" panose="020B0604020202020204" pitchFamily="34" charset="-120"/>
              </a:rPr>
              <a:t>15</a:t>
            </a:r>
            <a:endParaRPr lang="en-US" sz="810" dirty="0"/>
          </a:p>
        </p:txBody>
      </p:sp>
      <p:sp>
        <p:nvSpPr>
          <p:cNvPr id="10" name="Shape 7"/>
          <p:cNvSpPr/>
          <p:nvPr/>
        </p:nvSpPr>
        <p:spPr>
          <a:xfrm>
            <a:off x="566928" y="1307592"/>
            <a:ext cx="5989320" cy="4498848"/>
          </a:xfrm>
          <a:prstGeom prst="roundRect">
            <a:avLst>
              <a:gd name="adj" fmla="val 1626"/>
            </a:avLst>
          </a:prstGeom>
          <a:solidFill>
            <a:srgbClr val="F7F9FC"/>
          </a:solidFill>
          <a:ln w="12700">
            <a:solidFill>
              <a:srgbClr val="E1E6ED"/>
            </a:solidFill>
            <a:prstDash val="solid"/>
          </a:ln>
        </p:spPr>
        <p:txBody>
          <a:bodyPr/>
          <a:p>
            <a:endParaRPr lang="en-US"/>
          </a:p>
        </p:txBody>
      </p:sp>
      <p:sp>
        <p:nvSpPr>
          <p:cNvPr id="12" name="Text 8"/>
          <p:cNvSpPr/>
          <p:nvPr/>
        </p:nvSpPr>
        <p:spPr>
          <a:xfrm>
            <a:off x="777240" y="5394960"/>
            <a:ext cx="5532120" cy="201168"/>
          </a:xfrm>
          <a:prstGeom prst="rect">
            <a:avLst/>
          </a:prstGeom>
          <a:noFill/>
        </p:spPr>
        <p:txBody>
          <a:bodyPr wrap="square" lIns="0" tIns="0" rIns="0" bIns="0" rtlCol="0" anchor="ctr">
            <a:normAutofit/>
          </a:bodyPr>
          <a:lstStyle/>
          <a:p>
            <a:pPr marL="0" indent="0" algn="ctr">
              <a:buNone/>
            </a:pPr>
            <a:r>
              <a:rPr lang="en-US" sz="880" i="1" dirty="0">
                <a:solidFill>
                  <a:srgbClr val="687487"/>
                </a:solidFill>
                <a:latin typeface="Arial" panose="020B0604020202020204" pitchFamily="34" charset="0"/>
                <a:ea typeface="Arial" panose="020B0604020202020204" pitchFamily="34" charset="-122"/>
                <a:cs typeface="Arial" panose="020B0604020202020204" pitchFamily="34" charset="-120"/>
              </a:rPr>
              <a:t>Project/lab photograph reused from the supplied first presentation</a:t>
            </a:r>
            <a:endParaRPr lang="en-US" sz="880" dirty="0"/>
          </a:p>
        </p:txBody>
      </p:sp>
      <p:sp>
        <p:nvSpPr>
          <p:cNvPr id="13" name="Shape 9"/>
          <p:cNvSpPr/>
          <p:nvPr/>
        </p:nvSpPr>
        <p:spPr>
          <a:xfrm>
            <a:off x="6839712" y="1307592"/>
            <a:ext cx="4754880" cy="4498848"/>
          </a:xfrm>
          <a:prstGeom prst="roundRect">
            <a:avLst>
              <a:gd name="adj" fmla="val 1626"/>
            </a:avLst>
          </a:prstGeom>
          <a:solidFill>
            <a:srgbClr val="FFFFFF"/>
          </a:solidFill>
          <a:ln w="12700">
            <a:solidFill>
              <a:srgbClr val="E1E6ED"/>
            </a:solidFill>
            <a:prstDash val="solid"/>
          </a:ln>
        </p:spPr>
      </p:sp>
      <p:sp>
        <p:nvSpPr>
          <p:cNvPr id="14" name="Text 10"/>
          <p:cNvSpPr/>
          <p:nvPr/>
        </p:nvSpPr>
        <p:spPr>
          <a:xfrm>
            <a:off x="7168896" y="1700784"/>
            <a:ext cx="4096512" cy="822960"/>
          </a:xfrm>
          <a:prstGeom prst="rect">
            <a:avLst/>
          </a:prstGeom>
          <a:noFill/>
        </p:spPr>
        <p:txBody>
          <a:bodyPr wrap="square" lIns="0" tIns="0" rIns="0" bIns="0" rtlCol="0" anchor="ctr">
            <a:normAutofit/>
          </a:bodyPr>
          <a:lstStyle/>
          <a:p>
            <a:pPr marL="0" indent="0" algn="ctr">
              <a:buNone/>
            </a:pPr>
            <a:r>
              <a:rPr lang="en-US" sz="1900" b="1" dirty="0">
                <a:solidFill>
                  <a:srgbClr val="172234"/>
                </a:solidFill>
                <a:latin typeface="Arial" panose="020B0604020202020204" pitchFamily="34" charset="0"/>
                <a:ea typeface="Arial" panose="020B0604020202020204" pitchFamily="34" charset="-122"/>
                <a:cs typeface="Arial" panose="020B0604020202020204" pitchFamily="34" charset="-120"/>
              </a:rPr>
              <a:t>BLOOD BANK INVENTORY</a:t>
            </a:r>
            <a:endParaRPr lang="en-US" sz="1900" dirty="0"/>
          </a:p>
          <a:p>
            <a:pPr marL="0" indent="0" algn="ctr">
              <a:buNone/>
            </a:pPr>
            <a:r>
              <a:rPr lang="en-US" sz="1900" b="1" dirty="0">
                <a:solidFill>
                  <a:srgbClr val="172234"/>
                </a:solidFill>
                <a:latin typeface="Arial" panose="020B0604020202020204" pitchFamily="34" charset="0"/>
                <a:ea typeface="Arial" panose="020B0604020202020204" pitchFamily="34" charset="-122"/>
                <a:cs typeface="Arial" panose="020B0604020202020204" pitchFamily="34" charset="-120"/>
              </a:rPr>
              <a:t>&amp; DONOR MATCHER</a:t>
            </a:r>
            <a:endParaRPr lang="en-US" sz="1900" dirty="0"/>
          </a:p>
        </p:txBody>
      </p:sp>
      <p:sp>
        <p:nvSpPr>
          <p:cNvPr id="15" name="Shape 11"/>
          <p:cNvSpPr/>
          <p:nvPr/>
        </p:nvSpPr>
        <p:spPr>
          <a:xfrm>
            <a:off x="7424928" y="2724912"/>
            <a:ext cx="3611880" cy="0"/>
          </a:xfrm>
          <a:prstGeom prst="line">
            <a:avLst/>
          </a:prstGeom>
          <a:noFill/>
          <a:ln w="16510">
            <a:solidFill>
              <a:srgbClr val="E8B8BE"/>
            </a:solidFill>
            <a:prstDash val="solid"/>
          </a:ln>
        </p:spPr>
      </p:sp>
      <p:sp>
        <p:nvSpPr>
          <p:cNvPr id="16" name="Text 12"/>
          <p:cNvSpPr/>
          <p:nvPr/>
        </p:nvSpPr>
        <p:spPr>
          <a:xfrm>
            <a:off x="7324344" y="3044952"/>
            <a:ext cx="3794760" cy="237744"/>
          </a:xfrm>
          <a:prstGeom prst="rect">
            <a:avLst/>
          </a:prstGeom>
          <a:noFill/>
        </p:spPr>
        <p:txBody>
          <a:bodyPr wrap="square" lIns="0" tIns="0" rIns="0" bIns="0" rtlCol="0" anchor="ctr">
            <a:normAutofit/>
          </a:bodyPr>
          <a:lstStyle/>
          <a:p>
            <a:pPr marL="0" indent="0" algn="ctr">
              <a:buNone/>
            </a:pPr>
            <a:r>
              <a:rPr lang="en-US" sz="1100" b="1" kern="0" spc="80" dirty="0">
                <a:solidFill>
                  <a:srgbClr val="D91F26"/>
                </a:solidFill>
                <a:latin typeface="Arial" panose="020B0604020202020204" pitchFamily="34" charset="0"/>
                <a:ea typeface="Arial" panose="020B0604020202020204" pitchFamily="34" charset="-122"/>
                <a:cs typeface="Arial" panose="020B0604020202020204" pitchFamily="34" charset="-120"/>
              </a:rPr>
              <a:t>GITHUB REPOSITORY</a:t>
            </a:r>
            <a:endParaRPr lang="en-US" sz="1100" dirty="0"/>
          </a:p>
        </p:txBody>
      </p:sp>
      <p:sp>
        <p:nvSpPr>
          <p:cNvPr id="17" name="Shape 13"/>
          <p:cNvSpPr/>
          <p:nvPr/>
        </p:nvSpPr>
        <p:spPr>
          <a:xfrm>
            <a:off x="7205472" y="3502152"/>
            <a:ext cx="4023360" cy="877824"/>
          </a:xfrm>
          <a:prstGeom prst="roundRect">
            <a:avLst>
              <a:gd name="adj" fmla="val 8333"/>
            </a:avLst>
          </a:prstGeom>
          <a:solidFill>
            <a:srgbClr val="EAF2FB"/>
          </a:solidFill>
          <a:ln w="12700">
            <a:solidFill>
              <a:srgbClr val="B8D0EE"/>
            </a:solidFill>
            <a:prstDash val="solid"/>
          </a:ln>
        </p:spPr>
      </p:sp>
      <p:sp>
        <p:nvSpPr>
          <p:cNvPr id="18" name="Text 14">
            <a:hlinkClick r:id="rId2" tooltip="Open the Team 07 GitHub repository"/>
          </p:cNvPr>
          <p:cNvSpPr/>
          <p:nvPr/>
        </p:nvSpPr>
        <p:spPr>
          <a:xfrm>
            <a:off x="7370064" y="3767328"/>
            <a:ext cx="3694176" cy="256032"/>
          </a:xfrm>
          <a:prstGeom prst="rect">
            <a:avLst/>
          </a:prstGeom>
          <a:noFill/>
        </p:spPr>
        <p:txBody>
          <a:bodyPr wrap="square" lIns="0" tIns="0" rIns="0" bIns="0" rtlCol="0" anchor="ctr">
            <a:normAutofit/>
          </a:bodyPr>
          <a:lstStyle/>
          <a:p>
            <a:pPr marL="0" indent="0" algn="ctr">
              <a:buNone/>
            </a:pPr>
            <a:r>
              <a:rPr lang="en-US" sz="1300" b="1" u="sng" dirty="0">
                <a:solidFill>
                  <a:srgbClr val="214D7B"/>
                </a:solidFill>
                <a:latin typeface="Arial" panose="020B0604020202020204" pitchFamily="34" charset="0"/>
                <a:ea typeface="Arial" panose="020B0604020202020204" pitchFamily="34" charset="-122"/>
                <a:cs typeface="Arial" panose="020B0604020202020204" pitchFamily="34" charset="-120"/>
                <a:hlinkClick r:id="rId2" tooltip="Open the Team 07 GitHub repository"/>
              </a:rPr>
              <a:t>Open project repository ↗</a:t>
            </a:r>
            <a:endParaRPr lang="en-US" sz="1300" dirty="0"/>
          </a:p>
        </p:txBody>
      </p:sp>
      <p:sp>
        <p:nvSpPr>
          <p:cNvPr id="19" name="Text 15">
            <a:hlinkClick r:id="rId2" tooltip="GitHub repository URL"/>
          </p:cNvPr>
          <p:cNvSpPr/>
          <p:nvPr/>
        </p:nvSpPr>
        <p:spPr>
          <a:xfrm>
            <a:off x="7187184" y="4626864"/>
            <a:ext cx="4078224" cy="713232"/>
          </a:xfrm>
          <a:prstGeom prst="rect">
            <a:avLst/>
          </a:prstGeom>
          <a:noFill/>
        </p:spPr>
        <p:txBody>
          <a:bodyPr wrap="square" lIns="0" tIns="0" rIns="0" bIns="0" rtlCol="0" anchor="ctr">
            <a:normAutofit/>
          </a:bodyPr>
          <a:lstStyle/>
          <a:p>
            <a:pPr marL="0" indent="0" algn="ctr">
              <a:buNone/>
            </a:pPr>
            <a:r>
              <a:rPr lang="en-US" sz="880" u="sng" dirty="0">
                <a:solidFill>
                  <a:srgbClr val="687487"/>
                </a:solidFill>
                <a:latin typeface="Arial" panose="020B0604020202020204" pitchFamily="34" charset="0"/>
                <a:ea typeface="Arial" panose="020B0604020202020204" pitchFamily="34" charset="-122"/>
                <a:cs typeface="Arial" panose="020B0604020202020204" pitchFamily="34" charset="-120"/>
                <a:hlinkClick r:id="rId2" tooltip="GitHub repository URL"/>
              </a:rPr>
              <a:t>github.com/brevanth12/</a:t>
            </a:r>
            <a:endParaRPr lang="en-US" sz="880" dirty="0"/>
          </a:p>
          <a:p>
            <a:pPr marL="0" indent="0" algn="ctr">
              <a:buNone/>
            </a:pPr>
            <a:r>
              <a:rPr lang="en-US" sz="880" u="sng" dirty="0">
                <a:solidFill>
                  <a:srgbClr val="687487"/>
                </a:solidFill>
                <a:latin typeface="Arial" panose="020B0604020202020204" pitchFamily="34" charset="0"/>
                <a:ea typeface="Arial" panose="020B0604020202020204" pitchFamily="34" charset="-122"/>
                <a:cs typeface="Arial" panose="020B0604020202020204" pitchFamily="34" charset="-120"/>
                <a:hlinkClick r:id="rId2" tooltip="GitHub repository URL"/>
              </a:rPr>
              <a:t>Y26_KLH_PSPJ_TEAM_07_BLOOD_BANK_INVENTORY_DONOR_MATCHER</a:t>
            </a:r>
            <a:endParaRPr lang="en-US" sz="880" dirty="0"/>
          </a:p>
        </p:txBody>
      </p:sp>
      <p:sp>
        <p:nvSpPr>
          <p:cNvPr id="20" name="Text 16"/>
          <p:cNvSpPr/>
          <p:nvPr/>
        </p:nvSpPr>
        <p:spPr>
          <a:xfrm>
            <a:off x="7168896" y="5504688"/>
            <a:ext cx="4096512" cy="228600"/>
          </a:xfrm>
          <a:prstGeom prst="rect">
            <a:avLst/>
          </a:prstGeom>
          <a:noFill/>
        </p:spPr>
        <p:txBody>
          <a:bodyPr wrap="square" lIns="0" tIns="0" rIns="0" bIns="0" rtlCol="0" anchor="ctr">
            <a:normAutofit/>
          </a:bodyPr>
          <a:lstStyle/>
          <a:p>
            <a:pPr marL="0" indent="0" algn="ctr">
              <a:buNone/>
            </a:pPr>
            <a:r>
              <a:rPr lang="en-US" sz="1500" b="1" dirty="0">
                <a:solidFill>
                  <a:srgbClr val="D91F26"/>
                </a:solidFill>
                <a:latin typeface="Arial" panose="020B0604020202020204" pitchFamily="34" charset="0"/>
                <a:ea typeface="Arial" panose="020B0604020202020204" pitchFamily="34" charset="-122"/>
                <a:cs typeface="Arial" panose="020B0604020202020204" pitchFamily="34" charset="-120"/>
              </a:rPr>
              <a:t>Thank you</a:t>
            </a:r>
            <a:endParaRPr lang="en-US" sz="1500" dirty="0"/>
          </a:p>
        </p:txBody>
      </p:sp>
      <p:pic>
        <p:nvPicPr>
          <p:cNvPr id="21" name="Picture 20"/>
          <p:cNvPicPr>
            <a:picLocks noChangeAspect="1"/>
          </p:cNvPicPr>
          <p:nvPr/>
        </p:nvPicPr>
        <p:blipFill>
          <a:blip r:embed="rId3"/>
          <a:stretch>
            <a:fillRect/>
          </a:stretch>
        </p:blipFill>
        <p:spPr>
          <a:xfrm>
            <a:off x="567055" y="1327785"/>
            <a:ext cx="5960745" cy="44627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13317</Words>
  <Application>WPS Presentation</Application>
  <PresentationFormat>Widescreen</PresentationFormat>
  <Paragraphs>956</Paragraphs>
  <Slides>15</Slides>
  <Notes>15</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15</vt:i4>
      </vt:variant>
    </vt:vector>
  </HeadingPairs>
  <TitlesOfParts>
    <vt:vector size="33" baseType="lpstr">
      <vt:lpstr>Arial</vt:lpstr>
      <vt:lpstr>SimSun</vt:lpstr>
      <vt:lpstr>Wingdings</vt:lpstr>
      <vt:lpstr>Arial</vt:lpstr>
      <vt:lpstr>Arial</vt:lpstr>
      <vt:lpstr>Consolas</vt:lpstr>
      <vt:lpstr>Arial</vt:lpstr>
      <vt:lpstr>Liberation Mono</vt:lpstr>
      <vt:lpstr>Segoe Print</vt:lpstr>
      <vt:lpstr>Liberation Mono</vt:lpstr>
      <vt:lpstr>Liberation Mono</vt:lpstr>
      <vt:lpstr>Liberation Mono</vt:lpstr>
      <vt:lpstr>Microsoft YaHei</vt:lpstr>
      <vt:lpstr>Arial Unicode MS</vt:lpstr>
      <vt:lpstr>Aptos</vt:lpstr>
      <vt:lpstr>Segoe UI</vt:lpstr>
      <vt:lpstr>MingLiU-ExtB</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K L Deemed to be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Blood Bank Inventory &amp; Donor Matcher</dc:title>
  <dc:creator>Team 07</dc:creator>
  <dc:subject>Blood Bank Inventory &amp; Donor Matcher — CO1 to CO6</dc:subject>
  <cp:lastModifiedBy>CHAITANYA Bathineni</cp:lastModifiedBy>
  <cp:revision>4</cp:revision>
  <dcterms:created xsi:type="dcterms:W3CDTF">2026-10-11T06:50:00Z</dcterms:created>
  <dcterms:modified xsi:type="dcterms:W3CDTF">2026-10-16T06:33:51Z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67E798C567D14D5D8323FCC9CEC1CBF9_12</vt:lpwstr>
  </property>
  <property fmtid="{D5CDD505-2E9C-101B-9397-08002B2CF9AE}" pid="3" name="KSOProductBuildVer">
    <vt:lpwstr>1033-12.1.0.29162</vt:lpwstr>
  </property>
</Properties>
</file>